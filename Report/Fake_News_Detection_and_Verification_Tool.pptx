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E148-076C-41DF-A18F-DC934283003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95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E148-076C-41DF-A18F-DC934283003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222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E148-076C-41DF-A18F-DC934283003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83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E148-076C-41DF-A18F-DC934283003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365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E148-076C-41DF-A18F-DC934283003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45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E148-076C-41DF-A18F-DC934283003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717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E148-076C-41DF-A18F-DC934283003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37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E148-076C-41DF-A18F-DC934283003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188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E148-076C-41DF-A18F-DC934283003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891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E148-076C-41DF-A18F-DC934283003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532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E148-076C-41DF-A18F-DC934283003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702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FE148-076C-41DF-A18F-DC934283003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18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svg"/><Relationship Id="rId18" Type="http://schemas.openxmlformats.org/officeDocument/2006/relationships/image" Target="../media/image29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12" Type="http://schemas.openxmlformats.org/officeDocument/2006/relationships/image" Target="../media/image23.png"/><Relationship Id="rId17" Type="http://schemas.openxmlformats.org/officeDocument/2006/relationships/image" Target="../media/image28.svg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5" Type="http://schemas.openxmlformats.org/officeDocument/2006/relationships/image" Target="../media/image26.svg"/><Relationship Id="rId10" Type="http://schemas.openxmlformats.org/officeDocument/2006/relationships/image" Target="../media/image21.png"/><Relationship Id="rId19" Type="http://schemas.openxmlformats.org/officeDocument/2006/relationships/image" Target="../media/image30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Relationship Id="rId1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svg"/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12" Type="http://schemas.openxmlformats.org/officeDocument/2006/relationships/image" Target="../media/image41.png"/><Relationship Id="rId17" Type="http://schemas.openxmlformats.org/officeDocument/2006/relationships/image" Target="../media/image46.svg"/><Relationship Id="rId2" Type="http://schemas.openxmlformats.org/officeDocument/2006/relationships/image" Target="../media/image31.png"/><Relationship Id="rId16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40.svg"/><Relationship Id="rId5" Type="http://schemas.openxmlformats.org/officeDocument/2006/relationships/image" Target="../media/image34.svg"/><Relationship Id="rId15" Type="http://schemas.openxmlformats.org/officeDocument/2006/relationships/image" Target="../media/image44.sv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svg"/><Relationship Id="rId14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50.sv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svg"/><Relationship Id="rId4" Type="http://schemas.openxmlformats.org/officeDocument/2006/relationships/image" Target="../media/image48.svg"/><Relationship Id="rId9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1268017-816F-4A15-8A8A-9B3DCC986A7D}"/>
              </a:ext>
            </a:extLst>
          </p:cNvPr>
          <p:cNvCxnSpPr>
            <a:cxnSpLocks/>
          </p:cNvCxnSpPr>
          <p:nvPr/>
        </p:nvCxnSpPr>
        <p:spPr>
          <a:xfrm>
            <a:off x="6096000" y="258444"/>
            <a:ext cx="0" cy="5831255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1D60A07-8CAF-4306-8250-132A6689A67E}"/>
              </a:ext>
            </a:extLst>
          </p:cNvPr>
          <p:cNvGrpSpPr/>
          <p:nvPr/>
        </p:nvGrpSpPr>
        <p:grpSpPr>
          <a:xfrm>
            <a:off x="6010067" y="566467"/>
            <a:ext cx="171866" cy="171866"/>
            <a:chOff x="1666858" y="794921"/>
            <a:chExt cx="258298" cy="258298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0812C15-491A-4C35-899C-00388CC6BF18}"/>
                </a:ext>
              </a:extLst>
            </p:cNvPr>
            <p:cNvSpPr/>
            <p:nvPr/>
          </p:nvSpPr>
          <p:spPr>
            <a:xfrm>
              <a:off x="1693333" y="821396"/>
              <a:ext cx="205349" cy="205349"/>
            </a:xfrm>
            <a:prstGeom prst="ellipse">
              <a:avLst/>
            </a:prstGeom>
            <a:solidFill>
              <a:srgbClr val="017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BA8DE4A-2B51-49F8-8D30-B46FB55E2690}"/>
                </a:ext>
              </a:extLst>
            </p:cNvPr>
            <p:cNvSpPr/>
            <p:nvPr/>
          </p:nvSpPr>
          <p:spPr>
            <a:xfrm>
              <a:off x="1666858" y="794921"/>
              <a:ext cx="258298" cy="258298"/>
            </a:xfrm>
            <a:prstGeom prst="ellipse">
              <a:avLst/>
            </a:prstGeom>
            <a:noFill/>
            <a:ln>
              <a:solidFill>
                <a:srgbClr val="017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EF678E9-6EB4-4A4C-8A99-0DAA98B5E095}"/>
              </a:ext>
            </a:extLst>
          </p:cNvPr>
          <p:cNvGrpSpPr/>
          <p:nvPr/>
        </p:nvGrpSpPr>
        <p:grpSpPr>
          <a:xfrm>
            <a:off x="5999793" y="949038"/>
            <a:ext cx="171866" cy="171866"/>
            <a:chOff x="6010067" y="1824954"/>
            <a:chExt cx="171866" cy="17186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D1DD571-4207-494B-BE9C-C0532BB1EE24}"/>
                </a:ext>
              </a:extLst>
            </p:cNvPr>
            <p:cNvSpPr/>
            <p:nvPr/>
          </p:nvSpPr>
          <p:spPr>
            <a:xfrm>
              <a:off x="6027683" y="1842570"/>
              <a:ext cx="136635" cy="136635"/>
            </a:xfrm>
            <a:prstGeom prst="ellipse">
              <a:avLst/>
            </a:prstGeom>
            <a:solidFill>
              <a:srgbClr val="909C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AFD8988-5EF9-48A5-AD52-81F64B12527A}"/>
                </a:ext>
              </a:extLst>
            </p:cNvPr>
            <p:cNvSpPr/>
            <p:nvPr/>
          </p:nvSpPr>
          <p:spPr>
            <a:xfrm>
              <a:off x="6010067" y="1824954"/>
              <a:ext cx="171866" cy="171866"/>
            </a:xfrm>
            <a:prstGeom prst="ellipse">
              <a:avLst/>
            </a:prstGeom>
            <a:noFill/>
            <a:ln>
              <a:solidFill>
                <a:srgbClr val="909C1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406AA68-9EB1-4711-A93D-4F8F4D3CC722}"/>
              </a:ext>
            </a:extLst>
          </p:cNvPr>
          <p:cNvGrpSpPr/>
          <p:nvPr/>
        </p:nvGrpSpPr>
        <p:grpSpPr>
          <a:xfrm>
            <a:off x="6010067" y="2573583"/>
            <a:ext cx="171866" cy="171866"/>
            <a:chOff x="6010067" y="2828512"/>
            <a:chExt cx="171866" cy="17186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E8D8B83-927E-4DB3-B65F-5F866011E37A}"/>
                </a:ext>
              </a:extLst>
            </p:cNvPr>
            <p:cNvSpPr/>
            <p:nvPr/>
          </p:nvSpPr>
          <p:spPr>
            <a:xfrm>
              <a:off x="6027683" y="2846128"/>
              <a:ext cx="136635" cy="136635"/>
            </a:xfrm>
            <a:prstGeom prst="ellipse">
              <a:avLst/>
            </a:prstGeom>
            <a:solidFill>
              <a:srgbClr val="FE24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1503556-CE74-44DB-A0BD-5B8EC1AF3153}"/>
                </a:ext>
              </a:extLst>
            </p:cNvPr>
            <p:cNvSpPr/>
            <p:nvPr/>
          </p:nvSpPr>
          <p:spPr>
            <a:xfrm>
              <a:off x="6010067" y="2828512"/>
              <a:ext cx="171866" cy="171866"/>
            </a:xfrm>
            <a:prstGeom prst="ellipse">
              <a:avLst/>
            </a:prstGeom>
            <a:noFill/>
            <a:ln>
              <a:solidFill>
                <a:srgbClr val="FE240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3FA4070-D3A8-427B-B145-2ECBA721C5E2}"/>
              </a:ext>
            </a:extLst>
          </p:cNvPr>
          <p:cNvGrpSpPr/>
          <p:nvPr/>
        </p:nvGrpSpPr>
        <p:grpSpPr>
          <a:xfrm>
            <a:off x="5998943" y="3087715"/>
            <a:ext cx="171866" cy="171866"/>
            <a:chOff x="6010067" y="3832070"/>
            <a:chExt cx="171866" cy="17186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79BE3C4-7F67-4204-A312-84C45ED4A0FA}"/>
                </a:ext>
              </a:extLst>
            </p:cNvPr>
            <p:cNvSpPr/>
            <p:nvPr/>
          </p:nvSpPr>
          <p:spPr>
            <a:xfrm>
              <a:off x="6027683" y="3849686"/>
              <a:ext cx="136635" cy="136635"/>
            </a:xfrm>
            <a:prstGeom prst="ellipse">
              <a:avLst/>
            </a:prstGeom>
            <a:solidFill>
              <a:srgbClr val="FE610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6CE97DB-B14A-4942-A7F6-89BC69B17538}"/>
                </a:ext>
              </a:extLst>
            </p:cNvPr>
            <p:cNvSpPr/>
            <p:nvPr/>
          </p:nvSpPr>
          <p:spPr>
            <a:xfrm>
              <a:off x="6010067" y="3832070"/>
              <a:ext cx="171866" cy="171866"/>
            </a:xfrm>
            <a:prstGeom prst="ellipse">
              <a:avLst/>
            </a:prstGeom>
            <a:noFill/>
            <a:ln>
              <a:solidFill>
                <a:srgbClr val="FE610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9B8D2BA-927A-49E2-8695-099D65D5EFD5}"/>
              </a:ext>
            </a:extLst>
          </p:cNvPr>
          <p:cNvGrpSpPr/>
          <p:nvPr/>
        </p:nvGrpSpPr>
        <p:grpSpPr>
          <a:xfrm>
            <a:off x="6010067" y="4580699"/>
            <a:ext cx="171866" cy="171866"/>
            <a:chOff x="6010067" y="4835628"/>
            <a:chExt cx="171866" cy="171866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17CA27D-EED4-4148-8D27-C37C78A9FD61}"/>
                </a:ext>
              </a:extLst>
            </p:cNvPr>
            <p:cNvSpPr/>
            <p:nvPr/>
          </p:nvSpPr>
          <p:spPr>
            <a:xfrm>
              <a:off x="6027683" y="4853244"/>
              <a:ext cx="136635" cy="136635"/>
            </a:xfrm>
            <a:prstGeom prst="ellipse">
              <a:avLst/>
            </a:prstGeom>
            <a:solidFill>
              <a:srgbClr val="FFCB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E859F02-5480-4505-BB33-456FCA2BF587}"/>
                </a:ext>
              </a:extLst>
            </p:cNvPr>
            <p:cNvSpPr/>
            <p:nvPr/>
          </p:nvSpPr>
          <p:spPr>
            <a:xfrm>
              <a:off x="6010067" y="4835628"/>
              <a:ext cx="171866" cy="171866"/>
            </a:xfrm>
            <a:prstGeom prst="ellipse">
              <a:avLst/>
            </a:prstGeom>
            <a:noFill/>
            <a:ln>
              <a:solidFill>
                <a:srgbClr val="FFCB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BF1AE5B-B3F8-4E5C-9F3D-8BB5C9D71F83}"/>
              </a:ext>
            </a:extLst>
          </p:cNvPr>
          <p:cNvGrpSpPr/>
          <p:nvPr/>
        </p:nvGrpSpPr>
        <p:grpSpPr>
          <a:xfrm>
            <a:off x="5998943" y="5092581"/>
            <a:ext cx="171866" cy="171866"/>
            <a:chOff x="6010067" y="5839186"/>
            <a:chExt cx="171866" cy="171866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E154BD3-7F15-4EB8-AF1C-33617FE962B4}"/>
                </a:ext>
              </a:extLst>
            </p:cNvPr>
            <p:cNvSpPr/>
            <p:nvPr/>
          </p:nvSpPr>
          <p:spPr>
            <a:xfrm>
              <a:off x="6027683" y="5856802"/>
              <a:ext cx="136635" cy="136635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DDF5025-37FB-4309-BDC3-C18FE45F9F52}"/>
                </a:ext>
              </a:extLst>
            </p:cNvPr>
            <p:cNvSpPr/>
            <p:nvPr/>
          </p:nvSpPr>
          <p:spPr>
            <a:xfrm>
              <a:off x="6010067" y="5839186"/>
              <a:ext cx="171866" cy="171866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47521151-4BE7-479F-BE1D-E00326405239}"/>
              </a:ext>
            </a:extLst>
          </p:cNvPr>
          <p:cNvSpPr txBox="1"/>
          <p:nvPr/>
        </p:nvSpPr>
        <p:spPr>
          <a:xfrm>
            <a:off x="3606947" y="1688141"/>
            <a:ext cx="17864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HEADING HERE</a:t>
            </a:r>
            <a:endParaRPr lang="en-IN" sz="1600" b="1" dirty="0">
              <a:solidFill>
                <a:schemeClr val="bg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D2CA71-13C5-4B25-9EAC-81E9A6F9F0E5}"/>
              </a:ext>
            </a:extLst>
          </p:cNvPr>
          <p:cNvGrpSpPr/>
          <p:nvPr/>
        </p:nvGrpSpPr>
        <p:grpSpPr>
          <a:xfrm>
            <a:off x="5905037" y="4552306"/>
            <a:ext cx="3574171" cy="1951016"/>
            <a:chOff x="5959592" y="4601258"/>
            <a:chExt cx="3574171" cy="1323470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2FFD43AE-0120-43FC-A0C8-C28D075A449E}"/>
                </a:ext>
              </a:extLst>
            </p:cNvPr>
            <p:cNvGrpSpPr/>
            <p:nvPr/>
          </p:nvGrpSpPr>
          <p:grpSpPr>
            <a:xfrm>
              <a:off x="5959592" y="4649595"/>
              <a:ext cx="3065284" cy="675272"/>
              <a:chOff x="5931017" y="894070"/>
              <a:chExt cx="3065284" cy="675272"/>
            </a:xfrm>
          </p:grpSpPr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1C566E0E-314E-4EC6-A2A9-E97DE6ACEE30}"/>
                  </a:ext>
                </a:extLst>
              </p:cNvPr>
              <p:cNvSpPr/>
              <p:nvPr/>
            </p:nvSpPr>
            <p:spPr>
              <a:xfrm>
                <a:off x="5931017" y="894070"/>
                <a:ext cx="3016427" cy="675272"/>
              </a:xfrm>
              <a:custGeom>
                <a:avLst/>
                <a:gdLst>
                  <a:gd name="connsiteX0" fmla="*/ 0 w 2683296"/>
                  <a:gd name="connsiteY0" fmla="*/ 0 h 406400"/>
                  <a:gd name="connsiteX1" fmla="*/ 498898 w 2683296"/>
                  <a:gd name="connsiteY1" fmla="*/ 0 h 406400"/>
                  <a:gd name="connsiteX2" fmla="*/ 499530 w 2683296"/>
                  <a:gd name="connsiteY2" fmla="*/ 0 h 406400"/>
                  <a:gd name="connsiteX3" fmla="*/ 2683296 w 2683296"/>
                  <a:gd name="connsiteY3" fmla="*/ 0 h 406400"/>
                  <a:gd name="connsiteX4" fmla="*/ 2683296 w 2683296"/>
                  <a:gd name="connsiteY4" fmla="*/ 406400 h 406400"/>
                  <a:gd name="connsiteX5" fmla="*/ 498898 w 2683296"/>
                  <a:gd name="connsiteY5" fmla="*/ 406400 h 406400"/>
                  <a:gd name="connsiteX6" fmla="*/ 498898 w 2683296"/>
                  <a:gd name="connsiteY6" fmla="*/ 320062 h 406400"/>
                  <a:gd name="connsiteX0" fmla="*/ 0 w 2683296"/>
                  <a:gd name="connsiteY0" fmla="*/ 0 h 411364"/>
                  <a:gd name="connsiteX1" fmla="*/ 498898 w 2683296"/>
                  <a:gd name="connsiteY1" fmla="*/ 0 h 411364"/>
                  <a:gd name="connsiteX2" fmla="*/ 499530 w 2683296"/>
                  <a:gd name="connsiteY2" fmla="*/ 0 h 411364"/>
                  <a:gd name="connsiteX3" fmla="*/ 2683296 w 2683296"/>
                  <a:gd name="connsiteY3" fmla="*/ 0 h 411364"/>
                  <a:gd name="connsiteX4" fmla="*/ 2683296 w 2683296"/>
                  <a:gd name="connsiteY4" fmla="*/ 406400 h 411364"/>
                  <a:gd name="connsiteX5" fmla="*/ 1501871 w 2683296"/>
                  <a:gd name="connsiteY5" fmla="*/ 411364 h 411364"/>
                  <a:gd name="connsiteX6" fmla="*/ 498898 w 2683296"/>
                  <a:gd name="connsiteY6" fmla="*/ 406400 h 411364"/>
                  <a:gd name="connsiteX7" fmla="*/ 498898 w 2683296"/>
                  <a:gd name="connsiteY7" fmla="*/ 320062 h 411364"/>
                  <a:gd name="connsiteX8" fmla="*/ 0 w 2683296"/>
                  <a:gd name="connsiteY8" fmla="*/ 0 h 411364"/>
                  <a:gd name="connsiteX0" fmla="*/ 0 w 2683296"/>
                  <a:gd name="connsiteY0" fmla="*/ 0 h 602870"/>
                  <a:gd name="connsiteX1" fmla="*/ 498898 w 2683296"/>
                  <a:gd name="connsiteY1" fmla="*/ 0 h 602870"/>
                  <a:gd name="connsiteX2" fmla="*/ 499530 w 2683296"/>
                  <a:gd name="connsiteY2" fmla="*/ 0 h 602870"/>
                  <a:gd name="connsiteX3" fmla="*/ 2683296 w 2683296"/>
                  <a:gd name="connsiteY3" fmla="*/ 0 h 602870"/>
                  <a:gd name="connsiteX4" fmla="*/ 2683296 w 2683296"/>
                  <a:gd name="connsiteY4" fmla="*/ 406400 h 602870"/>
                  <a:gd name="connsiteX5" fmla="*/ 1501871 w 2683296"/>
                  <a:gd name="connsiteY5" fmla="*/ 411364 h 602870"/>
                  <a:gd name="connsiteX6" fmla="*/ 498898 w 2683296"/>
                  <a:gd name="connsiteY6" fmla="*/ 602870 h 602870"/>
                  <a:gd name="connsiteX7" fmla="*/ 498898 w 2683296"/>
                  <a:gd name="connsiteY7" fmla="*/ 320062 h 602870"/>
                  <a:gd name="connsiteX8" fmla="*/ 0 w 2683296"/>
                  <a:gd name="connsiteY8" fmla="*/ 0 h 602870"/>
                  <a:gd name="connsiteX0" fmla="*/ 0 w 2689634"/>
                  <a:gd name="connsiteY0" fmla="*/ 0 h 609209"/>
                  <a:gd name="connsiteX1" fmla="*/ 498898 w 2689634"/>
                  <a:gd name="connsiteY1" fmla="*/ 0 h 609209"/>
                  <a:gd name="connsiteX2" fmla="*/ 499530 w 2689634"/>
                  <a:gd name="connsiteY2" fmla="*/ 0 h 609209"/>
                  <a:gd name="connsiteX3" fmla="*/ 2683296 w 2689634"/>
                  <a:gd name="connsiteY3" fmla="*/ 0 h 609209"/>
                  <a:gd name="connsiteX4" fmla="*/ 2689634 w 2689634"/>
                  <a:gd name="connsiteY4" fmla="*/ 609209 h 609209"/>
                  <a:gd name="connsiteX5" fmla="*/ 1501871 w 2689634"/>
                  <a:gd name="connsiteY5" fmla="*/ 411364 h 609209"/>
                  <a:gd name="connsiteX6" fmla="*/ 498898 w 2689634"/>
                  <a:gd name="connsiteY6" fmla="*/ 602870 h 609209"/>
                  <a:gd name="connsiteX7" fmla="*/ 498898 w 2689634"/>
                  <a:gd name="connsiteY7" fmla="*/ 320062 h 609209"/>
                  <a:gd name="connsiteX8" fmla="*/ 0 w 2689634"/>
                  <a:gd name="connsiteY8" fmla="*/ 0 h 609209"/>
                  <a:gd name="connsiteX0" fmla="*/ 0 w 2689634"/>
                  <a:gd name="connsiteY0" fmla="*/ 0 h 609209"/>
                  <a:gd name="connsiteX1" fmla="*/ 498898 w 2689634"/>
                  <a:gd name="connsiteY1" fmla="*/ 0 h 609209"/>
                  <a:gd name="connsiteX2" fmla="*/ 499530 w 2689634"/>
                  <a:gd name="connsiteY2" fmla="*/ 0 h 609209"/>
                  <a:gd name="connsiteX3" fmla="*/ 2683296 w 2689634"/>
                  <a:gd name="connsiteY3" fmla="*/ 0 h 609209"/>
                  <a:gd name="connsiteX4" fmla="*/ 2689634 w 2689634"/>
                  <a:gd name="connsiteY4" fmla="*/ 609209 h 609209"/>
                  <a:gd name="connsiteX5" fmla="*/ 1501871 w 2689634"/>
                  <a:gd name="connsiteY5" fmla="*/ 411364 h 609209"/>
                  <a:gd name="connsiteX6" fmla="*/ 498898 w 2689634"/>
                  <a:gd name="connsiteY6" fmla="*/ 602870 h 609209"/>
                  <a:gd name="connsiteX7" fmla="*/ 498898 w 2689634"/>
                  <a:gd name="connsiteY7" fmla="*/ 389777 h 609209"/>
                  <a:gd name="connsiteX8" fmla="*/ 0 w 2689634"/>
                  <a:gd name="connsiteY8" fmla="*/ 0 h 609209"/>
                  <a:gd name="connsiteX0" fmla="*/ 0 w 2702309"/>
                  <a:gd name="connsiteY0" fmla="*/ 114080 h 609209"/>
                  <a:gd name="connsiteX1" fmla="*/ 511573 w 2702309"/>
                  <a:gd name="connsiteY1" fmla="*/ 0 h 609209"/>
                  <a:gd name="connsiteX2" fmla="*/ 512205 w 2702309"/>
                  <a:gd name="connsiteY2" fmla="*/ 0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02309"/>
                  <a:gd name="connsiteY0" fmla="*/ 114080 h 609209"/>
                  <a:gd name="connsiteX1" fmla="*/ 511573 w 2702309"/>
                  <a:gd name="connsiteY1" fmla="*/ 0 h 609209"/>
                  <a:gd name="connsiteX2" fmla="*/ 505867 w 2702309"/>
                  <a:gd name="connsiteY2" fmla="*/ 31689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02309"/>
                  <a:gd name="connsiteY0" fmla="*/ 114080 h 609209"/>
                  <a:gd name="connsiteX1" fmla="*/ 524248 w 2702309"/>
                  <a:gd name="connsiteY1" fmla="*/ 38027 h 609209"/>
                  <a:gd name="connsiteX2" fmla="*/ 505867 w 2702309"/>
                  <a:gd name="connsiteY2" fmla="*/ 31689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21323"/>
                  <a:gd name="connsiteY0" fmla="*/ 164782 h 609209"/>
                  <a:gd name="connsiteX1" fmla="*/ 543262 w 2721323"/>
                  <a:gd name="connsiteY1" fmla="*/ 38027 h 609209"/>
                  <a:gd name="connsiteX2" fmla="*/ 524881 w 2721323"/>
                  <a:gd name="connsiteY2" fmla="*/ 31689 h 609209"/>
                  <a:gd name="connsiteX3" fmla="*/ 2714985 w 2721323"/>
                  <a:gd name="connsiteY3" fmla="*/ 0 h 609209"/>
                  <a:gd name="connsiteX4" fmla="*/ 2721323 w 2721323"/>
                  <a:gd name="connsiteY4" fmla="*/ 609209 h 609209"/>
                  <a:gd name="connsiteX5" fmla="*/ 1533560 w 2721323"/>
                  <a:gd name="connsiteY5" fmla="*/ 411364 h 609209"/>
                  <a:gd name="connsiteX6" fmla="*/ 530587 w 2721323"/>
                  <a:gd name="connsiteY6" fmla="*/ 602870 h 609209"/>
                  <a:gd name="connsiteX7" fmla="*/ 530587 w 2721323"/>
                  <a:gd name="connsiteY7" fmla="*/ 389777 h 609209"/>
                  <a:gd name="connsiteX8" fmla="*/ 0 w 2721323"/>
                  <a:gd name="connsiteY8" fmla="*/ 164782 h 609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21323" h="609209">
                    <a:moveTo>
                      <a:pt x="0" y="164782"/>
                    </a:moveTo>
                    <a:lnTo>
                      <a:pt x="543262" y="38027"/>
                    </a:lnTo>
                    <a:lnTo>
                      <a:pt x="524881" y="31689"/>
                    </a:lnTo>
                    <a:lnTo>
                      <a:pt x="2714985" y="0"/>
                    </a:lnTo>
                    <a:cubicBezTo>
                      <a:pt x="2717098" y="203070"/>
                      <a:pt x="2719210" y="406139"/>
                      <a:pt x="2721323" y="609209"/>
                    </a:cubicBezTo>
                    <a:lnTo>
                      <a:pt x="1533560" y="411364"/>
                    </a:lnTo>
                    <a:lnTo>
                      <a:pt x="530587" y="602870"/>
                    </a:lnTo>
                    <a:lnTo>
                      <a:pt x="530587" y="389777"/>
                    </a:lnTo>
                    <a:lnTo>
                      <a:pt x="0" y="164782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48000"/>
                </a:schemeClr>
              </a:solidFill>
              <a:ln>
                <a:noFill/>
              </a:ln>
              <a:effectLst>
                <a:softEdge rad="889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91A5B8BF-1BBF-495D-96B5-4440E1F26532}"/>
                  </a:ext>
                </a:extLst>
              </p:cNvPr>
              <p:cNvSpPr/>
              <p:nvPr/>
            </p:nvSpPr>
            <p:spPr>
              <a:xfrm>
                <a:off x="6181933" y="907328"/>
                <a:ext cx="2814368" cy="377338"/>
              </a:xfrm>
              <a:custGeom>
                <a:avLst/>
                <a:gdLst>
                  <a:gd name="connsiteX0" fmla="*/ 0 w 2683296"/>
                  <a:gd name="connsiteY0" fmla="*/ 0 h 406400"/>
                  <a:gd name="connsiteX1" fmla="*/ 498898 w 2683296"/>
                  <a:gd name="connsiteY1" fmla="*/ 0 h 406400"/>
                  <a:gd name="connsiteX2" fmla="*/ 499530 w 2683296"/>
                  <a:gd name="connsiteY2" fmla="*/ 0 h 406400"/>
                  <a:gd name="connsiteX3" fmla="*/ 2683296 w 2683296"/>
                  <a:gd name="connsiteY3" fmla="*/ 0 h 406400"/>
                  <a:gd name="connsiteX4" fmla="*/ 2683296 w 2683296"/>
                  <a:gd name="connsiteY4" fmla="*/ 406400 h 406400"/>
                  <a:gd name="connsiteX5" fmla="*/ 498898 w 2683296"/>
                  <a:gd name="connsiteY5" fmla="*/ 406400 h 406400"/>
                  <a:gd name="connsiteX6" fmla="*/ 498898 w 2683296"/>
                  <a:gd name="connsiteY6" fmla="*/ 320062 h 40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83296" h="406400">
                    <a:moveTo>
                      <a:pt x="0" y="0"/>
                    </a:moveTo>
                    <a:lnTo>
                      <a:pt x="498898" y="0"/>
                    </a:lnTo>
                    <a:lnTo>
                      <a:pt x="499530" y="0"/>
                    </a:lnTo>
                    <a:lnTo>
                      <a:pt x="2683296" y="0"/>
                    </a:lnTo>
                    <a:lnTo>
                      <a:pt x="2683296" y="406400"/>
                    </a:lnTo>
                    <a:lnTo>
                      <a:pt x="498898" y="406400"/>
                    </a:lnTo>
                    <a:lnTo>
                      <a:pt x="498898" y="320062"/>
                    </a:lnTo>
                    <a:close/>
                  </a:path>
                </a:pathLst>
              </a:custGeom>
              <a:solidFill>
                <a:srgbClr val="FFCB0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6D37EDD0-E65F-4C91-B753-C15E01909DB4}"/>
                </a:ext>
              </a:extLst>
            </p:cNvPr>
            <p:cNvSpPr txBox="1"/>
            <p:nvPr/>
          </p:nvSpPr>
          <p:spPr>
            <a:xfrm>
              <a:off x="6756475" y="4632846"/>
              <a:ext cx="213732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dirty="0">
                  <a:solidFill>
                    <a:schemeClr val="bg1"/>
                  </a:solidFill>
                </a:rPr>
                <a:t>Key System Components</a:t>
              </a:r>
              <a:endParaRPr lang="en-IN" sz="16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918BA2EE-595F-4894-9833-1A1341F1A739}"/>
                </a:ext>
              </a:extLst>
            </p:cNvPr>
            <p:cNvSpPr txBox="1"/>
            <p:nvPr/>
          </p:nvSpPr>
          <p:spPr>
            <a:xfrm>
              <a:off x="6780688" y="5058291"/>
              <a:ext cx="1958612" cy="86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The system includes user authentication, article management, text processing, verification results, and admin control components that work together to detect and manage fake news efficiently.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 Condensed Light" panose="020B0306030504020204" pitchFamily="34" charset="0"/>
                  <a:ea typeface="Open Sans Condensed Light" panose="020B0306030504020204" pitchFamily="34" charset="0"/>
                  <a:cs typeface="Open Sans Condensed Light" panose="020B0306030504020204" pitchFamily="34" charset="0"/>
                </a:rPr>
                <a:t>.</a:t>
              </a:r>
              <a:endParaRPr lang="en-I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endParaRPr>
            </a:p>
          </p:txBody>
        </p:sp>
        <p:pic>
          <p:nvPicPr>
            <p:cNvPr id="90" name="Graphic 89" descr="Bar graph with upward trend">
              <a:extLst>
                <a:ext uri="{FF2B5EF4-FFF2-40B4-BE49-F238E27FC236}">
                  <a16:creationId xmlns:a16="http://schemas.microsoft.com/office/drawing/2014/main" id="{A4D64143-252C-4EAA-9C88-F07AFCBD7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033237" y="4601258"/>
              <a:ext cx="500526" cy="500526"/>
            </a:xfrm>
            <a:prstGeom prst="rect">
              <a:avLst/>
            </a:prstGeom>
            <a:effectLst/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40FC288-0CED-43F1-8036-498C2B5AD154}"/>
              </a:ext>
            </a:extLst>
          </p:cNvPr>
          <p:cNvGrpSpPr/>
          <p:nvPr/>
        </p:nvGrpSpPr>
        <p:grpSpPr>
          <a:xfrm>
            <a:off x="2661263" y="5186381"/>
            <a:ext cx="3520670" cy="1901812"/>
            <a:chOff x="2731199" y="5624012"/>
            <a:chExt cx="3520670" cy="1901812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ABC76FC2-E6B9-433D-92CF-27A65236C941}"/>
                </a:ext>
              </a:extLst>
            </p:cNvPr>
            <p:cNvGrpSpPr/>
            <p:nvPr/>
          </p:nvGrpSpPr>
          <p:grpSpPr>
            <a:xfrm flipH="1">
              <a:off x="3235442" y="5624012"/>
              <a:ext cx="3016427" cy="716030"/>
              <a:chOff x="5931017" y="853312"/>
              <a:chExt cx="3016427" cy="716030"/>
            </a:xfrm>
          </p:grpSpPr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FC6B71C3-D02E-4654-9EC3-0D2E6C1C3081}"/>
                  </a:ext>
                </a:extLst>
              </p:cNvPr>
              <p:cNvSpPr/>
              <p:nvPr/>
            </p:nvSpPr>
            <p:spPr>
              <a:xfrm>
                <a:off x="5931017" y="894070"/>
                <a:ext cx="3016427" cy="675272"/>
              </a:xfrm>
              <a:custGeom>
                <a:avLst/>
                <a:gdLst>
                  <a:gd name="connsiteX0" fmla="*/ 0 w 2683296"/>
                  <a:gd name="connsiteY0" fmla="*/ 0 h 406400"/>
                  <a:gd name="connsiteX1" fmla="*/ 498898 w 2683296"/>
                  <a:gd name="connsiteY1" fmla="*/ 0 h 406400"/>
                  <a:gd name="connsiteX2" fmla="*/ 499530 w 2683296"/>
                  <a:gd name="connsiteY2" fmla="*/ 0 h 406400"/>
                  <a:gd name="connsiteX3" fmla="*/ 2683296 w 2683296"/>
                  <a:gd name="connsiteY3" fmla="*/ 0 h 406400"/>
                  <a:gd name="connsiteX4" fmla="*/ 2683296 w 2683296"/>
                  <a:gd name="connsiteY4" fmla="*/ 406400 h 406400"/>
                  <a:gd name="connsiteX5" fmla="*/ 498898 w 2683296"/>
                  <a:gd name="connsiteY5" fmla="*/ 406400 h 406400"/>
                  <a:gd name="connsiteX6" fmla="*/ 498898 w 2683296"/>
                  <a:gd name="connsiteY6" fmla="*/ 320062 h 406400"/>
                  <a:gd name="connsiteX0" fmla="*/ 0 w 2683296"/>
                  <a:gd name="connsiteY0" fmla="*/ 0 h 411364"/>
                  <a:gd name="connsiteX1" fmla="*/ 498898 w 2683296"/>
                  <a:gd name="connsiteY1" fmla="*/ 0 h 411364"/>
                  <a:gd name="connsiteX2" fmla="*/ 499530 w 2683296"/>
                  <a:gd name="connsiteY2" fmla="*/ 0 h 411364"/>
                  <a:gd name="connsiteX3" fmla="*/ 2683296 w 2683296"/>
                  <a:gd name="connsiteY3" fmla="*/ 0 h 411364"/>
                  <a:gd name="connsiteX4" fmla="*/ 2683296 w 2683296"/>
                  <a:gd name="connsiteY4" fmla="*/ 406400 h 411364"/>
                  <a:gd name="connsiteX5" fmla="*/ 1501871 w 2683296"/>
                  <a:gd name="connsiteY5" fmla="*/ 411364 h 411364"/>
                  <a:gd name="connsiteX6" fmla="*/ 498898 w 2683296"/>
                  <a:gd name="connsiteY6" fmla="*/ 406400 h 411364"/>
                  <a:gd name="connsiteX7" fmla="*/ 498898 w 2683296"/>
                  <a:gd name="connsiteY7" fmla="*/ 320062 h 411364"/>
                  <a:gd name="connsiteX8" fmla="*/ 0 w 2683296"/>
                  <a:gd name="connsiteY8" fmla="*/ 0 h 411364"/>
                  <a:gd name="connsiteX0" fmla="*/ 0 w 2683296"/>
                  <a:gd name="connsiteY0" fmla="*/ 0 h 602870"/>
                  <a:gd name="connsiteX1" fmla="*/ 498898 w 2683296"/>
                  <a:gd name="connsiteY1" fmla="*/ 0 h 602870"/>
                  <a:gd name="connsiteX2" fmla="*/ 499530 w 2683296"/>
                  <a:gd name="connsiteY2" fmla="*/ 0 h 602870"/>
                  <a:gd name="connsiteX3" fmla="*/ 2683296 w 2683296"/>
                  <a:gd name="connsiteY3" fmla="*/ 0 h 602870"/>
                  <a:gd name="connsiteX4" fmla="*/ 2683296 w 2683296"/>
                  <a:gd name="connsiteY4" fmla="*/ 406400 h 602870"/>
                  <a:gd name="connsiteX5" fmla="*/ 1501871 w 2683296"/>
                  <a:gd name="connsiteY5" fmla="*/ 411364 h 602870"/>
                  <a:gd name="connsiteX6" fmla="*/ 498898 w 2683296"/>
                  <a:gd name="connsiteY6" fmla="*/ 602870 h 602870"/>
                  <a:gd name="connsiteX7" fmla="*/ 498898 w 2683296"/>
                  <a:gd name="connsiteY7" fmla="*/ 320062 h 602870"/>
                  <a:gd name="connsiteX8" fmla="*/ 0 w 2683296"/>
                  <a:gd name="connsiteY8" fmla="*/ 0 h 602870"/>
                  <a:gd name="connsiteX0" fmla="*/ 0 w 2689634"/>
                  <a:gd name="connsiteY0" fmla="*/ 0 h 609209"/>
                  <a:gd name="connsiteX1" fmla="*/ 498898 w 2689634"/>
                  <a:gd name="connsiteY1" fmla="*/ 0 h 609209"/>
                  <a:gd name="connsiteX2" fmla="*/ 499530 w 2689634"/>
                  <a:gd name="connsiteY2" fmla="*/ 0 h 609209"/>
                  <a:gd name="connsiteX3" fmla="*/ 2683296 w 2689634"/>
                  <a:gd name="connsiteY3" fmla="*/ 0 h 609209"/>
                  <a:gd name="connsiteX4" fmla="*/ 2689634 w 2689634"/>
                  <a:gd name="connsiteY4" fmla="*/ 609209 h 609209"/>
                  <a:gd name="connsiteX5" fmla="*/ 1501871 w 2689634"/>
                  <a:gd name="connsiteY5" fmla="*/ 411364 h 609209"/>
                  <a:gd name="connsiteX6" fmla="*/ 498898 w 2689634"/>
                  <a:gd name="connsiteY6" fmla="*/ 602870 h 609209"/>
                  <a:gd name="connsiteX7" fmla="*/ 498898 w 2689634"/>
                  <a:gd name="connsiteY7" fmla="*/ 320062 h 609209"/>
                  <a:gd name="connsiteX8" fmla="*/ 0 w 2689634"/>
                  <a:gd name="connsiteY8" fmla="*/ 0 h 609209"/>
                  <a:gd name="connsiteX0" fmla="*/ 0 w 2689634"/>
                  <a:gd name="connsiteY0" fmla="*/ 0 h 609209"/>
                  <a:gd name="connsiteX1" fmla="*/ 498898 w 2689634"/>
                  <a:gd name="connsiteY1" fmla="*/ 0 h 609209"/>
                  <a:gd name="connsiteX2" fmla="*/ 499530 w 2689634"/>
                  <a:gd name="connsiteY2" fmla="*/ 0 h 609209"/>
                  <a:gd name="connsiteX3" fmla="*/ 2683296 w 2689634"/>
                  <a:gd name="connsiteY3" fmla="*/ 0 h 609209"/>
                  <a:gd name="connsiteX4" fmla="*/ 2689634 w 2689634"/>
                  <a:gd name="connsiteY4" fmla="*/ 609209 h 609209"/>
                  <a:gd name="connsiteX5" fmla="*/ 1501871 w 2689634"/>
                  <a:gd name="connsiteY5" fmla="*/ 411364 h 609209"/>
                  <a:gd name="connsiteX6" fmla="*/ 498898 w 2689634"/>
                  <a:gd name="connsiteY6" fmla="*/ 602870 h 609209"/>
                  <a:gd name="connsiteX7" fmla="*/ 498898 w 2689634"/>
                  <a:gd name="connsiteY7" fmla="*/ 389777 h 609209"/>
                  <a:gd name="connsiteX8" fmla="*/ 0 w 2689634"/>
                  <a:gd name="connsiteY8" fmla="*/ 0 h 609209"/>
                  <a:gd name="connsiteX0" fmla="*/ 0 w 2702309"/>
                  <a:gd name="connsiteY0" fmla="*/ 114080 h 609209"/>
                  <a:gd name="connsiteX1" fmla="*/ 511573 w 2702309"/>
                  <a:gd name="connsiteY1" fmla="*/ 0 h 609209"/>
                  <a:gd name="connsiteX2" fmla="*/ 512205 w 2702309"/>
                  <a:gd name="connsiteY2" fmla="*/ 0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02309"/>
                  <a:gd name="connsiteY0" fmla="*/ 114080 h 609209"/>
                  <a:gd name="connsiteX1" fmla="*/ 511573 w 2702309"/>
                  <a:gd name="connsiteY1" fmla="*/ 0 h 609209"/>
                  <a:gd name="connsiteX2" fmla="*/ 505867 w 2702309"/>
                  <a:gd name="connsiteY2" fmla="*/ 31689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02309"/>
                  <a:gd name="connsiteY0" fmla="*/ 114080 h 609209"/>
                  <a:gd name="connsiteX1" fmla="*/ 524248 w 2702309"/>
                  <a:gd name="connsiteY1" fmla="*/ 38027 h 609209"/>
                  <a:gd name="connsiteX2" fmla="*/ 505867 w 2702309"/>
                  <a:gd name="connsiteY2" fmla="*/ 31689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21323"/>
                  <a:gd name="connsiteY0" fmla="*/ 164782 h 609209"/>
                  <a:gd name="connsiteX1" fmla="*/ 543262 w 2721323"/>
                  <a:gd name="connsiteY1" fmla="*/ 38027 h 609209"/>
                  <a:gd name="connsiteX2" fmla="*/ 524881 w 2721323"/>
                  <a:gd name="connsiteY2" fmla="*/ 31689 h 609209"/>
                  <a:gd name="connsiteX3" fmla="*/ 2714985 w 2721323"/>
                  <a:gd name="connsiteY3" fmla="*/ 0 h 609209"/>
                  <a:gd name="connsiteX4" fmla="*/ 2721323 w 2721323"/>
                  <a:gd name="connsiteY4" fmla="*/ 609209 h 609209"/>
                  <a:gd name="connsiteX5" fmla="*/ 1533560 w 2721323"/>
                  <a:gd name="connsiteY5" fmla="*/ 411364 h 609209"/>
                  <a:gd name="connsiteX6" fmla="*/ 530587 w 2721323"/>
                  <a:gd name="connsiteY6" fmla="*/ 602870 h 609209"/>
                  <a:gd name="connsiteX7" fmla="*/ 530587 w 2721323"/>
                  <a:gd name="connsiteY7" fmla="*/ 389777 h 609209"/>
                  <a:gd name="connsiteX8" fmla="*/ 0 w 2721323"/>
                  <a:gd name="connsiteY8" fmla="*/ 164782 h 609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21323" h="609209">
                    <a:moveTo>
                      <a:pt x="0" y="164782"/>
                    </a:moveTo>
                    <a:lnTo>
                      <a:pt x="543262" y="38027"/>
                    </a:lnTo>
                    <a:lnTo>
                      <a:pt x="524881" y="31689"/>
                    </a:lnTo>
                    <a:lnTo>
                      <a:pt x="2714985" y="0"/>
                    </a:lnTo>
                    <a:cubicBezTo>
                      <a:pt x="2717098" y="203070"/>
                      <a:pt x="2719210" y="406139"/>
                      <a:pt x="2721323" y="609209"/>
                    </a:cubicBezTo>
                    <a:lnTo>
                      <a:pt x="1533560" y="411364"/>
                    </a:lnTo>
                    <a:lnTo>
                      <a:pt x="530587" y="602870"/>
                    </a:lnTo>
                    <a:lnTo>
                      <a:pt x="530587" y="389777"/>
                    </a:lnTo>
                    <a:lnTo>
                      <a:pt x="0" y="164782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48000"/>
                </a:schemeClr>
              </a:solidFill>
              <a:ln>
                <a:noFill/>
              </a:ln>
              <a:effectLst>
                <a:softEdge rad="889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2243C37C-B2BC-4B1E-946E-9D84C5657BB3}"/>
                  </a:ext>
                </a:extLst>
              </p:cNvPr>
              <p:cNvSpPr/>
              <p:nvPr/>
            </p:nvSpPr>
            <p:spPr>
              <a:xfrm>
                <a:off x="6181933" y="853312"/>
                <a:ext cx="2683296" cy="500341"/>
              </a:xfrm>
              <a:custGeom>
                <a:avLst/>
                <a:gdLst>
                  <a:gd name="connsiteX0" fmla="*/ 0 w 2683296"/>
                  <a:gd name="connsiteY0" fmla="*/ 0 h 406400"/>
                  <a:gd name="connsiteX1" fmla="*/ 498898 w 2683296"/>
                  <a:gd name="connsiteY1" fmla="*/ 0 h 406400"/>
                  <a:gd name="connsiteX2" fmla="*/ 499530 w 2683296"/>
                  <a:gd name="connsiteY2" fmla="*/ 0 h 406400"/>
                  <a:gd name="connsiteX3" fmla="*/ 2683296 w 2683296"/>
                  <a:gd name="connsiteY3" fmla="*/ 0 h 406400"/>
                  <a:gd name="connsiteX4" fmla="*/ 2683296 w 2683296"/>
                  <a:gd name="connsiteY4" fmla="*/ 406400 h 406400"/>
                  <a:gd name="connsiteX5" fmla="*/ 498898 w 2683296"/>
                  <a:gd name="connsiteY5" fmla="*/ 406400 h 406400"/>
                  <a:gd name="connsiteX6" fmla="*/ 498898 w 2683296"/>
                  <a:gd name="connsiteY6" fmla="*/ 320062 h 40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83296" h="406400">
                    <a:moveTo>
                      <a:pt x="0" y="0"/>
                    </a:moveTo>
                    <a:lnTo>
                      <a:pt x="498898" y="0"/>
                    </a:lnTo>
                    <a:lnTo>
                      <a:pt x="499530" y="0"/>
                    </a:lnTo>
                    <a:lnTo>
                      <a:pt x="2683296" y="0"/>
                    </a:lnTo>
                    <a:lnTo>
                      <a:pt x="2683296" y="406400"/>
                    </a:lnTo>
                    <a:lnTo>
                      <a:pt x="498898" y="406400"/>
                    </a:lnTo>
                    <a:lnTo>
                      <a:pt x="498898" y="320062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F37A816-4214-468D-AEDB-8AAA2FCCCB93}"/>
                </a:ext>
              </a:extLst>
            </p:cNvPr>
            <p:cNvSpPr txBox="1"/>
            <p:nvPr/>
          </p:nvSpPr>
          <p:spPr>
            <a:xfrm>
              <a:off x="3606947" y="5702745"/>
              <a:ext cx="17864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dirty="0">
                  <a:solidFill>
                    <a:schemeClr val="bg1"/>
                  </a:solidFill>
                </a:rPr>
                <a:t>System Integration</a:t>
              </a:r>
              <a:endParaRPr lang="en-IN" sz="16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FBA9E0AD-109A-483C-B1EB-1195FB1C31AB}"/>
                </a:ext>
              </a:extLst>
            </p:cNvPr>
            <p:cNvSpPr txBox="1"/>
            <p:nvPr/>
          </p:nvSpPr>
          <p:spPr>
            <a:xfrm>
              <a:off x="3520873" y="6079274"/>
              <a:ext cx="1958612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All modules are seamlessly integrated to ensure smooth data flow, real-time analysis, reliable verification, and efficient interaction between users, administrators, and the detection engine.</a:t>
              </a:r>
            </a:p>
            <a:p>
              <a:pPr algn="ctr"/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 Condensed Light" panose="020B0306030504020204" pitchFamily="34" charset="0"/>
                  <a:ea typeface="Open Sans Condensed Light" panose="020B0306030504020204" pitchFamily="34" charset="0"/>
                  <a:cs typeface="Open Sans Condensed Light" panose="020B0306030504020204" pitchFamily="34" charset="0"/>
                </a:rPr>
                <a:t>.</a:t>
              </a:r>
              <a:endParaRPr lang="en-I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endParaRPr>
            </a:p>
          </p:txBody>
        </p:sp>
        <p:pic>
          <p:nvPicPr>
            <p:cNvPr id="91" name="Graphic 90" descr="Bullseye">
              <a:extLst>
                <a:ext uri="{FF2B5EF4-FFF2-40B4-BE49-F238E27FC236}">
                  <a16:creationId xmlns:a16="http://schemas.microsoft.com/office/drawing/2014/main" id="{C7F32A06-C139-4364-90A9-EDA43053A6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731199" y="5661695"/>
              <a:ext cx="500526" cy="500526"/>
            </a:xfrm>
            <a:prstGeom prst="rect">
              <a:avLst/>
            </a:prstGeom>
            <a:effectLst/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D519AA7-1A8E-4A1D-8FC9-FF97C243C00E}"/>
              </a:ext>
            </a:extLst>
          </p:cNvPr>
          <p:cNvGrpSpPr/>
          <p:nvPr/>
        </p:nvGrpSpPr>
        <p:grpSpPr>
          <a:xfrm>
            <a:off x="2718668" y="998493"/>
            <a:ext cx="3520670" cy="2114222"/>
            <a:chOff x="2731199" y="1488404"/>
            <a:chExt cx="3520670" cy="2797532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8E55A5B-6DFF-4F52-A5F7-8D6C0DE9994C}"/>
                </a:ext>
              </a:extLst>
            </p:cNvPr>
            <p:cNvGrpSpPr/>
            <p:nvPr/>
          </p:nvGrpSpPr>
          <p:grpSpPr>
            <a:xfrm>
              <a:off x="3235442" y="1488404"/>
              <a:ext cx="3016427" cy="2797532"/>
              <a:chOff x="3235442" y="1488404"/>
              <a:chExt cx="3016427" cy="2797532"/>
            </a:xfrm>
          </p:grpSpPr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9F59AD1B-072A-4FA3-BC15-4E71AD02BC4A}"/>
                  </a:ext>
                </a:extLst>
              </p:cNvPr>
              <p:cNvGrpSpPr/>
              <p:nvPr/>
            </p:nvGrpSpPr>
            <p:grpSpPr>
              <a:xfrm flipH="1">
                <a:off x="3235442" y="1488404"/>
                <a:ext cx="3016427" cy="822134"/>
                <a:chOff x="5931017" y="747208"/>
                <a:chExt cx="3016427" cy="822134"/>
              </a:xfrm>
            </p:grpSpPr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6F8FFEC0-C6C8-41DF-AE46-0F855E575E91}"/>
                    </a:ext>
                  </a:extLst>
                </p:cNvPr>
                <p:cNvSpPr/>
                <p:nvPr/>
              </p:nvSpPr>
              <p:spPr>
                <a:xfrm>
                  <a:off x="5931017" y="894070"/>
                  <a:ext cx="3016427" cy="675272"/>
                </a:xfrm>
                <a:custGeom>
                  <a:avLst/>
                  <a:gdLst>
                    <a:gd name="connsiteX0" fmla="*/ 0 w 2683296"/>
                    <a:gd name="connsiteY0" fmla="*/ 0 h 406400"/>
                    <a:gd name="connsiteX1" fmla="*/ 498898 w 2683296"/>
                    <a:gd name="connsiteY1" fmla="*/ 0 h 406400"/>
                    <a:gd name="connsiteX2" fmla="*/ 499530 w 2683296"/>
                    <a:gd name="connsiteY2" fmla="*/ 0 h 406400"/>
                    <a:gd name="connsiteX3" fmla="*/ 2683296 w 2683296"/>
                    <a:gd name="connsiteY3" fmla="*/ 0 h 406400"/>
                    <a:gd name="connsiteX4" fmla="*/ 2683296 w 2683296"/>
                    <a:gd name="connsiteY4" fmla="*/ 406400 h 406400"/>
                    <a:gd name="connsiteX5" fmla="*/ 498898 w 2683296"/>
                    <a:gd name="connsiteY5" fmla="*/ 406400 h 406400"/>
                    <a:gd name="connsiteX6" fmla="*/ 498898 w 2683296"/>
                    <a:gd name="connsiteY6" fmla="*/ 320062 h 406400"/>
                    <a:gd name="connsiteX0" fmla="*/ 0 w 2683296"/>
                    <a:gd name="connsiteY0" fmla="*/ 0 h 411364"/>
                    <a:gd name="connsiteX1" fmla="*/ 498898 w 2683296"/>
                    <a:gd name="connsiteY1" fmla="*/ 0 h 411364"/>
                    <a:gd name="connsiteX2" fmla="*/ 499530 w 2683296"/>
                    <a:gd name="connsiteY2" fmla="*/ 0 h 411364"/>
                    <a:gd name="connsiteX3" fmla="*/ 2683296 w 2683296"/>
                    <a:gd name="connsiteY3" fmla="*/ 0 h 411364"/>
                    <a:gd name="connsiteX4" fmla="*/ 2683296 w 2683296"/>
                    <a:gd name="connsiteY4" fmla="*/ 406400 h 411364"/>
                    <a:gd name="connsiteX5" fmla="*/ 1501871 w 2683296"/>
                    <a:gd name="connsiteY5" fmla="*/ 411364 h 411364"/>
                    <a:gd name="connsiteX6" fmla="*/ 498898 w 2683296"/>
                    <a:gd name="connsiteY6" fmla="*/ 406400 h 411364"/>
                    <a:gd name="connsiteX7" fmla="*/ 498898 w 2683296"/>
                    <a:gd name="connsiteY7" fmla="*/ 320062 h 411364"/>
                    <a:gd name="connsiteX8" fmla="*/ 0 w 2683296"/>
                    <a:gd name="connsiteY8" fmla="*/ 0 h 411364"/>
                    <a:gd name="connsiteX0" fmla="*/ 0 w 2683296"/>
                    <a:gd name="connsiteY0" fmla="*/ 0 h 602870"/>
                    <a:gd name="connsiteX1" fmla="*/ 498898 w 2683296"/>
                    <a:gd name="connsiteY1" fmla="*/ 0 h 602870"/>
                    <a:gd name="connsiteX2" fmla="*/ 499530 w 2683296"/>
                    <a:gd name="connsiteY2" fmla="*/ 0 h 602870"/>
                    <a:gd name="connsiteX3" fmla="*/ 2683296 w 2683296"/>
                    <a:gd name="connsiteY3" fmla="*/ 0 h 602870"/>
                    <a:gd name="connsiteX4" fmla="*/ 2683296 w 2683296"/>
                    <a:gd name="connsiteY4" fmla="*/ 406400 h 602870"/>
                    <a:gd name="connsiteX5" fmla="*/ 1501871 w 2683296"/>
                    <a:gd name="connsiteY5" fmla="*/ 411364 h 602870"/>
                    <a:gd name="connsiteX6" fmla="*/ 498898 w 2683296"/>
                    <a:gd name="connsiteY6" fmla="*/ 602870 h 602870"/>
                    <a:gd name="connsiteX7" fmla="*/ 498898 w 2683296"/>
                    <a:gd name="connsiteY7" fmla="*/ 320062 h 602870"/>
                    <a:gd name="connsiteX8" fmla="*/ 0 w 2683296"/>
                    <a:gd name="connsiteY8" fmla="*/ 0 h 602870"/>
                    <a:gd name="connsiteX0" fmla="*/ 0 w 2689634"/>
                    <a:gd name="connsiteY0" fmla="*/ 0 h 609209"/>
                    <a:gd name="connsiteX1" fmla="*/ 498898 w 2689634"/>
                    <a:gd name="connsiteY1" fmla="*/ 0 h 609209"/>
                    <a:gd name="connsiteX2" fmla="*/ 499530 w 2689634"/>
                    <a:gd name="connsiteY2" fmla="*/ 0 h 609209"/>
                    <a:gd name="connsiteX3" fmla="*/ 2683296 w 2689634"/>
                    <a:gd name="connsiteY3" fmla="*/ 0 h 609209"/>
                    <a:gd name="connsiteX4" fmla="*/ 2689634 w 2689634"/>
                    <a:gd name="connsiteY4" fmla="*/ 609209 h 609209"/>
                    <a:gd name="connsiteX5" fmla="*/ 1501871 w 2689634"/>
                    <a:gd name="connsiteY5" fmla="*/ 411364 h 609209"/>
                    <a:gd name="connsiteX6" fmla="*/ 498898 w 2689634"/>
                    <a:gd name="connsiteY6" fmla="*/ 602870 h 609209"/>
                    <a:gd name="connsiteX7" fmla="*/ 498898 w 2689634"/>
                    <a:gd name="connsiteY7" fmla="*/ 320062 h 609209"/>
                    <a:gd name="connsiteX8" fmla="*/ 0 w 2689634"/>
                    <a:gd name="connsiteY8" fmla="*/ 0 h 609209"/>
                    <a:gd name="connsiteX0" fmla="*/ 0 w 2689634"/>
                    <a:gd name="connsiteY0" fmla="*/ 0 h 609209"/>
                    <a:gd name="connsiteX1" fmla="*/ 498898 w 2689634"/>
                    <a:gd name="connsiteY1" fmla="*/ 0 h 609209"/>
                    <a:gd name="connsiteX2" fmla="*/ 499530 w 2689634"/>
                    <a:gd name="connsiteY2" fmla="*/ 0 h 609209"/>
                    <a:gd name="connsiteX3" fmla="*/ 2683296 w 2689634"/>
                    <a:gd name="connsiteY3" fmla="*/ 0 h 609209"/>
                    <a:gd name="connsiteX4" fmla="*/ 2689634 w 2689634"/>
                    <a:gd name="connsiteY4" fmla="*/ 609209 h 609209"/>
                    <a:gd name="connsiteX5" fmla="*/ 1501871 w 2689634"/>
                    <a:gd name="connsiteY5" fmla="*/ 411364 h 609209"/>
                    <a:gd name="connsiteX6" fmla="*/ 498898 w 2689634"/>
                    <a:gd name="connsiteY6" fmla="*/ 602870 h 609209"/>
                    <a:gd name="connsiteX7" fmla="*/ 498898 w 2689634"/>
                    <a:gd name="connsiteY7" fmla="*/ 389777 h 609209"/>
                    <a:gd name="connsiteX8" fmla="*/ 0 w 2689634"/>
                    <a:gd name="connsiteY8" fmla="*/ 0 h 609209"/>
                    <a:gd name="connsiteX0" fmla="*/ 0 w 2702309"/>
                    <a:gd name="connsiteY0" fmla="*/ 114080 h 609209"/>
                    <a:gd name="connsiteX1" fmla="*/ 511573 w 2702309"/>
                    <a:gd name="connsiteY1" fmla="*/ 0 h 609209"/>
                    <a:gd name="connsiteX2" fmla="*/ 512205 w 2702309"/>
                    <a:gd name="connsiteY2" fmla="*/ 0 h 609209"/>
                    <a:gd name="connsiteX3" fmla="*/ 2695971 w 2702309"/>
                    <a:gd name="connsiteY3" fmla="*/ 0 h 609209"/>
                    <a:gd name="connsiteX4" fmla="*/ 2702309 w 2702309"/>
                    <a:gd name="connsiteY4" fmla="*/ 609209 h 609209"/>
                    <a:gd name="connsiteX5" fmla="*/ 1514546 w 2702309"/>
                    <a:gd name="connsiteY5" fmla="*/ 411364 h 609209"/>
                    <a:gd name="connsiteX6" fmla="*/ 511573 w 2702309"/>
                    <a:gd name="connsiteY6" fmla="*/ 602870 h 609209"/>
                    <a:gd name="connsiteX7" fmla="*/ 511573 w 2702309"/>
                    <a:gd name="connsiteY7" fmla="*/ 389777 h 609209"/>
                    <a:gd name="connsiteX8" fmla="*/ 0 w 2702309"/>
                    <a:gd name="connsiteY8" fmla="*/ 114080 h 609209"/>
                    <a:gd name="connsiteX0" fmla="*/ 0 w 2702309"/>
                    <a:gd name="connsiteY0" fmla="*/ 114080 h 609209"/>
                    <a:gd name="connsiteX1" fmla="*/ 511573 w 2702309"/>
                    <a:gd name="connsiteY1" fmla="*/ 0 h 609209"/>
                    <a:gd name="connsiteX2" fmla="*/ 505867 w 2702309"/>
                    <a:gd name="connsiteY2" fmla="*/ 31689 h 609209"/>
                    <a:gd name="connsiteX3" fmla="*/ 2695971 w 2702309"/>
                    <a:gd name="connsiteY3" fmla="*/ 0 h 609209"/>
                    <a:gd name="connsiteX4" fmla="*/ 2702309 w 2702309"/>
                    <a:gd name="connsiteY4" fmla="*/ 609209 h 609209"/>
                    <a:gd name="connsiteX5" fmla="*/ 1514546 w 2702309"/>
                    <a:gd name="connsiteY5" fmla="*/ 411364 h 609209"/>
                    <a:gd name="connsiteX6" fmla="*/ 511573 w 2702309"/>
                    <a:gd name="connsiteY6" fmla="*/ 602870 h 609209"/>
                    <a:gd name="connsiteX7" fmla="*/ 511573 w 2702309"/>
                    <a:gd name="connsiteY7" fmla="*/ 389777 h 609209"/>
                    <a:gd name="connsiteX8" fmla="*/ 0 w 2702309"/>
                    <a:gd name="connsiteY8" fmla="*/ 114080 h 609209"/>
                    <a:gd name="connsiteX0" fmla="*/ 0 w 2702309"/>
                    <a:gd name="connsiteY0" fmla="*/ 114080 h 609209"/>
                    <a:gd name="connsiteX1" fmla="*/ 524248 w 2702309"/>
                    <a:gd name="connsiteY1" fmla="*/ 38027 h 609209"/>
                    <a:gd name="connsiteX2" fmla="*/ 505867 w 2702309"/>
                    <a:gd name="connsiteY2" fmla="*/ 31689 h 609209"/>
                    <a:gd name="connsiteX3" fmla="*/ 2695971 w 2702309"/>
                    <a:gd name="connsiteY3" fmla="*/ 0 h 609209"/>
                    <a:gd name="connsiteX4" fmla="*/ 2702309 w 2702309"/>
                    <a:gd name="connsiteY4" fmla="*/ 609209 h 609209"/>
                    <a:gd name="connsiteX5" fmla="*/ 1514546 w 2702309"/>
                    <a:gd name="connsiteY5" fmla="*/ 411364 h 609209"/>
                    <a:gd name="connsiteX6" fmla="*/ 511573 w 2702309"/>
                    <a:gd name="connsiteY6" fmla="*/ 602870 h 609209"/>
                    <a:gd name="connsiteX7" fmla="*/ 511573 w 2702309"/>
                    <a:gd name="connsiteY7" fmla="*/ 389777 h 609209"/>
                    <a:gd name="connsiteX8" fmla="*/ 0 w 2702309"/>
                    <a:gd name="connsiteY8" fmla="*/ 114080 h 609209"/>
                    <a:gd name="connsiteX0" fmla="*/ 0 w 2721323"/>
                    <a:gd name="connsiteY0" fmla="*/ 164782 h 609209"/>
                    <a:gd name="connsiteX1" fmla="*/ 543262 w 2721323"/>
                    <a:gd name="connsiteY1" fmla="*/ 38027 h 609209"/>
                    <a:gd name="connsiteX2" fmla="*/ 524881 w 2721323"/>
                    <a:gd name="connsiteY2" fmla="*/ 31689 h 609209"/>
                    <a:gd name="connsiteX3" fmla="*/ 2714985 w 2721323"/>
                    <a:gd name="connsiteY3" fmla="*/ 0 h 609209"/>
                    <a:gd name="connsiteX4" fmla="*/ 2721323 w 2721323"/>
                    <a:gd name="connsiteY4" fmla="*/ 609209 h 609209"/>
                    <a:gd name="connsiteX5" fmla="*/ 1533560 w 2721323"/>
                    <a:gd name="connsiteY5" fmla="*/ 411364 h 609209"/>
                    <a:gd name="connsiteX6" fmla="*/ 530587 w 2721323"/>
                    <a:gd name="connsiteY6" fmla="*/ 602870 h 609209"/>
                    <a:gd name="connsiteX7" fmla="*/ 530587 w 2721323"/>
                    <a:gd name="connsiteY7" fmla="*/ 389777 h 609209"/>
                    <a:gd name="connsiteX8" fmla="*/ 0 w 2721323"/>
                    <a:gd name="connsiteY8" fmla="*/ 164782 h 609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721323" h="609209">
                      <a:moveTo>
                        <a:pt x="0" y="164782"/>
                      </a:moveTo>
                      <a:lnTo>
                        <a:pt x="543262" y="38027"/>
                      </a:lnTo>
                      <a:lnTo>
                        <a:pt x="524881" y="31689"/>
                      </a:lnTo>
                      <a:lnTo>
                        <a:pt x="2714985" y="0"/>
                      </a:lnTo>
                      <a:cubicBezTo>
                        <a:pt x="2717098" y="203070"/>
                        <a:pt x="2719210" y="406139"/>
                        <a:pt x="2721323" y="609209"/>
                      </a:cubicBezTo>
                      <a:lnTo>
                        <a:pt x="1533560" y="411364"/>
                      </a:lnTo>
                      <a:lnTo>
                        <a:pt x="530587" y="602870"/>
                      </a:lnTo>
                      <a:lnTo>
                        <a:pt x="530587" y="389777"/>
                      </a:lnTo>
                      <a:lnTo>
                        <a:pt x="0" y="164782"/>
                      </a:ln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  <a:alpha val="48000"/>
                  </a:schemeClr>
                </a:solidFill>
                <a:ln>
                  <a:noFill/>
                </a:ln>
                <a:effectLst>
                  <a:softEdge rad="889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7" name="Freeform: Shape 76">
                  <a:extLst>
                    <a:ext uri="{FF2B5EF4-FFF2-40B4-BE49-F238E27FC236}">
                      <a16:creationId xmlns:a16="http://schemas.microsoft.com/office/drawing/2014/main" id="{07CC0F03-3DC7-4AE7-9920-C2B832F00482}"/>
                    </a:ext>
                  </a:extLst>
                </p:cNvPr>
                <p:cNvSpPr/>
                <p:nvPr/>
              </p:nvSpPr>
              <p:spPr>
                <a:xfrm>
                  <a:off x="6181933" y="747208"/>
                  <a:ext cx="2683296" cy="715281"/>
                </a:xfrm>
                <a:custGeom>
                  <a:avLst/>
                  <a:gdLst>
                    <a:gd name="connsiteX0" fmla="*/ 0 w 2683296"/>
                    <a:gd name="connsiteY0" fmla="*/ 0 h 406400"/>
                    <a:gd name="connsiteX1" fmla="*/ 498898 w 2683296"/>
                    <a:gd name="connsiteY1" fmla="*/ 0 h 406400"/>
                    <a:gd name="connsiteX2" fmla="*/ 499530 w 2683296"/>
                    <a:gd name="connsiteY2" fmla="*/ 0 h 406400"/>
                    <a:gd name="connsiteX3" fmla="*/ 2683296 w 2683296"/>
                    <a:gd name="connsiteY3" fmla="*/ 0 h 406400"/>
                    <a:gd name="connsiteX4" fmla="*/ 2683296 w 2683296"/>
                    <a:gd name="connsiteY4" fmla="*/ 406400 h 406400"/>
                    <a:gd name="connsiteX5" fmla="*/ 498898 w 2683296"/>
                    <a:gd name="connsiteY5" fmla="*/ 406400 h 406400"/>
                    <a:gd name="connsiteX6" fmla="*/ 498898 w 2683296"/>
                    <a:gd name="connsiteY6" fmla="*/ 320062 h 406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83296" h="406400">
                      <a:moveTo>
                        <a:pt x="0" y="0"/>
                      </a:moveTo>
                      <a:lnTo>
                        <a:pt x="498898" y="0"/>
                      </a:lnTo>
                      <a:lnTo>
                        <a:pt x="499530" y="0"/>
                      </a:lnTo>
                      <a:lnTo>
                        <a:pt x="2683296" y="0"/>
                      </a:lnTo>
                      <a:lnTo>
                        <a:pt x="2683296" y="406400"/>
                      </a:lnTo>
                      <a:lnTo>
                        <a:pt x="498898" y="406400"/>
                      </a:lnTo>
                      <a:lnTo>
                        <a:pt x="498898" y="320062"/>
                      </a:lnTo>
                      <a:close/>
                    </a:path>
                  </a:pathLst>
                </a:custGeom>
                <a:solidFill>
                  <a:srgbClr val="909C1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dirty="0"/>
                </a:p>
              </p:txBody>
            </p:sp>
          </p:grp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8D94911E-3AD9-46AD-96DE-74F0D77DEDFF}"/>
                  </a:ext>
                </a:extLst>
              </p:cNvPr>
              <p:cNvSpPr txBox="1"/>
              <p:nvPr/>
            </p:nvSpPr>
            <p:spPr>
              <a:xfrm>
                <a:off x="3391885" y="2147879"/>
                <a:ext cx="1958612" cy="2138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/>
                  <a:t>The project follows a structured development timeline starting with problem identification and requirement analysis. In the initial phase, a detailed literature survey is conducted to understand existing fake news detection techniques.</a:t>
                </a:r>
                <a:endParaRPr lang="en-I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 Condensed Light" panose="020B0306030504020204" pitchFamily="34" charset="0"/>
                  <a:ea typeface="Open Sans Condensed Light" panose="020B0306030504020204" pitchFamily="34" charset="0"/>
                  <a:cs typeface="Open Sans Condensed Light" panose="020B0306030504020204" pitchFamily="34" charset="0"/>
                </a:endParaRPr>
              </a:p>
            </p:txBody>
          </p:sp>
        </p:grpSp>
        <p:pic>
          <p:nvPicPr>
            <p:cNvPr id="92" name="Graphic 91" descr="Single gear">
              <a:extLst>
                <a:ext uri="{FF2B5EF4-FFF2-40B4-BE49-F238E27FC236}">
                  <a16:creationId xmlns:a16="http://schemas.microsoft.com/office/drawing/2014/main" id="{83FEF946-4D5D-4559-9118-A9DF919BAD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731199" y="1609223"/>
              <a:ext cx="500526" cy="500526"/>
            </a:xfrm>
            <a:prstGeom prst="rect">
              <a:avLst/>
            </a:prstGeom>
            <a:effectLst/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25B16F9-EEAD-4B12-9205-C8D9C2A5F0A6}"/>
              </a:ext>
            </a:extLst>
          </p:cNvPr>
          <p:cNvGrpSpPr/>
          <p:nvPr/>
        </p:nvGrpSpPr>
        <p:grpSpPr>
          <a:xfrm>
            <a:off x="5959592" y="2598553"/>
            <a:ext cx="3674265" cy="1646063"/>
            <a:chOff x="5959592" y="2598548"/>
            <a:chExt cx="3463313" cy="1195800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2D5A8FEA-AA9D-4F70-8456-61B69933875E}"/>
                </a:ext>
              </a:extLst>
            </p:cNvPr>
            <p:cNvGrpSpPr/>
            <p:nvPr/>
          </p:nvGrpSpPr>
          <p:grpSpPr>
            <a:xfrm>
              <a:off x="5959592" y="2624654"/>
              <a:ext cx="3016427" cy="675272"/>
              <a:chOff x="5931017" y="894070"/>
              <a:chExt cx="3016427" cy="675272"/>
            </a:xfrm>
          </p:grpSpPr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3CA3F383-1AC0-4565-B72D-B9E5054B0130}"/>
                  </a:ext>
                </a:extLst>
              </p:cNvPr>
              <p:cNvSpPr/>
              <p:nvPr/>
            </p:nvSpPr>
            <p:spPr>
              <a:xfrm>
                <a:off x="5931017" y="894070"/>
                <a:ext cx="3016427" cy="675272"/>
              </a:xfrm>
              <a:custGeom>
                <a:avLst/>
                <a:gdLst>
                  <a:gd name="connsiteX0" fmla="*/ 0 w 2683296"/>
                  <a:gd name="connsiteY0" fmla="*/ 0 h 406400"/>
                  <a:gd name="connsiteX1" fmla="*/ 498898 w 2683296"/>
                  <a:gd name="connsiteY1" fmla="*/ 0 h 406400"/>
                  <a:gd name="connsiteX2" fmla="*/ 499530 w 2683296"/>
                  <a:gd name="connsiteY2" fmla="*/ 0 h 406400"/>
                  <a:gd name="connsiteX3" fmla="*/ 2683296 w 2683296"/>
                  <a:gd name="connsiteY3" fmla="*/ 0 h 406400"/>
                  <a:gd name="connsiteX4" fmla="*/ 2683296 w 2683296"/>
                  <a:gd name="connsiteY4" fmla="*/ 406400 h 406400"/>
                  <a:gd name="connsiteX5" fmla="*/ 498898 w 2683296"/>
                  <a:gd name="connsiteY5" fmla="*/ 406400 h 406400"/>
                  <a:gd name="connsiteX6" fmla="*/ 498898 w 2683296"/>
                  <a:gd name="connsiteY6" fmla="*/ 320062 h 406400"/>
                  <a:gd name="connsiteX0" fmla="*/ 0 w 2683296"/>
                  <a:gd name="connsiteY0" fmla="*/ 0 h 411364"/>
                  <a:gd name="connsiteX1" fmla="*/ 498898 w 2683296"/>
                  <a:gd name="connsiteY1" fmla="*/ 0 h 411364"/>
                  <a:gd name="connsiteX2" fmla="*/ 499530 w 2683296"/>
                  <a:gd name="connsiteY2" fmla="*/ 0 h 411364"/>
                  <a:gd name="connsiteX3" fmla="*/ 2683296 w 2683296"/>
                  <a:gd name="connsiteY3" fmla="*/ 0 h 411364"/>
                  <a:gd name="connsiteX4" fmla="*/ 2683296 w 2683296"/>
                  <a:gd name="connsiteY4" fmla="*/ 406400 h 411364"/>
                  <a:gd name="connsiteX5" fmla="*/ 1501871 w 2683296"/>
                  <a:gd name="connsiteY5" fmla="*/ 411364 h 411364"/>
                  <a:gd name="connsiteX6" fmla="*/ 498898 w 2683296"/>
                  <a:gd name="connsiteY6" fmla="*/ 406400 h 411364"/>
                  <a:gd name="connsiteX7" fmla="*/ 498898 w 2683296"/>
                  <a:gd name="connsiteY7" fmla="*/ 320062 h 411364"/>
                  <a:gd name="connsiteX8" fmla="*/ 0 w 2683296"/>
                  <a:gd name="connsiteY8" fmla="*/ 0 h 411364"/>
                  <a:gd name="connsiteX0" fmla="*/ 0 w 2683296"/>
                  <a:gd name="connsiteY0" fmla="*/ 0 h 602870"/>
                  <a:gd name="connsiteX1" fmla="*/ 498898 w 2683296"/>
                  <a:gd name="connsiteY1" fmla="*/ 0 h 602870"/>
                  <a:gd name="connsiteX2" fmla="*/ 499530 w 2683296"/>
                  <a:gd name="connsiteY2" fmla="*/ 0 h 602870"/>
                  <a:gd name="connsiteX3" fmla="*/ 2683296 w 2683296"/>
                  <a:gd name="connsiteY3" fmla="*/ 0 h 602870"/>
                  <a:gd name="connsiteX4" fmla="*/ 2683296 w 2683296"/>
                  <a:gd name="connsiteY4" fmla="*/ 406400 h 602870"/>
                  <a:gd name="connsiteX5" fmla="*/ 1501871 w 2683296"/>
                  <a:gd name="connsiteY5" fmla="*/ 411364 h 602870"/>
                  <a:gd name="connsiteX6" fmla="*/ 498898 w 2683296"/>
                  <a:gd name="connsiteY6" fmla="*/ 602870 h 602870"/>
                  <a:gd name="connsiteX7" fmla="*/ 498898 w 2683296"/>
                  <a:gd name="connsiteY7" fmla="*/ 320062 h 602870"/>
                  <a:gd name="connsiteX8" fmla="*/ 0 w 2683296"/>
                  <a:gd name="connsiteY8" fmla="*/ 0 h 602870"/>
                  <a:gd name="connsiteX0" fmla="*/ 0 w 2689634"/>
                  <a:gd name="connsiteY0" fmla="*/ 0 h 609209"/>
                  <a:gd name="connsiteX1" fmla="*/ 498898 w 2689634"/>
                  <a:gd name="connsiteY1" fmla="*/ 0 h 609209"/>
                  <a:gd name="connsiteX2" fmla="*/ 499530 w 2689634"/>
                  <a:gd name="connsiteY2" fmla="*/ 0 h 609209"/>
                  <a:gd name="connsiteX3" fmla="*/ 2683296 w 2689634"/>
                  <a:gd name="connsiteY3" fmla="*/ 0 h 609209"/>
                  <a:gd name="connsiteX4" fmla="*/ 2689634 w 2689634"/>
                  <a:gd name="connsiteY4" fmla="*/ 609209 h 609209"/>
                  <a:gd name="connsiteX5" fmla="*/ 1501871 w 2689634"/>
                  <a:gd name="connsiteY5" fmla="*/ 411364 h 609209"/>
                  <a:gd name="connsiteX6" fmla="*/ 498898 w 2689634"/>
                  <a:gd name="connsiteY6" fmla="*/ 602870 h 609209"/>
                  <a:gd name="connsiteX7" fmla="*/ 498898 w 2689634"/>
                  <a:gd name="connsiteY7" fmla="*/ 320062 h 609209"/>
                  <a:gd name="connsiteX8" fmla="*/ 0 w 2689634"/>
                  <a:gd name="connsiteY8" fmla="*/ 0 h 609209"/>
                  <a:gd name="connsiteX0" fmla="*/ 0 w 2689634"/>
                  <a:gd name="connsiteY0" fmla="*/ 0 h 609209"/>
                  <a:gd name="connsiteX1" fmla="*/ 498898 w 2689634"/>
                  <a:gd name="connsiteY1" fmla="*/ 0 h 609209"/>
                  <a:gd name="connsiteX2" fmla="*/ 499530 w 2689634"/>
                  <a:gd name="connsiteY2" fmla="*/ 0 h 609209"/>
                  <a:gd name="connsiteX3" fmla="*/ 2683296 w 2689634"/>
                  <a:gd name="connsiteY3" fmla="*/ 0 h 609209"/>
                  <a:gd name="connsiteX4" fmla="*/ 2689634 w 2689634"/>
                  <a:gd name="connsiteY4" fmla="*/ 609209 h 609209"/>
                  <a:gd name="connsiteX5" fmla="*/ 1501871 w 2689634"/>
                  <a:gd name="connsiteY5" fmla="*/ 411364 h 609209"/>
                  <a:gd name="connsiteX6" fmla="*/ 498898 w 2689634"/>
                  <a:gd name="connsiteY6" fmla="*/ 602870 h 609209"/>
                  <a:gd name="connsiteX7" fmla="*/ 498898 w 2689634"/>
                  <a:gd name="connsiteY7" fmla="*/ 389777 h 609209"/>
                  <a:gd name="connsiteX8" fmla="*/ 0 w 2689634"/>
                  <a:gd name="connsiteY8" fmla="*/ 0 h 609209"/>
                  <a:gd name="connsiteX0" fmla="*/ 0 w 2702309"/>
                  <a:gd name="connsiteY0" fmla="*/ 114080 h 609209"/>
                  <a:gd name="connsiteX1" fmla="*/ 511573 w 2702309"/>
                  <a:gd name="connsiteY1" fmla="*/ 0 h 609209"/>
                  <a:gd name="connsiteX2" fmla="*/ 512205 w 2702309"/>
                  <a:gd name="connsiteY2" fmla="*/ 0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02309"/>
                  <a:gd name="connsiteY0" fmla="*/ 114080 h 609209"/>
                  <a:gd name="connsiteX1" fmla="*/ 511573 w 2702309"/>
                  <a:gd name="connsiteY1" fmla="*/ 0 h 609209"/>
                  <a:gd name="connsiteX2" fmla="*/ 505867 w 2702309"/>
                  <a:gd name="connsiteY2" fmla="*/ 31689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02309"/>
                  <a:gd name="connsiteY0" fmla="*/ 114080 h 609209"/>
                  <a:gd name="connsiteX1" fmla="*/ 524248 w 2702309"/>
                  <a:gd name="connsiteY1" fmla="*/ 38027 h 609209"/>
                  <a:gd name="connsiteX2" fmla="*/ 505867 w 2702309"/>
                  <a:gd name="connsiteY2" fmla="*/ 31689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21323"/>
                  <a:gd name="connsiteY0" fmla="*/ 164782 h 609209"/>
                  <a:gd name="connsiteX1" fmla="*/ 543262 w 2721323"/>
                  <a:gd name="connsiteY1" fmla="*/ 38027 h 609209"/>
                  <a:gd name="connsiteX2" fmla="*/ 524881 w 2721323"/>
                  <a:gd name="connsiteY2" fmla="*/ 31689 h 609209"/>
                  <a:gd name="connsiteX3" fmla="*/ 2714985 w 2721323"/>
                  <a:gd name="connsiteY3" fmla="*/ 0 h 609209"/>
                  <a:gd name="connsiteX4" fmla="*/ 2721323 w 2721323"/>
                  <a:gd name="connsiteY4" fmla="*/ 609209 h 609209"/>
                  <a:gd name="connsiteX5" fmla="*/ 1533560 w 2721323"/>
                  <a:gd name="connsiteY5" fmla="*/ 411364 h 609209"/>
                  <a:gd name="connsiteX6" fmla="*/ 530587 w 2721323"/>
                  <a:gd name="connsiteY6" fmla="*/ 602870 h 609209"/>
                  <a:gd name="connsiteX7" fmla="*/ 530587 w 2721323"/>
                  <a:gd name="connsiteY7" fmla="*/ 389777 h 609209"/>
                  <a:gd name="connsiteX8" fmla="*/ 0 w 2721323"/>
                  <a:gd name="connsiteY8" fmla="*/ 164782 h 609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21323" h="609209">
                    <a:moveTo>
                      <a:pt x="0" y="164782"/>
                    </a:moveTo>
                    <a:lnTo>
                      <a:pt x="543262" y="38027"/>
                    </a:lnTo>
                    <a:lnTo>
                      <a:pt x="524881" y="31689"/>
                    </a:lnTo>
                    <a:lnTo>
                      <a:pt x="2714985" y="0"/>
                    </a:lnTo>
                    <a:cubicBezTo>
                      <a:pt x="2717098" y="203070"/>
                      <a:pt x="2719210" y="406139"/>
                      <a:pt x="2721323" y="609209"/>
                    </a:cubicBezTo>
                    <a:lnTo>
                      <a:pt x="1533560" y="411364"/>
                    </a:lnTo>
                    <a:lnTo>
                      <a:pt x="530587" y="602870"/>
                    </a:lnTo>
                    <a:lnTo>
                      <a:pt x="530587" y="389777"/>
                    </a:lnTo>
                    <a:lnTo>
                      <a:pt x="0" y="164782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48000"/>
                </a:schemeClr>
              </a:solidFill>
              <a:ln>
                <a:noFill/>
              </a:ln>
              <a:effectLst>
                <a:softEdge rad="889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583593E6-4DBD-449B-83B1-BBC9C92B5D4E}"/>
                  </a:ext>
                </a:extLst>
              </p:cNvPr>
              <p:cNvSpPr/>
              <p:nvPr/>
            </p:nvSpPr>
            <p:spPr>
              <a:xfrm>
                <a:off x="6181934" y="907329"/>
                <a:ext cx="2622764" cy="419425"/>
              </a:xfrm>
              <a:custGeom>
                <a:avLst/>
                <a:gdLst>
                  <a:gd name="connsiteX0" fmla="*/ 0 w 2683296"/>
                  <a:gd name="connsiteY0" fmla="*/ 0 h 406400"/>
                  <a:gd name="connsiteX1" fmla="*/ 498898 w 2683296"/>
                  <a:gd name="connsiteY1" fmla="*/ 0 h 406400"/>
                  <a:gd name="connsiteX2" fmla="*/ 499530 w 2683296"/>
                  <a:gd name="connsiteY2" fmla="*/ 0 h 406400"/>
                  <a:gd name="connsiteX3" fmla="*/ 2683296 w 2683296"/>
                  <a:gd name="connsiteY3" fmla="*/ 0 h 406400"/>
                  <a:gd name="connsiteX4" fmla="*/ 2683296 w 2683296"/>
                  <a:gd name="connsiteY4" fmla="*/ 406400 h 406400"/>
                  <a:gd name="connsiteX5" fmla="*/ 498898 w 2683296"/>
                  <a:gd name="connsiteY5" fmla="*/ 406400 h 406400"/>
                  <a:gd name="connsiteX6" fmla="*/ 498898 w 2683296"/>
                  <a:gd name="connsiteY6" fmla="*/ 320062 h 40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83296" h="406400">
                    <a:moveTo>
                      <a:pt x="0" y="0"/>
                    </a:moveTo>
                    <a:lnTo>
                      <a:pt x="498898" y="0"/>
                    </a:lnTo>
                    <a:lnTo>
                      <a:pt x="499530" y="0"/>
                    </a:lnTo>
                    <a:lnTo>
                      <a:pt x="2683296" y="0"/>
                    </a:lnTo>
                    <a:lnTo>
                      <a:pt x="2683296" y="406400"/>
                    </a:lnTo>
                    <a:lnTo>
                      <a:pt x="498898" y="406400"/>
                    </a:lnTo>
                    <a:lnTo>
                      <a:pt x="498898" y="320062"/>
                    </a:lnTo>
                    <a:close/>
                  </a:path>
                </a:pathLst>
              </a:custGeom>
              <a:solidFill>
                <a:srgbClr val="FE24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</p:grp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953B4CD-0D27-4D61-A8F4-AE6D5457BB04}"/>
                </a:ext>
              </a:extLst>
            </p:cNvPr>
            <p:cNvSpPr txBox="1"/>
            <p:nvPr/>
          </p:nvSpPr>
          <p:spPr>
            <a:xfrm>
              <a:off x="6752759" y="2621016"/>
              <a:ext cx="22038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dirty="0">
                  <a:solidFill>
                    <a:schemeClr val="bg1"/>
                  </a:solidFill>
                </a:rPr>
                <a:t>Fake News Detection Workflow</a:t>
              </a:r>
              <a:endParaRPr lang="en-IN" sz="16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74E07B04-3C07-41FB-98C0-16639548BE41}"/>
                </a:ext>
              </a:extLst>
            </p:cNvPr>
            <p:cNvSpPr txBox="1"/>
            <p:nvPr/>
          </p:nvSpPr>
          <p:spPr>
            <a:xfrm>
              <a:off x="6767200" y="3112405"/>
              <a:ext cx="2066072" cy="681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The workflow takes user input, applies NLP preprocessing, classifies the news using an AI model, verifies it, and produces a final credibility result.</a:t>
              </a:r>
            </a:p>
          </p:txBody>
        </p:sp>
        <p:pic>
          <p:nvPicPr>
            <p:cNvPr id="93" name="Graphic 92" descr="Magnifying glass">
              <a:extLst>
                <a:ext uri="{FF2B5EF4-FFF2-40B4-BE49-F238E27FC236}">
                  <a16:creationId xmlns:a16="http://schemas.microsoft.com/office/drawing/2014/main" id="{F15DAB92-0AA2-42CF-8768-C971C852786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922379" y="2598548"/>
              <a:ext cx="500526" cy="500526"/>
            </a:xfrm>
            <a:prstGeom prst="rect">
              <a:avLst/>
            </a:prstGeom>
            <a:effectLst/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31985D9-804C-423C-A246-DBC2412425C2}"/>
              </a:ext>
            </a:extLst>
          </p:cNvPr>
          <p:cNvGrpSpPr/>
          <p:nvPr/>
        </p:nvGrpSpPr>
        <p:grpSpPr>
          <a:xfrm>
            <a:off x="5959592" y="579622"/>
            <a:ext cx="3463313" cy="1756579"/>
            <a:chOff x="5959592" y="579622"/>
            <a:chExt cx="3463313" cy="1384496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BEF0379-D1AB-490C-BD8B-9D0A8BCFF62C}"/>
                </a:ext>
              </a:extLst>
            </p:cNvPr>
            <p:cNvGrpSpPr/>
            <p:nvPr/>
          </p:nvGrpSpPr>
          <p:grpSpPr>
            <a:xfrm>
              <a:off x="5959592" y="620091"/>
              <a:ext cx="3016427" cy="675272"/>
              <a:chOff x="5931017" y="894070"/>
              <a:chExt cx="3016427" cy="675272"/>
            </a:xfrm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F23BDA89-CEA8-4D10-944F-709202ED335A}"/>
                  </a:ext>
                </a:extLst>
              </p:cNvPr>
              <p:cNvSpPr/>
              <p:nvPr/>
            </p:nvSpPr>
            <p:spPr>
              <a:xfrm>
                <a:off x="5931017" y="894070"/>
                <a:ext cx="3016427" cy="675272"/>
              </a:xfrm>
              <a:custGeom>
                <a:avLst/>
                <a:gdLst>
                  <a:gd name="connsiteX0" fmla="*/ 0 w 2683296"/>
                  <a:gd name="connsiteY0" fmla="*/ 0 h 406400"/>
                  <a:gd name="connsiteX1" fmla="*/ 498898 w 2683296"/>
                  <a:gd name="connsiteY1" fmla="*/ 0 h 406400"/>
                  <a:gd name="connsiteX2" fmla="*/ 499530 w 2683296"/>
                  <a:gd name="connsiteY2" fmla="*/ 0 h 406400"/>
                  <a:gd name="connsiteX3" fmla="*/ 2683296 w 2683296"/>
                  <a:gd name="connsiteY3" fmla="*/ 0 h 406400"/>
                  <a:gd name="connsiteX4" fmla="*/ 2683296 w 2683296"/>
                  <a:gd name="connsiteY4" fmla="*/ 406400 h 406400"/>
                  <a:gd name="connsiteX5" fmla="*/ 498898 w 2683296"/>
                  <a:gd name="connsiteY5" fmla="*/ 406400 h 406400"/>
                  <a:gd name="connsiteX6" fmla="*/ 498898 w 2683296"/>
                  <a:gd name="connsiteY6" fmla="*/ 320062 h 406400"/>
                  <a:gd name="connsiteX0" fmla="*/ 0 w 2683296"/>
                  <a:gd name="connsiteY0" fmla="*/ 0 h 411364"/>
                  <a:gd name="connsiteX1" fmla="*/ 498898 w 2683296"/>
                  <a:gd name="connsiteY1" fmla="*/ 0 h 411364"/>
                  <a:gd name="connsiteX2" fmla="*/ 499530 w 2683296"/>
                  <a:gd name="connsiteY2" fmla="*/ 0 h 411364"/>
                  <a:gd name="connsiteX3" fmla="*/ 2683296 w 2683296"/>
                  <a:gd name="connsiteY3" fmla="*/ 0 h 411364"/>
                  <a:gd name="connsiteX4" fmla="*/ 2683296 w 2683296"/>
                  <a:gd name="connsiteY4" fmla="*/ 406400 h 411364"/>
                  <a:gd name="connsiteX5" fmla="*/ 1501871 w 2683296"/>
                  <a:gd name="connsiteY5" fmla="*/ 411364 h 411364"/>
                  <a:gd name="connsiteX6" fmla="*/ 498898 w 2683296"/>
                  <a:gd name="connsiteY6" fmla="*/ 406400 h 411364"/>
                  <a:gd name="connsiteX7" fmla="*/ 498898 w 2683296"/>
                  <a:gd name="connsiteY7" fmla="*/ 320062 h 411364"/>
                  <a:gd name="connsiteX8" fmla="*/ 0 w 2683296"/>
                  <a:gd name="connsiteY8" fmla="*/ 0 h 411364"/>
                  <a:gd name="connsiteX0" fmla="*/ 0 w 2683296"/>
                  <a:gd name="connsiteY0" fmla="*/ 0 h 602870"/>
                  <a:gd name="connsiteX1" fmla="*/ 498898 w 2683296"/>
                  <a:gd name="connsiteY1" fmla="*/ 0 h 602870"/>
                  <a:gd name="connsiteX2" fmla="*/ 499530 w 2683296"/>
                  <a:gd name="connsiteY2" fmla="*/ 0 h 602870"/>
                  <a:gd name="connsiteX3" fmla="*/ 2683296 w 2683296"/>
                  <a:gd name="connsiteY3" fmla="*/ 0 h 602870"/>
                  <a:gd name="connsiteX4" fmla="*/ 2683296 w 2683296"/>
                  <a:gd name="connsiteY4" fmla="*/ 406400 h 602870"/>
                  <a:gd name="connsiteX5" fmla="*/ 1501871 w 2683296"/>
                  <a:gd name="connsiteY5" fmla="*/ 411364 h 602870"/>
                  <a:gd name="connsiteX6" fmla="*/ 498898 w 2683296"/>
                  <a:gd name="connsiteY6" fmla="*/ 602870 h 602870"/>
                  <a:gd name="connsiteX7" fmla="*/ 498898 w 2683296"/>
                  <a:gd name="connsiteY7" fmla="*/ 320062 h 602870"/>
                  <a:gd name="connsiteX8" fmla="*/ 0 w 2683296"/>
                  <a:gd name="connsiteY8" fmla="*/ 0 h 602870"/>
                  <a:gd name="connsiteX0" fmla="*/ 0 w 2689634"/>
                  <a:gd name="connsiteY0" fmla="*/ 0 h 609209"/>
                  <a:gd name="connsiteX1" fmla="*/ 498898 w 2689634"/>
                  <a:gd name="connsiteY1" fmla="*/ 0 h 609209"/>
                  <a:gd name="connsiteX2" fmla="*/ 499530 w 2689634"/>
                  <a:gd name="connsiteY2" fmla="*/ 0 h 609209"/>
                  <a:gd name="connsiteX3" fmla="*/ 2683296 w 2689634"/>
                  <a:gd name="connsiteY3" fmla="*/ 0 h 609209"/>
                  <a:gd name="connsiteX4" fmla="*/ 2689634 w 2689634"/>
                  <a:gd name="connsiteY4" fmla="*/ 609209 h 609209"/>
                  <a:gd name="connsiteX5" fmla="*/ 1501871 w 2689634"/>
                  <a:gd name="connsiteY5" fmla="*/ 411364 h 609209"/>
                  <a:gd name="connsiteX6" fmla="*/ 498898 w 2689634"/>
                  <a:gd name="connsiteY6" fmla="*/ 602870 h 609209"/>
                  <a:gd name="connsiteX7" fmla="*/ 498898 w 2689634"/>
                  <a:gd name="connsiteY7" fmla="*/ 320062 h 609209"/>
                  <a:gd name="connsiteX8" fmla="*/ 0 w 2689634"/>
                  <a:gd name="connsiteY8" fmla="*/ 0 h 609209"/>
                  <a:gd name="connsiteX0" fmla="*/ 0 w 2689634"/>
                  <a:gd name="connsiteY0" fmla="*/ 0 h 609209"/>
                  <a:gd name="connsiteX1" fmla="*/ 498898 w 2689634"/>
                  <a:gd name="connsiteY1" fmla="*/ 0 h 609209"/>
                  <a:gd name="connsiteX2" fmla="*/ 499530 w 2689634"/>
                  <a:gd name="connsiteY2" fmla="*/ 0 h 609209"/>
                  <a:gd name="connsiteX3" fmla="*/ 2683296 w 2689634"/>
                  <a:gd name="connsiteY3" fmla="*/ 0 h 609209"/>
                  <a:gd name="connsiteX4" fmla="*/ 2689634 w 2689634"/>
                  <a:gd name="connsiteY4" fmla="*/ 609209 h 609209"/>
                  <a:gd name="connsiteX5" fmla="*/ 1501871 w 2689634"/>
                  <a:gd name="connsiteY5" fmla="*/ 411364 h 609209"/>
                  <a:gd name="connsiteX6" fmla="*/ 498898 w 2689634"/>
                  <a:gd name="connsiteY6" fmla="*/ 602870 h 609209"/>
                  <a:gd name="connsiteX7" fmla="*/ 498898 w 2689634"/>
                  <a:gd name="connsiteY7" fmla="*/ 389777 h 609209"/>
                  <a:gd name="connsiteX8" fmla="*/ 0 w 2689634"/>
                  <a:gd name="connsiteY8" fmla="*/ 0 h 609209"/>
                  <a:gd name="connsiteX0" fmla="*/ 0 w 2702309"/>
                  <a:gd name="connsiteY0" fmla="*/ 114080 h 609209"/>
                  <a:gd name="connsiteX1" fmla="*/ 511573 w 2702309"/>
                  <a:gd name="connsiteY1" fmla="*/ 0 h 609209"/>
                  <a:gd name="connsiteX2" fmla="*/ 512205 w 2702309"/>
                  <a:gd name="connsiteY2" fmla="*/ 0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02309"/>
                  <a:gd name="connsiteY0" fmla="*/ 114080 h 609209"/>
                  <a:gd name="connsiteX1" fmla="*/ 511573 w 2702309"/>
                  <a:gd name="connsiteY1" fmla="*/ 0 h 609209"/>
                  <a:gd name="connsiteX2" fmla="*/ 505867 w 2702309"/>
                  <a:gd name="connsiteY2" fmla="*/ 31689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02309"/>
                  <a:gd name="connsiteY0" fmla="*/ 114080 h 609209"/>
                  <a:gd name="connsiteX1" fmla="*/ 524248 w 2702309"/>
                  <a:gd name="connsiteY1" fmla="*/ 38027 h 609209"/>
                  <a:gd name="connsiteX2" fmla="*/ 505867 w 2702309"/>
                  <a:gd name="connsiteY2" fmla="*/ 31689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21323"/>
                  <a:gd name="connsiteY0" fmla="*/ 164782 h 609209"/>
                  <a:gd name="connsiteX1" fmla="*/ 543262 w 2721323"/>
                  <a:gd name="connsiteY1" fmla="*/ 38027 h 609209"/>
                  <a:gd name="connsiteX2" fmla="*/ 524881 w 2721323"/>
                  <a:gd name="connsiteY2" fmla="*/ 31689 h 609209"/>
                  <a:gd name="connsiteX3" fmla="*/ 2714985 w 2721323"/>
                  <a:gd name="connsiteY3" fmla="*/ 0 h 609209"/>
                  <a:gd name="connsiteX4" fmla="*/ 2721323 w 2721323"/>
                  <a:gd name="connsiteY4" fmla="*/ 609209 h 609209"/>
                  <a:gd name="connsiteX5" fmla="*/ 1533560 w 2721323"/>
                  <a:gd name="connsiteY5" fmla="*/ 411364 h 609209"/>
                  <a:gd name="connsiteX6" fmla="*/ 530587 w 2721323"/>
                  <a:gd name="connsiteY6" fmla="*/ 602870 h 609209"/>
                  <a:gd name="connsiteX7" fmla="*/ 530587 w 2721323"/>
                  <a:gd name="connsiteY7" fmla="*/ 389777 h 609209"/>
                  <a:gd name="connsiteX8" fmla="*/ 0 w 2721323"/>
                  <a:gd name="connsiteY8" fmla="*/ 164782 h 609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21323" h="609209">
                    <a:moveTo>
                      <a:pt x="0" y="164782"/>
                    </a:moveTo>
                    <a:lnTo>
                      <a:pt x="543262" y="38027"/>
                    </a:lnTo>
                    <a:lnTo>
                      <a:pt x="524881" y="31689"/>
                    </a:lnTo>
                    <a:lnTo>
                      <a:pt x="2714985" y="0"/>
                    </a:lnTo>
                    <a:cubicBezTo>
                      <a:pt x="2717098" y="203070"/>
                      <a:pt x="2719210" y="406139"/>
                      <a:pt x="2721323" y="609209"/>
                    </a:cubicBezTo>
                    <a:lnTo>
                      <a:pt x="1533560" y="411364"/>
                    </a:lnTo>
                    <a:lnTo>
                      <a:pt x="530587" y="602870"/>
                    </a:lnTo>
                    <a:lnTo>
                      <a:pt x="530587" y="389777"/>
                    </a:lnTo>
                    <a:lnTo>
                      <a:pt x="0" y="164782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48000"/>
                </a:schemeClr>
              </a:solidFill>
              <a:ln>
                <a:noFill/>
              </a:ln>
              <a:effectLst>
                <a:softEdge rad="889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4F6FD6A1-B862-49DE-A73D-CBED160B751C}"/>
                  </a:ext>
                </a:extLst>
              </p:cNvPr>
              <p:cNvSpPr/>
              <p:nvPr/>
            </p:nvSpPr>
            <p:spPr>
              <a:xfrm>
                <a:off x="6181933" y="907329"/>
                <a:ext cx="2683296" cy="406400"/>
              </a:xfrm>
              <a:custGeom>
                <a:avLst/>
                <a:gdLst>
                  <a:gd name="connsiteX0" fmla="*/ 0 w 2683296"/>
                  <a:gd name="connsiteY0" fmla="*/ 0 h 406400"/>
                  <a:gd name="connsiteX1" fmla="*/ 498898 w 2683296"/>
                  <a:gd name="connsiteY1" fmla="*/ 0 h 406400"/>
                  <a:gd name="connsiteX2" fmla="*/ 499530 w 2683296"/>
                  <a:gd name="connsiteY2" fmla="*/ 0 h 406400"/>
                  <a:gd name="connsiteX3" fmla="*/ 2683296 w 2683296"/>
                  <a:gd name="connsiteY3" fmla="*/ 0 h 406400"/>
                  <a:gd name="connsiteX4" fmla="*/ 2683296 w 2683296"/>
                  <a:gd name="connsiteY4" fmla="*/ 406400 h 406400"/>
                  <a:gd name="connsiteX5" fmla="*/ 498898 w 2683296"/>
                  <a:gd name="connsiteY5" fmla="*/ 406400 h 406400"/>
                  <a:gd name="connsiteX6" fmla="*/ 498898 w 2683296"/>
                  <a:gd name="connsiteY6" fmla="*/ 320062 h 40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83296" h="406400">
                    <a:moveTo>
                      <a:pt x="0" y="0"/>
                    </a:moveTo>
                    <a:lnTo>
                      <a:pt x="498898" y="0"/>
                    </a:lnTo>
                    <a:lnTo>
                      <a:pt x="499530" y="0"/>
                    </a:lnTo>
                    <a:lnTo>
                      <a:pt x="2683296" y="0"/>
                    </a:lnTo>
                    <a:lnTo>
                      <a:pt x="2683296" y="406400"/>
                    </a:lnTo>
                    <a:lnTo>
                      <a:pt x="498898" y="406400"/>
                    </a:lnTo>
                    <a:lnTo>
                      <a:pt x="498898" y="320062"/>
                    </a:lnTo>
                    <a:close/>
                  </a:path>
                </a:pathLst>
              </a:custGeom>
              <a:solidFill>
                <a:srgbClr val="017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15858574-181D-4FD3-A6B2-F20517EB26DD}"/>
                </a:ext>
              </a:extLst>
            </p:cNvPr>
            <p:cNvSpPr txBox="1"/>
            <p:nvPr/>
          </p:nvSpPr>
          <p:spPr>
            <a:xfrm>
              <a:off x="6856447" y="669213"/>
              <a:ext cx="17864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dirty="0">
                  <a:solidFill>
                    <a:schemeClr val="bg1"/>
                  </a:solidFill>
                </a:rPr>
                <a:t>Data Flow Process</a:t>
              </a:r>
              <a:endParaRPr lang="en-IN" sz="16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5B0DC05-2175-48F9-B57B-32C96D897DA2}"/>
                </a:ext>
              </a:extLst>
            </p:cNvPr>
            <p:cNvSpPr txBox="1"/>
            <p:nvPr/>
          </p:nvSpPr>
          <p:spPr>
            <a:xfrm>
              <a:off x="6770373" y="1090821"/>
              <a:ext cx="1958612" cy="873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User-submitted news is preprocessed, analyzed by an AI model, verified through fact-checking APIs, and displayed with a credibility result.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 Condensed Light" panose="020B0306030504020204" pitchFamily="34" charset="0"/>
                  <a:ea typeface="Open Sans Condensed Light" panose="020B0306030504020204" pitchFamily="34" charset="0"/>
                  <a:cs typeface="Open Sans Condensed Light" panose="020B0306030504020204" pitchFamily="34" charset="0"/>
                </a:rPr>
                <a:t>.</a:t>
              </a:r>
              <a:endParaRPr lang="en-I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endParaRPr>
            </a:p>
          </p:txBody>
        </p:sp>
        <p:pic>
          <p:nvPicPr>
            <p:cNvPr id="94" name="Graphic 93" descr="Lightbulb">
              <a:extLst>
                <a:ext uri="{FF2B5EF4-FFF2-40B4-BE49-F238E27FC236}">
                  <a16:creationId xmlns:a16="http://schemas.microsoft.com/office/drawing/2014/main" id="{63F5C4BD-F3FA-4328-960C-D50B8D5A9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922379" y="579622"/>
              <a:ext cx="500526" cy="500526"/>
            </a:xfrm>
            <a:prstGeom prst="rect">
              <a:avLst/>
            </a:prstGeom>
            <a:effectLst/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5AD0DD0-1C04-455F-8E8C-4353F500D013}"/>
              </a:ext>
            </a:extLst>
          </p:cNvPr>
          <p:cNvGrpSpPr/>
          <p:nvPr/>
        </p:nvGrpSpPr>
        <p:grpSpPr>
          <a:xfrm>
            <a:off x="2693416" y="3137427"/>
            <a:ext cx="3525550" cy="2048954"/>
            <a:chOff x="2726319" y="3539531"/>
            <a:chExt cx="3525550" cy="2048954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FFA71216-431C-4B82-AE7A-C2089C490DCE}"/>
                </a:ext>
              </a:extLst>
            </p:cNvPr>
            <p:cNvGrpSpPr/>
            <p:nvPr/>
          </p:nvGrpSpPr>
          <p:grpSpPr>
            <a:xfrm flipH="1">
              <a:off x="3235442" y="3539531"/>
              <a:ext cx="3016427" cy="775570"/>
              <a:chOff x="5931017" y="793772"/>
              <a:chExt cx="3016427" cy="775570"/>
            </a:xfrm>
          </p:grpSpPr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F18AE7A6-7187-4E66-9C6A-DBE0CAA94EBC}"/>
                  </a:ext>
                </a:extLst>
              </p:cNvPr>
              <p:cNvSpPr/>
              <p:nvPr/>
            </p:nvSpPr>
            <p:spPr>
              <a:xfrm>
                <a:off x="5931017" y="894070"/>
                <a:ext cx="3016427" cy="675272"/>
              </a:xfrm>
              <a:custGeom>
                <a:avLst/>
                <a:gdLst>
                  <a:gd name="connsiteX0" fmla="*/ 0 w 2683296"/>
                  <a:gd name="connsiteY0" fmla="*/ 0 h 406400"/>
                  <a:gd name="connsiteX1" fmla="*/ 498898 w 2683296"/>
                  <a:gd name="connsiteY1" fmla="*/ 0 h 406400"/>
                  <a:gd name="connsiteX2" fmla="*/ 499530 w 2683296"/>
                  <a:gd name="connsiteY2" fmla="*/ 0 h 406400"/>
                  <a:gd name="connsiteX3" fmla="*/ 2683296 w 2683296"/>
                  <a:gd name="connsiteY3" fmla="*/ 0 h 406400"/>
                  <a:gd name="connsiteX4" fmla="*/ 2683296 w 2683296"/>
                  <a:gd name="connsiteY4" fmla="*/ 406400 h 406400"/>
                  <a:gd name="connsiteX5" fmla="*/ 498898 w 2683296"/>
                  <a:gd name="connsiteY5" fmla="*/ 406400 h 406400"/>
                  <a:gd name="connsiteX6" fmla="*/ 498898 w 2683296"/>
                  <a:gd name="connsiteY6" fmla="*/ 320062 h 406400"/>
                  <a:gd name="connsiteX0" fmla="*/ 0 w 2683296"/>
                  <a:gd name="connsiteY0" fmla="*/ 0 h 411364"/>
                  <a:gd name="connsiteX1" fmla="*/ 498898 w 2683296"/>
                  <a:gd name="connsiteY1" fmla="*/ 0 h 411364"/>
                  <a:gd name="connsiteX2" fmla="*/ 499530 w 2683296"/>
                  <a:gd name="connsiteY2" fmla="*/ 0 h 411364"/>
                  <a:gd name="connsiteX3" fmla="*/ 2683296 w 2683296"/>
                  <a:gd name="connsiteY3" fmla="*/ 0 h 411364"/>
                  <a:gd name="connsiteX4" fmla="*/ 2683296 w 2683296"/>
                  <a:gd name="connsiteY4" fmla="*/ 406400 h 411364"/>
                  <a:gd name="connsiteX5" fmla="*/ 1501871 w 2683296"/>
                  <a:gd name="connsiteY5" fmla="*/ 411364 h 411364"/>
                  <a:gd name="connsiteX6" fmla="*/ 498898 w 2683296"/>
                  <a:gd name="connsiteY6" fmla="*/ 406400 h 411364"/>
                  <a:gd name="connsiteX7" fmla="*/ 498898 w 2683296"/>
                  <a:gd name="connsiteY7" fmla="*/ 320062 h 411364"/>
                  <a:gd name="connsiteX8" fmla="*/ 0 w 2683296"/>
                  <a:gd name="connsiteY8" fmla="*/ 0 h 411364"/>
                  <a:gd name="connsiteX0" fmla="*/ 0 w 2683296"/>
                  <a:gd name="connsiteY0" fmla="*/ 0 h 602870"/>
                  <a:gd name="connsiteX1" fmla="*/ 498898 w 2683296"/>
                  <a:gd name="connsiteY1" fmla="*/ 0 h 602870"/>
                  <a:gd name="connsiteX2" fmla="*/ 499530 w 2683296"/>
                  <a:gd name="connsiteY2" fmla="*/ 0 h 602870"/>
                  <a:gd name="connsiteX3" fmla="*/ 2683296 w 2683296"/>
                  <a:gd name="connsiteY3" fmla="*/ 0 h 602870"/>
                  <a:gd name="connsiteX4" fmla="*/ 2683296 w 2683296"/>
                  <a:gd name="connsiteY4" fmla="*/ 406400 h 602870"/>
                  <a:gd name="connsiteX5" fmla="*/ 1501871 w 2683296"/>
                  <a:gd name="connsiteY5" fmla="*/ 411364 h 602870"/>
                  <a:gd name="connsiteX6" fmla="*/ 498898 w 2683296"/>
                  <a:gd name="connsiteY6" fmla="*/ 602870 h 602870"/>
                  <a:gd name="connsiteX7" fmla="*/ 498898 w 2683296"/>
                  <a:gd name="connsiteY7" fmla="*/ 320062 h 602870"/>
                  <a:gd name="connsiteX8" fmla="*/ 0 w 2683296"/>
                  <a:gd name="connsiteY8" fmla="*/ 0 h 602870"/>
                  <a:gd name="connsiteX0" fmla="*/ 0 w 2689634"/>
                  <a:gd name="connsiteY0" fmla="*/ 0 h 609209"/>
                  <a:gd name="connsiteX1" fmla="*/ 498898 w 2689634"/>
                  <a:gd name="connsiteY1" fmla="*/ 0 h 609209"/>
                  <a:gd name="connsiteX2" fmla="*/ 499530 w 2689634"/>
                  <a:gd name="connsiteY2" fmla="*/ 0 h 609209"/>
                  <a:gd name="connsiteX3" fmla="*/ 2683296 w 2689634"/>
                  <a:gd name="connsiteY3" fmla="*/ 0 h 609209"/>
                  <a:gd name="connsiteX4" fmla="*/ 2689634 w 2689634"/>
                  <a:gd name="connsiteY4" fmla="*/ 609209 h 609209"/>
                  <a:gd name="connsiteX5" fmla="*/ 1501871 w 2689634"/>
                  <a:gd name="connsiteY5" fmla="*/ 411364 h 609209"/>
                  <a:gd name="connsiteX6" fmla="*/ 498898 w 2689634"/>
                  <a:gd name="connsiteY6" fmla="*/ 602870 h 609209"/>
                  <a:gd name="connsiteX7" fmla="*/ 498898 w 2689634"/>
                  <a:gd name="connsiteY7" fmla="*/ 320062 h 609209"/>
                  <a:gd name="connsiteX8" fmla="*/ 0 w 2689634"/>
                  <a:gd name="connsiteY8" fmla="*/ 0 h 609209"/>
                  <a:gd name="connsiteX0" fmla="*/ 0 w 2689634"/>
                  <a:gd name="connsiteY0" fmla="*/ 0 h 609209"/>
                  <a:gd name="connsiteX1" fmla="*/ 498898 w 2689634"/>
                  <a:gd name="connsiteY1" fmla="*/ 0 h 609209"/>
                  <a:gd name="connsiteX2" fmla="*/ 499530 w 2689634"/>
                  <a:gd name="connsiteY2" fmla="*/ 0 h 609209"/>
                  <a:gd name="connsiteX3" fmla="*/ 2683296 w 2689634"/>
                  <a:gd name="connsiteY3" fmla="*/ 0 h 609209"/>
                  <a:gd name="connsiteX4" fmla="*/ 2689634 w 2689634"/>
                  <a:gd name="connsiteY4" fmla="*/ 609209 h 609209"/>
                  <a:gd name="connsiteX5" fmla="*/ 1501871 w 2689634"/>
                  <a:gd name="connsiteY5" fmla="*/ 411364 h 609209"/>
                  <a:gd name="connsiteX6" fmla="*/ 498898 w 2689634"/>
                  <a:gd name="connsiteY6" fmla="*/ 602870 h 609209"/>
                  <a:gd name="connsiteX7" fmla="*/ 498898 w 2689634"/>
                  <a:gd name="connsiteY7" fmla="*/ 389777 h 609209"/>
                  <a:gd name="connsiteX8" fmla="*/ 0 w 2689634"/>
                  <a:gd name="connsiteY8" fmla="*/ 0 h 609209"/>
                  <a:gd name="connsiteX0" fmla="*/ 0 w 2702309"/>
                  <a:gd name="connsiteY0" fmla="*/ 114080 h 609209"/>
                  <a:gd name="connsiteX1" fmla="*/ 511573 w 2702309"/>
                  <a:gd name="connsiteY1" fmla="*/ 0 h 609209"/>
                  <a:gd name="connsiteX2" fmla="*/ 512205 w 2702309"/>
                  <a:gd name="connsiteY2" fmla="*/ 0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02309"/>
                  <a:gd name="connsiteY0" fmla="*/ 114080 h 609209"/>
                  <a:gd name="connsiteX1" fmla="*/ 511573 w 2702309"/>
                  <a:gd name="connsiteY1" fmla="*/ 0 h 609209"/>
                  <a:gd name="connsiteX2" fmla="*/ 505867 w 2702309"/>
                  <a:gd name="connsiteY2" fmla="*/ 31689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02309"/>
                  <a:gd name="connsiteY0" fmla="*/ 114080 h 609209"/>
                  <a:gd name="connsiteX1" fmla="*/ 524248 w 2702309"/>
                  <a:gd name="connsiteY1" fmla="*/ 38027 h 609209"/>
                  <a:gd name="connsiteX2" fmla="*/ 505867 w 2702309"/>
                  <a:gd name="connsiteY2" fmla="*/ 31689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21323"/>
                  <a:gd name="connsiteY0" fmla="*/ 164782 h 609209"/>
                  <a:gd name="connsiteX1" fmla="*/ 543262 w 2721323"/>
                  <a:gd name="connsiteY1" fmla="*/ 38027 h 609209"/>
                  <a:gd name="connsiteX2" fmla="*/ 524881 w 2721323"/>
                  <a:gd name="connsiteY2" fmla="*/ 31689 h 609209"/>
                  <a:gd name="connsiteX3" fmla="*/ 2714985 w 2721323"/>
                  <a:gd name="connsiteY3" fmla="*/ 0 h 609209"/>
                  <a:gd name="connsiteX4" fmla="*/ 2721323 w 2721323"/>
                  <a:gd name="connsiteY4" fmla="*/ 609209 h 609209"/>
                  <a:gd name="connsiteX5" fmla="*/ 1533560 w 2721323"/>
                  <a:gd name="connsiteY5" fmla="*/ 411364 h 609209"/>
                  <a:gd name="connsiteX6" fmla="*/ 530587 w 2721323"/>
                  <a:gd name="connsiteY6" fmla="*/ 602870 h 609209"/>
                  <a:gd name="connsiteX7" fmla="*/ 530587 w 2721323"/>
                  <a:gd name="connsiteY7" fmla="*/ 389777 h 609209"/>
                  <a:gd name="connsiteX8" fmla="*/ 0 w 2721323"/>
                  <a:gd name="connsiteY8" fmla="*/ 164782 h 609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21323" h="609209">
                    <a:moveTo>
                      <a:pt x="0" y="164782"/>
                    </a:moveTo>
                    <a:lnTo>
                      <a:pt x="543262" y="38027"/>
                    </a:lnTo>
                    <a:lnTo>
                      <a:pt x="524881" y="31689"/>
                    </a:lnTo>
                    <a:lnTo>
                      <a:pt x="2714985" y="0"/>
                    </a:lnTo>
                    <a:cubicBezTo>
                      <a:pt x="2717098" y="203070"/>
                      <a:pt x="2719210" y="406139"/>
                      <a:pt x="2721323" y="609209"/>
                    </a:cubicBezTo>
                    <a:lnTo>
                      <a:pt x="1533560" y="411364"/>
                    </a:lnTo>
                    <a:lnTo>
                      <a:pt x="530587" y="602870"/>
                    </a:lnTo>
                    <a:lnTo>
                      <a:pt x="530587" y="389777"/>
                    </a:lnTo>
                    <a:lnTo>
                      <a:pt x="0" y="164782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48000"/>
                </a:schemeClr>
              </a:solidFill>
              <a:ln>
                <a:noFill/>
              </a:ln>
              <a:effectLst>
                <a:softEdge rad="889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C634DA7B-126F-4E68-962D-021BE75BAB21}"/>
                  </a:ext>
                </a:extLst>
              </p:cNvPr>
              <p:cNvSpPr/>
              <p:nvPr/>
            </p:nvSpPr>
            <p:spPr>
              <a:xfrm>
                <a:off x="6181933" y="793772"/>
                <a:ext cx="2753907" cy="592331"/>
              </a:xfrm>
              <a:custGeom>
                <a:avLst/>
                <a:gdLst>
                  <a:gd name="connsiteX0" fmla="*/ 0 w 2683296"/>
                  <a:gd name="connsiteY0" fmla="*/ 0 h 406400"/>
                  <a:gd name="connsiteX1" fmla="*/ 498898 w 2683296"/>
                  <a:gd name="connsiteY1" fmla="*/ 0 h 406400"/>
                  <a:gd name="connsiteX2" fmla="*/ 499530 w 2683296"/>
                  <a:gd name="connsiteY2" fmla="*/ 0 h 406400"/>
                  <a:gd name="connsiteX3" fmla="*/ 2683296 w 2683296"/>
                  <a:gd name="connsiteY3" fmla="*/ 0 h 406400"/>
                  <a:gd name="connsiteX4" fmla="*/ 2683296 w 2683296"/>
                  <a:gd name="connsiteY4" fmla="*/ 406400 h 406400"/>
                  <a:gd name="connsiteX5" fmla="*/ 498898 w 2683296"/>
                  <a:gd name="connsiteY5" fmla="*/ 406400 h 406400"/>
                  <a:gd name="connsiteX6" fmla="*/ 498898 w 2683296"/>
                  <a:gd name="connsiteY6" fmla="*/ 320062 h 40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83296" h="406400">
                    <a:moveTo>
                      <a:pt x="0" y="0"/>
                    </a:moveTo>
                    <a:lnTo>
                      <a:pt x="498898" y="0"/>
                    </a:lnTo>
                    <a:lnTo>
                      <a:pt x="499530" y="0"/>
                    </a:lnTo>
                    <a:lnTo>
                      <a:pt x="2683296" y="0"/>
                    </a:lnTo>
                    <a:lnTo>
                      <a:pt x="2683296" y="406400"/>
                    </a:lnTo>
                    <a:lnTo>
                      <a:pt x="498898" y="406400"/>
                    </a:lnTo>
                    <a:lnTo>
                      <a:pt x="498898" y="320062"/>
                    </a:lnTo>
                    <a:close/>
                  </a:path>
                </a:pathLst>
              </a:custGeom>
              <a:solidFill>
                <a:srgbClr val="FE610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D5C29C1-0D94-4755-A6D6-914FE19CDC84}"/>
                </a:ext>
              </a:extLst>
            </p:cNvPr>
            <p:cNvSpPr txBox="1"/>
            <p:nvPr/>
          </p:nvSpPr>
          <p:spPr>
            <a:xfrm>
              <a:off x="3390075" y="3559813"/>
              <a:ext cx="19967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dirty="0">
                  <a:solidFill>
                    <a:schemeClr val="bg1"/>
                  </a:solidFill>
                </a:rPr>
                <a:t>System Layered Architecture</a:t>
              </a:r>
              <a:endParaRPr lang="en-IN" sz="16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6E009FE-2E24-49C0-AED0-A4B55055C5CB}"/>
                </a:ext>
              </a:extLst>
            </p:cNvPr>
            <p:cNvSpPr txBox="1"/>
            <p:nvPr/>
          </p:nvSpPr>
          <p:spPr>
            <a:xfrm>
              <a:off x="3397497" y="4141935"/>
              <a:ext cx="210473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The system uses a layered architecture consisting of a presentation layer, application layer, processing layer, verification layer, and data layer to ensure scalability, maintainability, and efficient fake news detection.</a:t>
              </a:r>
              <a:endParaRPr lang="en-I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endParaRPr>
            </a:p>
          </p:txBody>
        </p:sp>
        <p:pic>
          <p:nvPicPr>
            <p:cNvPr id="95" name="Graphic 94" descr="Stopwatch">
              <a:extLst>
                <a:ext uri="{FF2B5EF4-FFF2-40B4-BE49-F238E27FC236}">
                  <a16:creationId xmlns:a16="http://schemas.microsoft.com/office/drawing/2014/main" id="{47792EFD-176D-4554-844A-8747065788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726319" y="3603585"/>
              <a:ext cx="505406" cy="505406"/>
            </a:xfrm>
            <a:prstGeom prst="rect">
              <a:avLst/>
            </a:prstGeom>
            <a:effectLst/>
          </p:spPr>
        </p:pic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01820300-957B-4EAC-950D-083E03A1AA1E}"/>
              </a:ext>
            </a:extLst>
          </p:cNvPr>
          <p:cNvSpPr txBox="1"/>
          <p:nvPr/>
        </p:nvSpPr>
        <p:spPr>
          <a:xfrm>
            <a:off x="366276" y="171631"/>
            <a:ext cx="32406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6 Year TimeLine Infographic</a:t>
            </a:r>
            <a:endParaRPr lang="en-IN" sz="2800" b="1" dirty="0">
              <a:solidFill>
                <a:schemeClr val="tx1">
                  <a:lumMod val="75000"/>
                  <a:lumOff val="25000"/>
                </a:schemeClr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9AB13E-2102-C96A-E5B6-4797A1A95ABE}"/>
              </a:ext>
            </a:extLst>
          </p:cNvPr>
          <p:cNvSpPr txBox="1"/>
          <p:nvPr/>
        </p:nvSpPr>
        <p:spPr>
          <a:xfrm>
            <a:off x="3294495" y="987071"/>
            <a:ext cx="22770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Project Development Timeline</a:t>
            </a:r>
          </a:p>
        </p:txBody>
      </p:sp>
    </p:spTree>
    <p:extLst>
      <p:ext uri="{BB962C8B-B14F-4D97-AF65-F5344CB8AC3E}">
        <p14:creationId xmlns:p14="http://schemas.microsoft.com/office/powerpoint/2010/main" val="2458607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arallelogram 21">
            <a:extLst>
              <a:ext uri="{FF2B5EF4-FFF2-40B4-BE49-F238E27FC236}">
                <a16:creationId xmlns:a16="http://schemas.microsoft.com/office/drawing/2014/main" id="{51F74652-877E-4B22-8070-3C95880A4DB2}"/>
              </a:ext>
            </a:extLst>
          </p:cNvPr>
          <p:cNvSpPr/>
          <p:nvPr/>
        </p:nvSpPr>
        <p:spPr>
          <a:xfrm>
            <a:off x="5915026" y="452461"/>
            <a:ext cx="1390649" cy="273243"/>
          </a:xfrm>
          <a:prstGeom prst="parallelogram">
            <a:avLst>
              <a:gd name="adj" fmla="val 65087"/>
            </a:avLst>
          </a:prstGeom>
          <a:solidFill>
            <a:srgbClr val="275A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594120A3-91BA-4131-8822-38FBA5969980}"/>
              </a:ext>
            </a:extLst>
          </p:cNvPr>
          <p:cNvSpPr/>
          <p:nvPr/>
        </p:nvSpPr>
        <p:spPr>
          <a:xfrm>
            <a:off x="7502528" y="2439602"/>
            <a:ext cx="1390649" cy="273243"/>
          </a:xfrm>
          <a:prstGeom prst="parallelogram">
            <a:avLst>
              <a:gd name="adj" fmla="val 65087"/>
            </a:avLst>
          </a:prstGeom>
          <a:solidFill>
            <a:srgbClr val="0185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6943935A-9654-43A1-96BD-903FB97F9B5A}"/>
              </a:ext>
            </a:extLst>
          </p:cNvPr>
          <p:cNvSpPr/>
          <p:nvPr/>
        </p:nvSpPr>
        <p:spPr>
          <a:xfrm>
            <a:off x="4505328" y="2439602"/>
            <a:ext cx="1390649" cy="273243"/>
          </a:xfrm>
          <a:prstGeom prst="parallelogram">
            <a:avLst>
              <a:gd name="adj" fmla="val 65087"/>
            </a:avLst>
          </a:prstGeom>
          <a:solidFill>
            <a:srgbClr val="619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Parallelogram 27">
            <a:extLst>
              <a:ext uri="{FF2B5EF4-FFF2-40B4-BE49-F238E27FC236}">
                <a16:creationId xmlns:a16="http://schemas.microsoft.com/office/drawing/2014/main" id="{AABAA0A2-57BD-4D21-AB82-AA62D290C94C}"/>
              </a:ext>
            </a:extLst>
          </p:cNvPr>
          <p:cNvSpPr/>
          <p:nvPr/>
        </p:nvSpPr>
        <p:spPr>
          <a:xfrm>
            <a:off x="3549325" y="4447226"/>
            <a:ext cx="1390649" cy="273243"/>
          </a:xfrm>
          <a:prstGeom prst="parallelogram">
            <a:avLst>
              <a:gd name="adj" fmla="val 65087"/>
            </a:avLst>
          </a:prstGeom>
          <a:solidFill>
            <a:srgbClr val="9E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Parallelogram 29">
            <a:extLst>
              <a:ext uri="{FF2B5EF4-FFF2-40B4-BE49-F238E27FC236}">
                <a16:creationId xmlns:a16="http://schemas.microsoft.com/office/drawing/2014/main" id="{263391E0-F129-4D88-9A49-EE948707DB71}"/>
              </a:ext>
            </a:extLst>
          </p:cNvPr>
          <p:cNvSpPr/>
          <p:nvPr/>
        </p:nvSpPr>
        <p:spPr>
          <a:xfrm>
            <a:off x="6787823" y="4447226"/>
            <a:ext cx="1390649" cy="273243"/>
          </a:xfrm>
          <a:prstGeom prst="parallelogram">
            <a:avLst>
              <a:gd name="adj" fmla="val 65087"/>
            </a:avLst>
          </a:prstGeom>
          <a:solidFill>
            <a:srgbClr val="B000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F0E61F12-FDBE-4865-B611-D5415EE1EC18}"/>
              </a:ext>
            </a:extLst>
          </p:cNvPr>
          <p:cNvSpPr/>
          <p:nvPr/>
        </p:nvSpPr>
        <p:spPr>
          <a:xfrm>
            <a:off x="2324100" y="452461"/>
            <a:ext cx="1390649" cy="273243"/>
          </a:xfrm>
          <a:prstGeom prst="parallelogram">
            <a:avLst>
              <a:gd name="adj" fmla="val 65087"/>
            </a:avLst>
          </a:prstGeom>
          <a:solidFill>
            <a:srgbClr val="35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AE9F474-9E9D-4C28-802B-E019701B7F62}"/>
              </a:ext>
            </a:extLst>
          </p:cNvPr>
          <p:cNvSpPr/>
          <p:nvPr/>
        </p:nvSpPr>
        <p:spPr>
          <a:xfrm>
            <a:off x="0" y="625090"/>
            <a:ext cx="12192000" cy="5739390"/>
          </a:xfrm>
          <a:custGeom>
            <a:avLst/>
            <a:gdLst>
              <a:gd name="connsiteX0" fmla="*/ 0 w 12192000"/>
              <a:gd name="connsiteY0" fmla="*/ 0 h 5739390"/>
              <a:gd name="connsiteX1" fmla="*/ 9070268 w 12192000"/>
              <a:gd name="connsiteY1" fmla="*/ 0 h 5739390"/>
              <a:gd name="connsiteX2" fmla="*/ 10938948 w 12192000"/>
              <a:gd name="connsiteY2" fmla="*/ 1868680 h 5739390"/>
              <a:gd name="connsiteX3" fmla="*/ 9070268 w 12192000"/>
              <a:gd name="connsiteY3" fmla="*/ 3737360 h 5739390"/>
              <a:gd name="connsiteX4" fmla="*/ 5329998 w 12192000"/>
              <a:gd name="connsiteY4" fmla="*/ 3737360 h 5739390"/>
              <a:gd name="connsiteX5" fmla="*/ 5311141 w 12192000"/>
              <a:gd name="connsiteY5" fmla="*/ 3733553 h 5739390"/>
              <a:gd name="connsiteX6" fmla="*/ 3101339 w 12192000"/>
              <a:gd name="connsiteY6" fmla="*/ 3733553 h 5739390"/>
              <a:gd name="connsiteX7" fmla="*/ 2967990 w 12192000"/>
              <a:gd name="connsiteY7" fmla="*/ 3866902 h 5739390"/>
              <a:gd name="connsiteX8" fmla="*/ 3101339 w 12192000"/>
              <a:gd name="connsiteY8" fmla="*/ 4000251 h 5739390"/>
              <a:gd name="connsiteX9" fmla="*/ 3121735 w 12192000"/>
              <a:gd name="connsiteY9" fmla="*/ 4000251 h 5739390"/>
              <a:gd name="connsiteX10" fmla="*/ 3121735 w 12192000"/>
              <a:gd name="connsiteY10" fmla="*/ 4004060 h 5739390"/>
              <a:gd name="connsiteX11" fmla="*/ 12192000 w 12192000"/>
              <a:gd name="connsiteY11" fmla="*/ 4004060 h 5739390"/>
              <a:gd name="connsiteX12" fmla="*/ 12192000 w 12192000"/>
              <a:gd name="connsiteY12" fmla="*/ 5739390 h 5739390"/>
              <a:gd name="connsiteX13" fmla="*/ 3121735 w 12192000"/>
              <a:gd name="connsiteY13" fmla="*/ 5739390 h 5739390"/>
              <a:gd name="connsiteX14" fmla="*/ 1253055 w 12192000"/>
              <a:gd name="connsiteY14" fmla="*/ 3870710 h 5739390"/>
              <a:gd name="connsiteX15" fmla="*/ 2930673 w 12192000"/>
              <a:gd name="connsiteY15" fmla="*/ 2011678 h 5739390"/>
              <a:gd name="connsiteX16" fmla="*/ 3121734 w 12192000"/>
              <a:gd name="connsiteY16" fmla="*/ 2002030 h 5739390"/>
              <a:gd name="connsiteX17" fmla="*/ 3121735 w 12192000"/>
              <a:gd name="connsiteY17" fmla="*/ 2002030 h 5739390"/>
              <a:gd name="connsiteX18" fmla="*/ 6849178 w 12192000"/>
              <a:gd name="connsiteY18" fmla="*/ 2002030 h 5739390"/>
              <a:gd name="connsiteX19" fmla="*/ 6857999 w 12192000"/>
              <a:gd name="connsiteY19" fmla="*/ 2003811 h 5739390"/>
              <a:gd name="connsiteX20" fmla="*/ 9067801 w 12192000"/>
              <a:gd name="connsiteY20" fmla="*/ 2003811 h 5739390"/>
              <a:gd name="connsiteX21" fmla="*/ 9201150 w 12192000"/>
              <a:gd name="connsiteY21" fmla="*/ 1870462 h 5739390"/>
              <a:gd name="connsiteX22" fmla="*/ 9119707 w 12192000"/>
              <a:gd name="connsiteY22" fmla="*/ 1747592 h 5739390"/>
              <a:gd name="connsiteX23" fmla="*/ 9070268 w 12192000"/>
              <a:gd name="connsiteY23" fmla="*/ 1737611 h 5739390"/>
              <a:gd name="connsiteX24" fmla="*/ 9070268 w 12192000"/>
              <a:gd name="connsiteY24" fmla="*/ 1735330 h 5739390"/>
              <a:gd name="connsiteX25" fmla="*/ 0 w 12192000"/>
              <a:gd name="connsiteY25" fmla="*/ 1735330 h 5739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5739390">
                <a:moveTo>
                  <a:pt x="0" y="0"/>
                </a:moveTo>
                <a:lnTo>
                  <a:pt x="9070268" y="0"/>
                </a:lnTo>
                <a:cubicBezTo>
                  <a:pt x="10102311" y="0"/>
                  <a:pt x="10938948" y="836637"/>
                  <a:pt x="10938948" y="1868680"/>
                </a:cubicBezTo>
                <a:cubicBezTo>
                  <a:pt x="10938948" y="2900723"/>
                  <a:pt x="10102311" y="3737360"/>
                  <a:pt x="9070268" y="3737360"/>
                </a:cubicBezTo>
                <a:lnTo>
                  <a:pt x="5329998" y="3737360"/>
                </a:lnTo>
                <a:lnTo>
                  <a:pt x="5311141" y="3733553"/>
                </a:lnTo>
                <a:lnTo>
                  <a:pt x="3101339" y="3733553"/>
                </a:lnTo>
                <a:cubicBezTo>
                  <a:pt x="3027692" y="3733553"/>
                  <a:pt x="2967990" y="3793255"/>
                  <a:pt x="2967990" y="3866902"/>
                </a:cubicBezTo>
                <a:cubicBezTo>
                  <a:pt x="2967990" y="3940549"/>
                  <a:pt x="3027692" y="4000251"/>
                  <a:pt x="3101339" y="4000251"/>
                </a:cubicBezTo>
                <a:lnTo>
                  <a:pt x="3121735" y="4000251"/>
                </a:lnTo>
                <a:lnTo>
                  <a:pt x="3121735" y="4004060"/>
                </a:lnTo>
                <a:lnTo>
                  <a:pt x="12192000" y="4004060"/>
                </a:lnTo>
                <a:lnTo>
                  <a:pt x="12192000" y="5739390"/>
                </a:lnTo>
                <a:lnTo>
                  <a:pt x="3121735" y="5739390"/>
                </a:lnTo>
                <a:cubicBezTo>
                  <a:pt x="2089692" y="5739390"/>
                  <a:pt x="1253055" y="4902753"/>
                  <a:pt x="1253055" y="3870710"/>
                </a:cubicBezTo>
                <a:cubicBezTo>
                  <a:pt x="1253055" y="2903170"/>
                  <a:pt x="1988380" y="2107373"/>
                  <a:pt x="2930673" y="2011678"/>
                </a:cubicBezTo>
                <a:lnTo>
                  <a:pt x="3121734" y="2002030"/>
                </a:lnTo>
                <a:lnTo>
                  <a:pt x="3121735" y="2002030"/>
                </a:lnTo>
                <a:lnTo>
                  <a:pt x="6849178" y="2002030"/>
                </a:lnTo>
                <a:lnTo>
                  <a:pt x="6857999" y="2003811"/>
                </a:lnTo>
                <a:lnTo>
                  <a:pt x="9067801" y="2003811"/>
                </a:lnTo>
                <a:cubicBezTo>
                  <a:pt x="9141448" y="2003811"/>
                  <a:pt x="9201150" y="1944109"/>
                  <a:pt x="9201150" y="1870462"/>
                </a:cubicBezTo>
                <a:cubicBezTo>
                  <a:pt x="9201150" y="1815227"/>
                  <a:pt x="9167568" y="1767836"/>
                  <a:pt x="9119707" y="1747592"/>
                </a:cubicBezTo>
                <a:lnTo>
                  <a:pt x="9070268" y="1737611"/>
                </a:lnTo>
                <a:lnTo>
                  <a:pt x="9070268" y="1735330"/>
                </a:lnTo>
                <a:lnTo>
                  <a:pt x="0" y="173533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65100" sx="102000" sy="102000" algn="ctr" rotWithShape="0">
              <a:prstClr val="black">
                <a:alpha val="20000"/>
              </a:prstClr>
            </a:outerShdw>
            <a:reflection blurRad="127000" stA="52000" endA="300" endPos="1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090FA6E-57A0-4EBC-A097-976517B51F4C}"/>
              </a:ext>
            </a:extLst>
          </p:cNvPr>
          <p:cNvCxnSpPr/>
          <p:nvPr/>
        </p:nvCxnSpPr>
        <p:spPr>
          <a:xfrm>
            <a:off x="440266" y="2023533"/>
            <a:ext cx="1329267" cy="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42B3891-D83B-4781-91DA-270B51E6AFD8}"/>
              </a:ext>
            </a:extLst>
          </p:cNvPr>
          <p:cNvCxnSpPr/>
          <p:nvPr/>
        </p:nvCxnSpPr>
        <p:spPr>
          <a:xfrm>
            <a:off x="10388599" y="6045199"/>
            <a:ext cx="1329267" cy="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Arc 34">
            <a:extLst>
              <a:ext uri="{FF2B5EF4-FFF2-40B4-BE49-F238E27FC236}">
                <a16:creationId xmlns:a16="http://schemas.microsoft.com/office/drawing/2014/main" id="{442527F7-383D-4F3E-857C-BF57A9063F50}"/>
              </a:ext>
            </a:extLst>
          </p:cNvPr>
          <p:cNvSpPr/>
          <p:nvPr/>
        </p:nvSpPr>
        <p:spPr>
          <a:xfrm>
            <a:off x="8176046" y="1543230"/>
            <a:ext cx="1916860" cy="1916860"/>
          </a:xfrm>
          <a:prstGeom prst="arc">
            <a:avLst>
              <a:gd name="adj1" fmla="val 16200000"/>
              <a:gd name="adj2" fmla="val 5573239"/>
            </a:avLst>
          </a:prstGeom>
          <a:ln>
            <a:solidFill>
              <a:schemeClr val="bg2">
                <a:lumMod val="75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13D7527C-0B85-47D6-ADD7-5531E792C391}"/>
              </a:ext>
            </a:extLst>
          </p:cNvPr>
          <p:cNvSpPr/>
          <p:nvPr/>
        </p:nvSpPr>
        <p:spPr>
          <a:xfrm flipH="1">
            <a:off x="2127434" y="3568927"/>
            <a:ext cx="1916860" cy="1916860"/>
          </a:xfrm>
          <a:prstGeom prst="arc">
            <a:avLst>
              <a:gd name="adj1" fmla="val 16200000"/>
              <a:gd name="adj2" fmla="val 5573239"/>
            </a:avLst>
          </a:prstGeom>
          <a:ln>
            <a:solidFill>
              <a:schemeClr val="bg2">
                <a:lumMod val="75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49A4DFE-0FA2-409C-A97C-D15C9DB3DA3C}"/>
              </a:ext>
            </a:extLst>
          </p:cNvPr>
          <p:cNvSpPr txBox="1"/>
          <p:nvPr/>
        </p:nvSpPr>
        <p:spPr>
          <a:xfrm>
            <a:off x="431794" y="1148246"/>
            <a:ext cx="1498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spc="300" dirty="0">
                <a:latin typeface="Open Sans" pitchFamily="2" charset="0"/>
                <a:ea typeface="Open Sans" pitchFamily="2" charset="0"/>
                <a:cs typeface="Open Sans" pitchFamily="2" charset="0"/>
              </a:rPr>
              <a:t>START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CB6D47E-D40B-4EBC-A593-DC12FE08539B}"/>
              </a:ext>
            </a:extLst>
          </p:cNvPr>
          <p:cNvSpPr txBox="1"/>
          <p:nvPr/>
        </p:nvSpPr>
        <p:spPr>
          <a:xfrm>
            <a:off x="10354095" y="5224177"/>
            <a:ext cx="1498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spc="300" dirty="0">
                <a:latin typeface="Open Sans" pitchFamily="2" charset="0"/>
                <a:ea typeface="Open Sans" pitchFamily="2" charset="0"/>
                <a:cs typeface="Open Sans" pitchFamily="2" charset="0"/>
              </a:rPr>
              <a:t>GOAL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E9D3051-8278-4ECC-A8F5-D1ADF2AED4D8}"/>
              </a:ext>
            </a:extLst>
          </p:cNvPr>
          <p:cNvGrpSpPr/>
          <p:nvPr/>
        </p:nvGrpSpPr>
        <p:grpSpPr>
          <a:xfrm>
            <a:off x="3730299" y="4447203"/>
            <a:ext cx="2932831" cy="1814512"/>
            <a:chOff x="3730299" y="4447203"/>
            <a:chExt cx="2932831" cy="1814512"/>
          </a:xfrm>
        </p:grpSpPr>
        <p:sp>
          <p:nvSpPr>
            <p:cNvPr id="29" name="Rectangle: Top Corners Rounded 28">
              <a:extLst>
                <a:ext uri="{FF2B5EF4-FFF2-40B4-BE49-F238E27FC236}">
                  <a16:creationId xmlns:a16="http://schemas.microsoft.com/office/drawing/2014/main" id="{BA3848B9-2327-4C5C-9A17-CAE72FFBE809}"/>
                </a:ext>
              </a:extLst>
            </p:cNvPr>
            <p:cNvSpPr/>
            <p:nvPr/>
          </p:nvSpPr>
          <p:spPr>
            <a:xfrm rot="10800000">
              <a:off x="3730299" y="4447203"/>
              <a:ext cx="1209675" cy="1814512"/>
            </a:xfrm>
            <a:prstGeom prst="round2SameRect">
              <a:avLst>
                <a:gd name="adj1" fmla="val 22966"/>
                <a:gd name="adj2" fmla="val 0"/>
              </a:avLst>
            </a:prstGeom>
            <a:solidFill>
              <a:srgbClr val="FECB00"/>
            </a:solidFill>
            <a:ln>
              <a:noFill/>
            </a:ln>
            <a:effectLst>
              <a:outerShdw blurRad="228600" dist="381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988090B-AB84-458D-825C-1A7A129058AC}"/>
                </a:ext>
              </a:extLst>
            </p:cNvPr>
            <p:cNvGrpSpPr/>
            <p:nvPr/>
          </p:nvGrpSpPr>
          <p:grpSpPr>
            <a:xfrm>
              <a:off x="3785384" y="4522043"/>
              <a:ext cx="2877746" cy="1652122"/>
              <a:chOff x="3785384" y="4522043"/>
              <a:chExt cx="2877746" cy="1652122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57EB55B-1AB6-438C-90B4-E4F172C4BD23}"/>
                  </a:ext>
                </a:extLst>
              </p:cNvPr>
              <p:cNvSpPr txBox="1"/>
              <p:nvPr/>
            </p:nvSpPr>
            <p:spPr>
              <a:xfrm>
                <a:off x="3785384" y="4522043"/>
                <a:ext cx="1099504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pc="300" dirty="0">
                    <a:solidFill>
                      <a:schemeClr val="bg1"/>
                    </a:solidFill>
                    <a:effectLst>
                      <a:outerShdw blurRad="177800" dist="38100" dir="2700000" algn="tl" rotWithShape="0">
                        <a:prstClr val="black">
                          <a:alpha val="58000"/>
                        </a:prstClr>
                      </a:outerShdw>
                    </a:effectLst>
                    <a:latin typeface="Pangram" panose="00000500000000000000" pitchFamily="50" charset="0"/>
                  </a:rPr>
                  <a:t>STEP</a:t>
                </a:r>
              </a:p>
              <a:p>
                <a:pPr algn="ctr"/>
                <a:r>
                  <a:rPr lang="en-IN" sz="6000" spc="300" dirty="0">
                    <a:solidFill>
                      <a:schemeClr val="bg1"/>
                    </a:solidFill>
                    <a:effectLst>
                      <a:outerShdw blurRad="177800" dist="38100" dir="2700000" algn="tl" rotWithShape="0">
                        <a:prstClr val="black">
                          <a:alpha val="58000"/>
                        </a:prstClr>
                      </a:outerShdw>
                    </a:effectLst>
                    <a:latin typeface="Product Sans" panose="020B0703030502040203" pitchFamily="34" charset="0"/>
                  </a:rPr>
                  <a:t>5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4A26FAC-46D1-4F0C-A1D7-DB33AD2BD3CB}"/>
                  </a:ext>
                </a:extLst>
              </p:cNvPr>
              <p:cNvSpPr txBox="1"/>
              <p:nvPr/>
            </p:nvSpPr>
            <p:spPr>
              <a:xfrm>
                <a:off x="4995060" y="4631177"/>
                <a:ext cx="1668070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Claim Verification</a:t>
                </a:r>
                <a:br>
                  <a:rPr lang="en-IN" sz="1600" dirty="0"/>
                </a:br>
                <a:r>
                  <a:rPr lang="en-US" sz="1200" dirty="0"/>
                  <a:t>The detected claims are verified using external fact-checking APIs to ensure credibility.</a:t>
                </a:r>
                <a:endParaRPr lang="en-IN" sz="1200" dirty="0">
                  <a:latin typeface="Economica" panose="02000506040000020004" pitchFamily="2" charset="0"/>
                </a:endParaRPr>
              </a:p>
            </p:txBody>
          </p:sp>
          <p:pic>
            <p:nvPicPr>
              <p:cNvPr id="62" name="Graphic 61" descr="Bar graph with upward trend">
                <a:extLst>
                  <a:ext uri="{FF2B5EF4-FFF2-40B4-BE49-F238E27FC236}">
                    <a16:creationId xmlns:a16="http://schemas.microsoft.com/office/drawing/2014/main" id="{17B39E13-0DBB-4A7E-B418-8F9FEE5642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039161" y="5676101"/>
                <a:ext cx="498064" cy="498064"/>
              </a:xfrm>
              <a:prstGeom prst="rect">
                <a:avLst/>
              </a:prstGeom>
              <a:effectLst>
                <a:outerShdw blurRad="101600" dist="76200" dir="2700000" algn="tl" rotWithShape="0">
                  <a:prstClr val="black">
                    <a:alpha val="64000"/>
                  </a:prstClr>
                </a:outerShdw>
              </a:effectLst>
            </p:spPr>
          </p:pic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008F38-151F-4C00-8186-352985F7DEBB}"/>
              </a:ext>
            </a:extLst>
          </p:cNvPr>
          <p:cNvGrpSpPr/>
          <p:nvPr/>
        </p:nvGrpSpPr>
        <p:grpSpPr>
          <a:xfrm>
            <a:off x="6968797" y="4447203"/>
            <a:ext cx="2955460" cy="1814512"/>
            <a:chOff x="6968797" y="4447203"/>
            <a:chExt cx="2955460" cy="1814512"/>
          </a:xfrm>
        </p:grpSpPr>
        <p:sp>
          <p:nvSpPr>
            <p:cNvPr id="31" name="Rectangle: Top Corners Rounded 30">
              <a:extLst>
                <a:ext uri="{FF2B5EF4-FFF2-40B4-BE49-F238E27FC236}">
                  <a16:creationId xmlns:a16="http://schemas.microsoft.com/office/drawing/2014/main" id="{FEC6A14F-2CC2-4FE3-BA30-0AEBDD0E59B5}"/>
                </a:ext>
              </a:extLst>
            </p:cNvPr>
            <p:cNvSpPr/>
            <p:nvPr/>
          </p:nvSpPr>
          <p:spPr>
            <a:xfrm rot="10800000">
              <a:off x="6968797" y="4447203"/>
              <a:ext cx="1209675" cy="1814512"/>
            </a:xfrm>
            <a:prstGeom prst="round2SameRect">
              <a:avLst>
                <a:gd name="adj1" fmla="val 22966"/>
                <a:gd name="adj2" fmla="val 0"/>
              </a:avLst>
            </a:prstGeom>
            <a:solidFill>
              <a:srgbClr val="FF1262"/>
            </a:solidFill>
            <a:ln>
              <a:noFill/>
            </a:ln>
            <a:effectLst>
              <a:outerShdw blurRad="228600" dist="381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A0D0894-4556-4630-B3BC-222B894C2013}"/>
                </a:ext>
              </a:extLst>
            </p:cNvPr>
            <p:cNvGrpSpPr/>
            <p:nvPr/>
          </p:nvGrpSpPr>
          <p:grpSpPr>
            <a:xfrm>
              <a:off x="7023882" y="4479093"/>
              <a:ext cx="2900375" cy="1666209"/>
              <a:chOff x="7023882" y="4479093"/>
              <a:chExt cx="2900375" cy="1666209"/>
            </a:xfrm>
          </p:grpSpPr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91546CB-D96C-47D7-A5D2-B7E6994A6C30}"/>
                  </a:ext>
                </a:extLst>
              </p:cNvPr>
              <p:cNvSpPr txBox="1"/>
              <p:nvPr/>
            </p:nvSpPr>
            <p:spPr>
              <a:xfrm>
                <a:off x="7023882" y="4479093"/>
                <a:ext cx="1099504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pc="300" dirty="0">
                    <a:solidFill>
                      <a:schemeClr val="bg1"/>
                    </a:solidFill>
                    <a:effectLst>
                      <a:outerShdw blurRad="177800" dist="38100" dir="2700000" algn="tl" rotWithShape="0">
                        <a:prstClr val="black">
                          <a:alpha val="58000"/>
                        </a:prstClr>
                      </a:outerShdw>
                    </a:effectLst>
                    <a:latin typeface="Pangram" panose="00000500000000000000" pitchFamily="50" charset="0"/>
                  </a:rPr>
                  <a:t>STEP</a:t>
                </a:r>
              </a:p>
              <a:p>
                <a:pPr algn="ctr"/>
                <a:r>
                  <a:rPr lang="en-IN" sz="6000" spc="300" dirty="0">
                    <a:solidFill>
                      <a:schemeClr val="bg1"/>
                    </a:solidFill>
                    <a:effectLst>
                      <a:outerShdw blurRad="177800" dist="38100" dir="2700000" algn="tl" rotWithShape="0">
                        <a:prstClr val="black">
                          <a:alpha val="58000"/>
                        </a:prstClr>
                      </a:outerShdw>
                    </a:effectLst>
                    <a:latin typeface="Product Sans" panose="020B0703030502040203" pitchFamily="34" charset="0"/>
                  </a:rPr>
                  <a:t>6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256C0C2-5A75-459F-824A-1A689B5E14F0}"/>
                  </a:ext>
                </a:extLst>
              </p:cNvPr>
              <p:cNvSpPr txBox="1"/>
              <p:nvPr/>
            </p:nvSpPr>
            <p:spPr>
              <a:xfrm>
                <a:off x="8233558" y="4586815"/>
                <a:ext cx="1690699" cy="12618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Result Generation</a:t>
                </a:r>
                <a:br>
                  <a:rPr lang="en-IN" sz="1600" dirty="0"/>
                </a:br>
                <a:r>
                  <a:rPr lang="en-US" sz="1200" dirty="0"/>
                  <a:t>Provide users with accurate, fast, and trustworthy verification results to reduce misinformation.</a:t>
                </a:r>
                <a:r>
                  <a:rPr lang="en-IN" sz="1200" dirty="0">
                    <a:latin typeface="Economica" panose="02000506040000020004" pitchFamily="2" charset="0"/>
                  </a:rPr>
                  <a:t>.</a:t>
                </a:r>
              </a:p>
            </p:txBody>
          </p:sp>
          <p:pic>
            <p:nvPicPr>
              <p:cNvPr id="63" name="Graphic 62" descr="Bullseye">
                <a:extLst>
                  <a:ext uri="{FF2B5EF4-FFF2-40B4-BE49-F238E27FC236}">
                    <a16:creationId xmlns:a16="http://schemas.microsoft.com/office/drawing/2014/main" id="{4FFCEE89-C2B1-4D35-AE98-DA796C8D2D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309168" y="5647238"/>
                <a:ext cx="498064" cy="498064"/>
              </a:xfrm>
              <a:prstGeom prst="rect">
                <a:avLst/>
              </a:prstGeom>
              <a:effectLst>
                <a:outerShdw blurRad="101600" dist="76200" dir="2700000" algn="tl" rotWithShape="0">
                  <a:prstClr val="black">
                    <a:alpha val="64000"/>
                  </a:prstClr>
                </a:outerShdw>
              </a:effectLst>
            </p:spPr>
          </p:pic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158A2DE-E3A7-49A7-BE38-9F6BF42ED308}"/>
              </a:ext>
            </a:extLst>
          </p:cNvPr>
          <p:cNvGrpSpPr/>
          <p:nvPr/>
        </p:nvGrpSpPr>
        <p:grpSpPr>
          <a:xfrm>
            <a:off x="6096000" y="452438"/>
            <a:ext cx="2895600" cy="1814512"/>
            <a:chOff x="6096000" y="452438"/>
            <a:chExt cx="2895600" cy="1814512"/>
          </a:xfrm>
        </p:grpSpPr>
        <p:sp>
          <p:nvSpPr>
            <p:cNvPr id="23" name="Rectangle: Top Corners Rounded 22">
              <a:extLst>
                <a:ext uri="{FF2B5EF4-FFF2-40B4-BE49-F238E27FC236}">
                  <a16:creationId xmlns:a16="http://schemas.microsoft.com/office/drawing/2014/main" id="{E7DFCA49-045E-4EBA-A38C-8A025B56D9E5}"/>
                </a:ext>
              </a:extLst>
            </p:cNvPr>
            <p:cNvSpPr/>
            <p:nvPr/>
          </p:nvSpPr>
          <p:spPr>
            <a:xfrm rot="10800000">
              <a:off x="6096000" y="452438"/>
              <a:ext cx="1209675" cy="1814512"/>
            </a:xfrm>
            <a:prstGeom prst="round2SameRect">
              <a:avLst>
                <a:gd name="adj1" fmla="val 22966"/>
                <a:gd name="adj2" fmla="val 0"/>
              </a:avLst>
            </a:prstGeom>
            <a:solidFill>
              <a:srgbClr val="4497BF"/>
            </a:solidFill>
            <a:ln>
              <a:noFill/>
            </a:ln>
            <a:effectLst>
              <a:outerShdw blurRad="228600" dist="381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C340463-8D96-4ECF-A783-714186DF75EC}"/>
                </a:ext>
              </a:extLst>
            </p:cNvPr>
            <p:cNvGrpSpPr/>
            <p:nvPr/>
          </p:nvGrpSpPr>
          <p:grpSpPr>
            <a:xfrm>
              <a:off x="6149502" y="500575"/>
              <a:ext cx="2842098" cy="1666209"/>
              <a:chOff x="6149502" y="500575"/>
              <a:chExt cx="2842098" cy="1666209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D62BB66-FDF4-4C13-AC21-200EECBB753F}"/>
                  </a:ext>
                </a:extLst>
              </p:cNvPr>
              <p:cNvSpPr txBox="1"/>
              <p:nvPr/>
            </p:nvSpPr>
            <p:spPr>
              <a:xfrm>
                <a:off x="6149502" y="500575"/>
                <a:ext cx="1099504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pc="300" dirty="0">
                    <a:solidFill>
                      <a:schemeClr val="bg1"/>
                    </a:solidFill>
                    <a:effectLst>
                      <a:outerShdw blurRad="177800" dist="38100" dir="2700000" algn="tl" rotWithShape="0">
                        <a:prstClr val="black">
                          <a:alpha val="58000"/>
                        </a:prstClr>
                      </a:outerShdw>
                    </a:effectLst>
                    <a:latin typeface="Pangram" panose="00000500000000000000" pitchFamily="50" charset="0"/>
                  </a:rPr>
                  <a:t>STEP</a:t>
                </a:r>
              </a:p>
              <a:p>
                <a:pPr algn="ctr"/>
                <a:r>
                  <a:rPr lang="en-IN" sz="6000" spc="300" dirty="0">
                    <a:solidFill>
                      <a:schemeClr val="bg1"/>
                    </a:solidFill>
                    <a:effectLst>
                      <a:outerShdw blurRad="177800" dist="38100" dir="2700000" algn="tl" rotWithShape="0">
                        <a:prstClr val="black">
                          <a:alpha val="58000"/>
                        </a:prstClr>
                      </a:outerShdw>
                    </a:effectLst>
                    <a:latin typeface="Product Sans" panose="020B0703030502040203" pitchFamily="34" charset="0"/>
                  </a:rPr>
                  <a:t>2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EC24127-ED21-4C59-923C-E3C52468BCAC}"/>
                  </a:ext>
                </a:extLst>
              </p:cNvPr>
              <p:cNvSpPr txBox="1"/>
              <p:nvPr/>
            </p:nvSpPr>
            <p:spPr>
              <a:xfrm>
                <a:off x="7309168" y="644065"/>
                <a:ext cx="1682432" cy="15081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Text Preprocessing</a:t>
                </a:r>
                <a:br>
                  <a:rPr lang="en-IN" sz="1200" dirty="0">
                    <a:latin typeface="Economica" panose="02000506040000020004" pitchFamily="2" charset="0"/>
                  </a:rPr>
                </a:br>
                <a:r>
                  <a:rPr lang="en-US" sz="1200" dirty="0"/>
                  <a:t>The input text is cleaned by removing noise, </a:t>
                </a:r>
                <a:r>
                  <a:rPr lang="en-US" sz="1200" dirty="0" err="1"/>
                  <a:t>stopwords</a:t>
                </a:r>
                <a:r>
                  <a:rPr lang="en-US" sz="1200" dirty="0"/>
                  <a:t>, and irrelevant characters using NLP techniques.</a:t>
                </a:r>
                <a:endParaRPr lang="en-IN" sz="1200" dirty="0">
                  <a:latin typeface="Economica" panose="02000506040000020004" pitchFamily="2" charset="0"/>
                </a:endParaRPr>
              </a:p>
            </p:txBody>
          </p:sp>
          <p:pic>
            <p:nvPicPr>
              <p:cNvPr id="64" name="Graphic 63" descr="Single gear">
                <a:extLst>
                  <a:ext uri="{FF2B5EF4-FFF2-40B4-BE49-F238E27FC236}">
                    <a16:creationId xmlns:a16="http://schemas.microsoft.com/office/drawing/2014/main" id="{6DD71728-1B30-4877-82B8-E851E2CC59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450222" y="1668720"/>
                <a:ext cx="498064" cy="498064"/>
              </a:xfrm>
              <a:prstGeom prst="rect">
                <a:avLst/>
              </a:prstGeom>
              <a:effectLst>
                <a:outerShdw blurRad="101600" dist="76200" dir="2700000" algn="tl" rotWithShape="0">
                  <a:prstClr val="black">
                    <a:alpha val="64000"/>
                  </a:prstClr>
                </a:outerShdw>
              </a:effectLst>
            </p:spPr>
          </p:pic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D4FB22B-E23B-4876-B42C-88B83C6551CE}"/>
              </a:ext>
            </a:extLst>
          </p:cNvPr>
          <p:cNvGrpSpPr/>
          <p:nvPr/>
        </p:nvGrpSpPr>
        <p:grpSpPr>
          <a:xfrm>
            <a:off x="6100185" y="2439579"/>
            <a:ext cx="2962336" cy="1814512"/>
            <a:chOff x="6100185" y="2439579"/>
            <a:chExt cx="2792992" cy="1814512"/>
          </a:xfrm>
        </p:grpSpPr>
        <p:sp>
          <p:nvSpPr>
            <p:cNvPr id="25" name="Rectangle: Top Corners Rounded 24">
              <a:extLst>
                <a:ext uri="{FF2B5EF4-FFF2-40B4-BE49-F238E27FC236}">
                  <a16:creationId xmlns:a16="http://schemas.microsoft.com/office/drawing/2014/main" id="{CCA78647-C166-476F-A1FD-0EE29644D1B7}"/>
                </a:ext>
              </a:extLst>
            </p:cNvPr>
            <p:cNvSpPr/>
            <p:nvPr/>
          </p:nvSpPr>
          <p:spPr>
            <a:xfrm rot="10800000">
              <a:off x="7683502" y="2439579"/>
              <a:ext cx="1209675" cy="1814512"/>
            </a:xfrm>
            <a:prstGeom prst="round2SameRect">
              <a:avLst>
                <a:gd name="adj1" fmla="val 22966"/>
                <a:gd name="adj2" fmla="val 0"/>
              </a:avLst>
            </a:prstGeom>
            <a:solidFill>
              <a:srgbClr val="01DBCA"/>
            </a:solidFill>
            <a:ln>
              <a:noFill/>
            </a:ln>
            <a:effectLst>
              <a:outerShdw blurRad="228600" dist="381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26C2BFD-5217-4986-AE1E-B31447735091}"/>
                </a:ext>
              </a:extLst>
            </p:cNvPr>
            <p:cNvGrpSpPr/>
            <p:nvPr/>
          </p:nvGrpSpPr>
          <p:grpSpPr>
            <a:xfrm>
              <a:off x="6100185" y="2501660"/>
              <a:ext cx="2737906" cy="1644066"/>
              <a:chOff x="6100185" y="2501660"/>
              <a:chExt cx="2737906" cy="1644066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582131C-D7C2-4F14-829A-177729947A0F}"/>
                  </a:ext>
                </a:extLst>
              </p:cNvPr>
              <p:cNvSpPr txBox="1"/>
              <p:nvPr/>
            </p:nvSpPr>
            <p:spPr>
              <a:xfrm>
                <a:off x="7738587" y="2501660"/>
                <a:ext cx="1099504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pc="300" dirty="0">
                    <a:solidFill>
                      <a:schemeClr val="bg1"/>
                    </a:solidFill>
                    <a:effectLst>
                      <a:outerShdw blurRad="177800" dist="38100" dir="2700000" algn="tl" rotWithShape="0">
                        <a:prstClr val="black">
                          <a:alpha val="58000"/>
                        </a:prstClr>
                      </a:outerShdw>
                    </a:effectLst>
                    <a:latin typeface="Pangram" panose="00000500000000000000" pitchFamily="50" charset="0"/>
                  </a:rPr>
                  <a:t>STEP</a:t>
                </a:r>
              </a:p>
              <a:p>
                <a:pPr algn="ctr"/>
                <a:r>
                  <a:rPr lang="en-IN" sz="6000" spc="300" dirty="0">
                    <a:solidFill>
                      <a:schemeClr val="bg1"/>
                    </a:solidFill>
                    <a:effectLst>
                      <a:outerShdw blurRad="177800" dist="38100" dir="2700000" algn="tl" rotWithShape="0">
                        <a:prstClr val="black">
                          <a:alpha val="58000"/>
                        </a:prstClr>
                      </a:outerShdw>
                    </a:effectLst>
                    <a:latin typeface="Product Sans" panose="020B0703030502040203" pitchFamily="34" charset="0"/>
                  </a:rPr>
                  <a:t>3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A3A9D9D-E526-40E9-9022-793CBD595943}"/>
                  </a:ext>
                </a:extLst>
              </p:cNvPr>
              <p:cNvSpPr txBox="1"/>
              <p:nvPr/>
            </p:nvSpPr>
            <p:spPr>
              <a:xfrm>
                <a:off x="6100185" y="2637621"/>
                <a:ext cx="1583316" cy="15081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Fake News Classification</a:t>
                </a:r>
                <a:br>
                  <a:rPr lang="en-IN" sz="1600" dirty="0"/>
                </a:br>
                <a:r>
                  <a:rPr lang="en-US" sz="1200" dirty="0"/>
                  <a:t>Machine learning models classify the news as Real, Fake, or Suspicious based on extracted features.</a:t>
                </a:r>
                <a:endParaRPr lang="en-IN" sz="1200" dirty="0">
                  <a:latin typeface="Economica" panose="02000506040000020004" pitchFamily="2" charset="0"/>
                </a:endParaRPr>
              </a:p>
            </p:txBody>
          </p:sp>
          <p:pic>
            <p:nvPicPr>
              <p:cNvPr id="65" name="Graphic 64" descr="Magnifying glass">
                <a:extLst>
                  <a:ext uri="{FF2B5EF4-FFF2-40B4-BE49-F238E27FC236}">
                    <a16:creationId xmlns:a16="http://schemas.microsoft.com/office/drawing/2014/main" id="{A7A15E81-1558-4D79-8AB7-9E4A0B99A4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8039307" y="3645671"/>
                <a:ext cx="498064" cy="498064"/>
              </a:xfrm>
              <a:prstGeom prst="rect">
                <a:avLst/>
              </a:prstGeom>
              <a:effectLst>
                <a:outerShdw blurRad="101600" dist="76200" dir="2700000" algn="tl" rotWithShape="0">
                  <a:prstClr val="black">
                    <a:alpha val="64000"/>
                  </a:prstClr>
                </a:outerShdw>
              </a:effectLst>
            </p:spPr>
          </p:pic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9490F88-78FF-4DD4-BF17-B7B85C8EB478}"/>
              </a:ext>
            </a:extLst>
          </p:cNvPr>
          <p:cNvGrpSpPr/>
          <p:nvPr/>
        </p:nvGrpSpPr>
        <p:grpSpPr>
          <a:xfrm>
            <a:off x="2505074" y="452438"/>
            <a:ext cx="2849057" cy="1814512"/>
            <a:chOff x="2505074" y="452438"/>
            <a:chExt cx="2849057" cy="1814512"/>
          </a:xfrm>
        </p:grpSpPr>
        <p:sp>
          <p:nvSpPr>
            <p:cNvPr id="20" name="Rectangle: Top Corners Rounded 19">
              <a:extLst>
                <a:ext uri="{FF2B5EF4-FFF2-40B4-BE49-F238E27FC236}">
                  <a16:creationId xmlns:a16="http://schemas.microsoft.com/office/drawing/2014/main" id="{6EB20A42-9DF5-4657-AF64-3ED17D08A968}"/>
                </a:ext>
              </a:extLst>
            </p:cNvPr>
            <p:cNvSpPr/>
            <p:nvPr/>
          </p:nvSpPr>
          <p:spPr>
            <a:xfrm rot="10800000">
              <a:off x="2505074" y="452438"/>
              <a:ext cx="1209675" cy="1814512"/>
            </a:xfrm>
            <a:prstGeom prst="round2SameRect">
              <a:avLst>
                <a:gd name="adj1" fmla="val 22966"/>
                <a:gd name="adj2" fmla="val 0"/>
              </a:avLst>
            </a:prstGeom>
            <a:solidFill>
              <a:srgbClr val="5A6869"/>
            </a:solidFill>
            <a:ln>
              <a:noFill/>
            </a:ln>
            <a:effectLst>
              <a:outerShdw blurRad="228600" dist="381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C6DC0A4-CE12-44CB-966D-0628AC41BF07}"/>
                </a:ext>
              </a:extLst>
            </p:cNvPr>
            <p:cNvGrpSpPr/>
            <p:nvPr/>
          </p:nvGrpSpPr>
          <p:grpSpPr>
            <a:xfrm>
              <a:off x="2558199" y="589082"/>
              <a:ext cx="2795932" cy="1629055"/>
              <a:chOff x="2558199" y="589082"/>
              <a:chExt cx="2795932" cy="1629055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9C122D6-B541-43AB-BDA0-5DA1D7093648}"/>
                  </a:ext>
                </a:extLst>
              </p:cNvPr>
              <p:cNvSpPr txBox="1"/>
              <p:nvPr/>
            </p:nvSpPr>
            <p:spPr>
              <a:xfrm>
                <a:off x="2558199" y="589082"/>
                <a:ext cx="1099504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pc="300" dirty="0">
                    <a:solidFill>
                      <a:schemeClr val="bg1"/>
                    </a:solidFill>
                    <a:effectLst>
                      <a:outerShdw blurRad="177800" dist="38100" dir="2700000" algn="tl" rotWithShape="0">
                        <a:prstClr val="black">
                          <a:alpha val="58000"/>
                        </a:prstClr>
                      </a:outerShdw>
                    </a:effectLst>
                    <a:latin typeface="Pangram" panose="00000500000000000000" pitchFamily="50" charset="0"/>
                  </a:rPr>
                  <a:t>STEP</a:t>
                </a:r>
              </a:p>
              <a:p>
                <a:pPr algn="ctr"/>
                <a:r>
                  <a:rPr lang="en-IN" sz="6000" spc="300" dirty="0">
                    <a:solidFill>
                      <a:schemeClr val="bg1"/>
                    </a:solidFill>
                    <a:effectLst>
                      <a:outerShdw blurRad="177800" dist="38100" dir="2700000" algn="tl" rotWithShape="0">
                        <a:prstClr val="black">
                          <a:alpha val="58000"/>
                        </a:prstClr>
                      </a:outerShdw>
                    </a:effectLst>
                    <a:latin typeface="Product Sans" panose="020B0703030502040203" pitchFamily="34" charset="0"/>
                  </a:rPr>
                  <a:t>1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E5AD876-D1F8-46BC-92C8-ABDB88309514}"/>
                  </a:ext>
                </a:extLst>
              </p:cNvPr>
              <p:cNvSpPr txBox="1"/>
              <p:nvPr/>
            </p:nvSpPr>
            <p:spPr>
              <a:xfrm>
                <a:off x="3730298" y="639275"/>
                <a:ext cx="1623833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dirty="0"/>
                  <a:t>Data Collection</a:t>
                </a:r>
                <a:endParaRPr lang="en-IN" spc="300" dirty="0">
                  <a:latin typeface="Product Sans" panose="020B0703030502040203" pitchFamily="34" charset="0"/>
                </a:endParaRPr>
              </a:p>
              <a:p>
                <a:pPr algn="ctr"/>
                <a:r>
                  <a:rPr lang="en-IN" sz="1200" dirty="0"/>
                  <a:t>News Input Acquisition</a:t>
                </a:r>
              </a:p>
              <a:p>
                <a:pPr algn="ctr"/>
                <a:r>
                  <a:rPr lang="en-US" sz="1200" dirty="0"/>
                  <a:t>The system accepts news text or URLs provided by the user for further analysis.</a:t>
                </a:r>
                <a:endParaRPr lang="en-IN" sz="1200" dirty="0">
                  <a:latin typeface="Economica" panose="02000506040000020004" pitchFamily="2" charset="0"/>
                </a:endParaRPr>
              </a:p>
            </p:txBody>
          </p:sp>
          <p:pic>
            <p:nvPicPr>
              <p:cNvPr id="66" name="Graphic 65" descr="Lightbulb">
                <a:extLst>
                  <a:ext uri="{FF2B5EF4-FFF2-40B4-BE49-F238E27FC236}">
                    <a16:creationId xmlns:a16="http://schemas.microsoft.com/office/drawing/2014/main" id="{C61437E9-4E65-4BBA-A376-2B308CFC59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2858919" y="1720073"/>
                <a:ext cx="498064" cy="498064"/>
              </a:xfrm>
              <a:prstGeom prst="rect">
                <a:avLst/>
              </a:prstGeom>
              <a:effectLst>
                <a:outerShdw blurRad="101600" dist="76200" dir="2700000" algn="tl" rotWithShape="0">
                  <a:prstClr val="black">
                    <a:alpha val="64000"/>
                  </a:prstClr>
                </a:outerShdw>
              </a:effectLst>
            </p:spPr>
          </p:pic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67170F-14B3-43B0-9F72-C7AB1C4F13D7}"/>
              </a:ext>
            </a:extLst>
          </p:cNvPr>
          <p:cNvGrpSpPr/>
          <p:nvPr/>
        </p:nvGrpSpPr>
        <p:grpSpPr>
          <a:xfrm>
            <a:off x="2878972" y="2439579"/>
            <a:ext cx="3017004" cy="1814512"/>
            <a:chOff x="3153182" y="2439579"/>
            <a:chExt cx="2742795" cy="1814512"/>
          </a:xfrm>
        </p:grpSpPr>
        <p:sp>
          <p:nvSpPr>
            <p:cNvPr id="27" name="Rectangle: Top Corners Rounded 26">
              <a:extLst>
                <a:ext uri="{FF2B5EF4-FFF2-40B4-BE49-F238E27FC236}">
                  <a16:creationId xmlns:a16="http://schemas.microsoft.com/office/drawing/2014/main" id="{6FE8DAFF-023A-487E-9AB3-D55DBA2E5CA0}"/>
                </a:ext>
              </a:extLst>
            </p:cNvPr>
            <p:cNvSpPr/>
            <p:nvPr/>
          </p:nvSpPr>
          <p:spPr>
            <a:xfrm rot="10800000">
              <a:off x="4686302" y="2439579"/>
              <a:ext cx="1209675" cy="1814512"/>
            </a:xfrm>
            <a:prstGeom prst="round2SameRect">
              <a:avLst>
                <a:gd name="adj1" fmla="val 22966"/>
                <a:gd name="adj2" fmla="val 0"/>
              </a:avLst>
            </a:prstGeom>
            <a:solidFill>
              <a:srgbClr val="96E100"/>
            </a:solidFill>
            <a:ln>
              <a:noFill/>
            </a:ln>
            <a:effectLst>
              <a:outerShdw blurRad="228600" dist="381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88CBFE9-97A2-4939-BECF-15C223D6DC73}"/>
                </a:ext>
              </a:extLst>
            </p:cNvPr>
            <p:cNvGrpSpPr/>
            <p:nvPr/>
          </p:nvGrpSpPr>
          <p:grpSpPr>
            <a:xfrm>
              <a:off x="3153182" y="2508199"/>
              <a:ext cx="2694894" cy="1632136"/>
              <a:chOff x="3153182" y="2508199"/>
              <a:chExt cx="2694894" cy="1632136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FCD384F-45D0-48CF-B8B3-B50154041C2E}"/>
                  </a:ext>
                </a:extLst>
              </p:cNvPr>
              <p:cNvSpPr txBox="1"/>
              <p:nvPr/>
            </p:nvSpPr>
            <p:spPr>
              <a:xfrm>
                <a:off x="4748572" y="2508199"/>
                <a:ext cx="1099504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pc="300" dirty="0">
                    <a:solidFill>
                      <a:schemeClr val="bg1"/>
                    </a:solidFill>
                    <a:effectLst>
                      <a:outerShdw blurRad="177800" dist="38100" dir="2700000" algn="tl" rotWithShape="0">
                        <a:prstClr val="black">
                          <a:alpha val="58000"/>
                        </a:prstClr>
                      </a:outerShdw>
                    </a:effectLst>
                    <a:latin typeface="Pangram" panose="00000500000000000000" pitchFamily="50" charset="0"/>
                  </a:rPr>
                  <a:t>STEP</a:t>
                </a:r>
              </a:p>
              <a:p>
                <a:pPr algn="ctr"/>
                <a:r>
                  <a:rPr lang="en-IN" sz="6000" spc="300" dirty="0">
                    <a:solidFill>
                      <a:schemeClr val="bg1"/>
                    </a:solidFill>
                    <a:effectLst>
                      <a:outerShdw blurRad="177800" dist="38100" dir="2700000" algn="tl" rotWithShape="0">
                        <a:prstClr val="black">
                          <a:alpha val="58000"/>
                        </a:prstClr>
                      </a:outerShdw>
                    </a:effectLst>
                    <a:latin typeface="Product Sans" panose="020B0703030502040203" pitchFamily="34" charset="0"/>
                  </a:rPr>
                  <a:t>4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800714D-07BA-41F8-BBF2-262402ECC6BA}"/>
                  </a:ext>
                </a:extLst>
              </p:cNvPr>
              <p:cNvSpPr txBox="1"/>
              <p:nvPr/>
            </p:nvSpPr>
            <p:spPr>
              <a:xfrm>
                <a:off x="3153182" y="2632230"/>
                <a:ext cx="1565720" cy="12618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Feature Extraction</a:t>
                </a:r>
                <a:endParaRPr lang="en-IN" sz="1600" spc="300" dirty="0">
                  <a:latin typeface="Product Sans" panose="020B0703030502040203" pitchFamily="34" charset="0"/>
                </a:endParaRPr>
              </a:p>
              <a:p>
                <a:pPr algn="ctr"/>
                <a:r>
                  <a:rPr lang="en-US" sz="1200" dirty="0"/>
                  <a:t>Important words, tokens, and named entities are extracted to understand the context of the news.</a:t>
                </a:r>
                <a:r>
                  <a:rPr lang="en-IN" sz="1200" dirty="0">
                    <a:latin typeface="Economica" panose="02000506040000020004" pitchFamily="2" charset="0"/>
                  </a:rPr>
                  <a:t>.</a:t>
                </a:r>
              </a:p>
            </p:txBody>
          </p:sp>
          <p:pic>
            <p:nvPicPr>
              <p:cNvPr id="67" name="Graphic 66" descr="Stopwatch">
                <a:extLst>
                  <a:ext uri="{FF2B5EF4-FFF2-40B4-BE49-F238E27FC236}">
                    <a16:creationId xmlns:a16="http://schemas.microsoft.com/office/drawing/2014/main" id="{7BD5A476-2827-489D-A3BE-1BC55C14A4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988659" y="3637415"/>
                <a:ext cx="502920" cy="502920"/>
              </a:xfrm>
              <a:prstGeom prst="rect">
                <a:avLst/>
              </a:prstGeom>
              <a:effectLst>
                <a:outerShdw blurRad="101600" dist="76200" dir="2700000" algn="tl" rotWithShape="0">
                  <a:prstClr val="black">
                    <a:alpha val="64000"/>
                  </a:prstClr>
                </a:outerShdw>
              </a:effectLst>
            </p:spPr>
          </p:pic>
        </p:grpSp>
      </p:grpSp>
    </p:spTree>
    <p:extLst>
      <p:ext uri="{BB962C8B-B14F-4D97-AF65-F5344CB8AC3E}">
        <p14:creationId xmlns:p14="http://schemas.microsoft.com/office/powerpoint/2010/main" val="1210158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5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0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9F366F0-A5E9-4EDE-B1CB-F7115DED7207}"/>
              </a:ext>
            </a:extLst>
          </p:cNvPr>
          <p:cNvCxnSpPr/>
          <p:nvPr/>
        </p:nvCxnSpPr>
        <p:spPr>
          <a:xfrm flipV="1">
            <a:off x="3352800" y="1146383"/>
            <a:ext cx="1181100" cy="228261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9F1C6A5-2A6B-4AF7-9A72-D13F3EA231C1}"/>
              </a:ext>
            </a:extLst>
          </p:cNvPr>
          <p:cNvCxnSpPr>
            <a:cxnSpLocks/>
          </p:cNvCxnSpPr>
          <p:nvPr/>
        </p:nvCxnSpPr>
        <p:spPr>
          <a:xfrm rot="1500000" flipV="1">
            <a:off x="3794655" y="1500739"/>
            <a:ext cx="1181100" cy="228261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395B9AF-86E0-47B9-BFC0-B30BF700F13D}"/>
              </a:ext>
            </a:extLst>
          </p:cNvPr>
          <p:cNvCxnSpPr>
            <a:cxnSpLocks/>
          </p:cNvCxnSpPr>
          <p:nvPr/>
        </p:nvCxnSpPr>
        <p:spPr>
          <a:xfrm rot="3000000" flipV="1">
            <a:off x="4079905" y="1986459"/>
            <a:ext cx="1181100" cy="228261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04FCD74-D5FF-4633-96B8-977E2FD79C0C}"/>
              </a:ext>
            </a:extLst>
          </p:cNvPr>
          <p:cNvCxnSpPr>
            <a:cxnSpLocks/>
          </p:cNvCxnSpPr>
          <p:nvPr/>
        </p:nvCxnSpPr>
        <p:spPr>
          <a:xfrm rot="4500000" flipV="1">
            <a:off x="4008967" y="2563107"/>
            <a:ext cx="1181100" cy="228261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AB8166C-8AB1-446E-9535-B7BE4A21D392}"/>
              </a:ext>
            </a:extLst>
          </p:cNvPr>
          <p:cNvCxnSpPr>
            <a:cxnSpLocks/>
          </p:cNvCxnSpPr>
          <p:nvPr/>
        </p:nvCxnSpPr>
        <p:spPr>
          <a:xfrm rot="6000000" flipV="1">
            <a:off x="3762059" y="3064503"/>
            <a:ext cx="1181100" cy="228261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31271C1-66B9-4E71-B75B-7E551BF724C9}"/>
              </a:ext>
            </a:extLst>
          </p:cNvPr>
          <p:cNvCxnSpPr>
            <a:cxnSpLocks/>
          </p:cNvCxnSpPr>
          <p:nvPr/>
        </p:nvCxnSpPr>
        <p:spPr>
          <a:xfrm rot="7500000" flipV="1">
            <a:off x="3361802" y="3438835"/>
            <a:ext cx="1181100" cy="228261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9761C896-8C21-4ED1-BB97-9CE7B8F7807A}"/>
              </a:ext>
            </a:extLst>
          </p:cNvPr>
          <p:cNvSpPr/>
          <p:nvPr/>
        </p:nvSpPr>
        <p:spPr>
          <a:xfrm>
            <a:off x="1734355" y="1810555"/>
            <a:ext cx="3236890" cy="323689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dist="1270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Partial Circle 36">
            <a:extLst>
              <a:ext uri="{FF2B5EF4-FFF2-40B4-BE49-F238E27FC236}">
                <a16:creationId xmlns:a16="http://schemas.microsoft.com/office/drawing/2014/main" id="{9CAE3C71-FD49-41D5-B6EA-CBAD23D6965C}"/>
              </a:ext>
            </a:extLst>
          </p:cNvPr>
          <p:cNvSpPr/>
          <p:nvPr/>
        </p:nvSpPr>
        <p:spPr>
          <a:xfrm rot="19555283">
            <a:off x="1744552" y="1813910"/>
            <a:ext cx="3230172" cy="3230172"/>
          </a:xfrm>
          <a:prstGeom prst="pie">
            <a:avLst>
              <a:gd name="adj1" fmla="val 533039"/>
              <a:gd name="adj2" fmla="val 2039325"/>
            </a:avLst>
          </a:prstGeom>
          <a:solidFill>
            <a:srgbClr val="BD25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Partial Circle 37">
            <a:extLst>
              <a:ext uri="{FF2B5EF4-FFF2-40B4-BE49-F238E27FC236}">
                <a16:creationId xmlns:a16="http://schemas.microsoft.com/office/drawing/2014/main" id="{E295E4FA-BAC9-4F12-A985-C42949E2D293}"/>
              </a:ext>
            </a:extLst>
          </p:cNvPr>
          <p:cNvSpPr/>
          <p:nvPr/>
        </p:nvSpPr>
        <p:spPr>
          <a:xfrm rot="18043804">
            <a:off x="1744552" y="1813908"/>
            <a:ext cx="3230172" cy="3230172"/>
          </a:xfrm>
          <a:prstGeom prst="pie">
            <a:avLst>
              <a:gd name="adj1" fmla="val 533039"/>
              <a:gd name="adj2" fmla="val 2039325"/>
            </a:avLst>
          </a:prstGeom>
          <a:solidFill>
            <a:srgbClr val="E7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Partial Circle 38">
            <a:extLst>
              <a:ext uri="{FF2B5EF4-FFF2-40B4-BE49-F238E27FC236}">
                <a16:creationId xmlns:a16="http://schemas.microsoft.com/office/drawing/2014/main" id="{37303FED-7F4E-4FF8-A128-0E9253D9BD70}"/>
              </a:ext>
            </a:extLst>
          </p:cNvPr>
          <p:cNvSpPr/>
          <p:nvPr/>
        </p:nvSpPr>
        <p:spPr>
          <a:xfrm rot="16545779">
            <a:off x="1742582" y="1804662"/>
            <a:ext cx="3230172" cy="3230172"/>
          </a:xfrm>
          <a:prstGeom prst="pie">
            <a:avLst>
              <a:gd name="adj1" fmla="val 533039"/>
              <a:gd name="adj2" fmla="val 2039325"/>
            </a:avLst>
          </a:prstGeom>
          <a:solidFill>
            <a:srgbClr val="FED4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Partial Circle 39">
            <a:extLst>
              <a:ext uri="{FF2B5EF4-FFF2-40B4-BE49-F238E27FC236}">
                <a16:creationId xmlns:a16="http://schemas.microsoft.com/office/drawing/2014/main" id="{42CEEFF0-FB42-4455-9D72-95B33BE199ED}"/>
              </a:ext>
            </a:extLst>
          </p:cNvPr>
          <p:cNvSpPr/>
          <p:nvPr/>
        </p:nvSpPr>
        <p:spPr>
          <a:xfrm rot="21045553">
            <a:off x="1744553" y="1813914"/>
            <a:ext cx="3230172" cy="3230172"/>
          </a:xfrm>
          <a:prstGeom prst="pie">
            <a:avLst>
              <a:gd name="adj1" fmla="val 533039"/>
              <a:gd name="adj2" fmla="val 2039325"/>
            </a:avLst>
          </a:prstGeom>
          <a:solidFill>
            <a:srgbClr val="593F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Partial Circle 40">
            <a:extLst>
              <a:ext uri="{FF2B5EF4-FFF2-40B4-BE49-F238E27FC236}">
                <a16:creationId xmlns:a16="http://schemas.microsoft.com/office/drawing/2014/main" id="{B3F14FA2-C024-46F5-9D40-8746FB62EA3E}"/>
              </a:ext>
            </a:extLst>
          </p:cNvPr>
          <p:cNvSpPr/>
          <p:nvPr/>
        </p:nvSpPr>
        <p:spPr>
          <a:xfrm rot="984140">
            <a:off x="1744555" y="1804662"/>
            <a:ext cx="3230172" cy="3230172"/>
          </a:xfrm>
          <a:prstGeom prst="pie">
            <a:avLst>
              <a:gd name="adj1" fmla="val 533039"/>
              <a:gd name="adj2" fmla="val 2039325"/>
            </a:avLst>
          </a:prstGeom>
          <a:solidFill>
            <a:srgbClr val="00A0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Partial Circle 41">
            <a:extLst>
              <a:ext uri="{FF2B5EF4-FFF2-40B4-BE49-F238E27FC236}">
                <a16:creationId xmlns:a16="http://schemas.microsoft.com/office/drawing/2014/main" id="{B05F4231-267C-4E8C-A052-DF77E9934B37}"/>
              </a:ext>
            </a:extLst>
          </p:cNvPr>
          <p:cNvSpPr/>
          <p:nvPr/>
        </p:nvSpPr>
        <p:spPr>
          <a:xfrm rot="2487498">
            <a:off x="1750411" y="1811012"/>
            <a:ext cx="3230172" cy="3230172"/>
          </a:xfrm>
          <a:prstGeom prst="pie">
            <a:avLst>
              <a:gd name="adj1" fmla="val 533039"/>
              <a:gd name="adj2" fmla="val 2039325"/>
            </a:avLst>
          </a:prstGeom>
          <a:solidFill>
            <a:srgbClr val="74B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C25BC93-0BD9-4D91-B885-6FAEF5AC44B5}"/>
              </a:ext>
            </a:extLst>
          </p:cNvPr>
          <p:cNvSpPr/>
          <p:nvPr/>
        </p:nvSpPr>
        <p:spPr>
          <a:xfrm>
            <a:off x="2349500" y="2425700"/>
            <a:ext cx="2006600" cy="20066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190500" dist="1270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5546733-B29D-4688-A34F-49A40200489B}"/>
              </a:ext>
            </a:extLst>
          </p:cNvPr>
          <p:cNvSpPr/>
          <p:nvPr/>
        </p:nvSpPr>
        <p:spPr>
          <a:xfrm>
            <a:off x="2578100" y="2654300"/>
            <a:ext cx="1549400" cy="1549400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4A3A2AF-9A67-471F-8C92-3A7E9F9A5608}"/>
              </a:ext>
            </a:extLst>
          </p:cNvPr>
          <p:cNvSpPr txBox="1"/>
          <p:nvPr/>
        </p:nvSpPr>
        <p:spPr>
          <a:xfrm>
            <a:off x="2462304" y="3233650"/>
            <a:ext cx="1842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spc="300" dirty="0">
                <a:solidFill>
                  <a:srgbClr val="44C3C0"/>
                </a:solidFill>
                <a:effectLst>
                  <a:outerShdw blurRad="101600" dist="63500" dir="2700000" algn="tl" rotWithShape="0">
                    <a:prstClr val="black">
                      <a:alpha val="41000"/>
                    </a:prstClr>
                  </a:outerShdw>
                </a:effectLst>
                <a:latin typeface="Eurostile BQ" pitchFamily="50" charset="0"/>
              </a:rPr>
              <a:t>BUSINESS</a:t>
            </a:r>
            <a:r>
              <a:rPr lang="en-US" sz="1600" dirty="0">
                <a:effectLst>
                  <a:outerShdw blurRad="101600" dist="63500" dir="2700000" algn="tl" rotWithShape="0">
                    <a:prstClr val="black">
                      <a:alpha val="41000"/>
                    </a:prstClr>
                  </a:outerShdw>
                </a:effectLst>
              </a:rPr>
              <a:t> </a:t>
            </a:r>
            <a:r>
              <a:rPr lang="en-US" sz="1600" spc="6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101600" dist="63500" dir="2700000" algn="tl" rotWithShape="0">
                    <a:prstClr val="black">
                      <a:alpha val="41000"/>
                    </a:prstClr>
                  </a:outerShdw>
                </a:effectLst>
                <a:latin typeface="Bebas Neue Bold" panose="020B0606020202050201" pitchFamily="34" charset="0"/>
              </a:rPr>
              <a:t>HEADING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24DD455-80C5-4011-A95E-795F40BC2D0B}"/>
              </a:ext>
            </a:extLst>
          </p:cNvPr>
          <p:cNvGrpSpPr/>
          <p:nvPr/>
        </p:nvGrpSpPr>
        <p:grpSpPr>
          <a:xfrm>
            <a:off x="4626067" y="465307"/>
            <a:ext cx="2872094" cy="815608"/>
            <a:chOff x="4626067" y="465307"/>
            <a:chExt cx="2872094" cy="81560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E70A81C-A1D8-4831-A8D7-B4C2845337B1}"/>
                </a:ext>
              </a:extLst>
            </p:cNvPr>
            <p:cNvGrpSpPr/>
            <p:nvPr/>
          </p:nvGrpSpPr>
          <p:grpSpPr>
            <a:xfrm>
              <a:off x="4626067" y="465307"/>
              <a:ext cx="2872094" cy="815608"/>
              <a:chOff x="4626067" y="465307"/>
              <a:chExt cx="2872094" cy="815608"/>
            </a:xfrm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B6F9C562-F044-4D2C-8442-795242DE5529}"/>
                  </a:ext>
                </a:extLst>
              </p:cNvPr>
              <p:cNvSpPr/>
              <p:nvPr/>
            </p:nvSpPr>
            <p:spPr>
              <a:xfrm>
                <a:off x="4626067" y="467036"/>
                <a:ext cx="2872094" cy="780295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FED41C"/>
                  </a:gs>
                  <a:gs pos="97000">
                    <a:srgbClr val="DE9F00"/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127000" dist="76200" dir="2700000" algn="tl" rotWithShape="0">
                  <a:prstClr val="black">
                    <a:alpha val="5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FAD646A2-136F-4859-9097-5F282A5C4117}"/>
                  </a:ext>
                </a:extLst>
              </p:cNvPr>
              <p:cNvSpPr/>
              <p:nvPr/>
            </p:nvSpPr>
            <p:spPr>
              <a:xfrm>
                <a:off x="4678431" y="514283"/>
                <a:ext cx="685800" cy="6858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27000" dist="76200" dir="2700000" algn="tl" rotWithShape="0">
                  <a:prstClr val="black">
                    <a:alpha val="5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67FB0C9-3128-4E36-8282-B7D855615DC8}"/>
                  </a:ext>
                </a:extLst>
              </p:cNvPr>
              <p:cNvSpPr txBox="1"/>
              <p:nvPr/>
            </p:nvSpPr>
            <p:spPr>
              <a:xfrm>
                <a:off x="4803306" y="621360"/>
                <a:ext cx="33856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>
                    <a:effectLst>
                      <a:outerShdw blurRad="101600" dist="63500" dir="2700000" algn="tl" rotWithShape="0">
                        <a:prstClr val="black">
                          <a:alpha val="41000"/>
                        </a:prstClr>
                      </a:outerShdw>
                    </a:effectLst>
                    <a:latin typeface="Eurostile BQ" pitchFamily="50" charset="0"/>
                  </a:rPr>
                  <a:t>1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A033045-85FB-43F5-8F84-49327A5304EA}"/>
                  </a:ext>
                </a:extLst>
              </p:cNvPr>
              <p:cNvSpPr txBox="1"/>
              <p:nvPr/>
            </p:nvSpPr>
            <p:spPr>
              <a:xfrm>
                <a:off x="5402763" y="465307"/>
                <a:ext cx="1684255" cy="8156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dirty="0"/>
                  <a:t>News Input</a:t>
                </a:r>
                <a:br>
                  <a:rPr lang="en-IN" sz="1400" dirty="0"/>
                </a:br>
                <a:r>
                  <a:rPr lang="en-US" sz="1100" dirty="0"/>
                  <a:t>User submits news text or a URL for analysis through the web interface.</a:t>
                </a:r>
                <a:endParaRPr lang="en-US" sz="12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pic>
          <p:nvPicPr>
            <p:cNvPr id="89" name="Graphic 88" descr="Lightbulb">
              <a:extLst>
                <a:ext uri="{FF2B5EF4-FFF2-40B4-BE49-F238E27FC236}">
                  <a16:creationId xmlns:a16="http://schemas.microsoft.com/office/drawing/2014/main" id="{7765854B-CCA3-4C2A-BE1E-E73AE37B8E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035532" y="672260"/>
              <a:ext cx="429177" cy="429177"/>
            </a:xfrm>
            <a:prstGeom prst="rect">
              <a:avLst/>
            </a:prstGeom>
            <a:effectLst/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3BBEF79-8159-47EB-B862-A37054C4C3A3}"/>
              </a:ext>
            </a:extLst>
          </p:cNvPr>
          <p:cNvGrpSpPr/>
          <p:nvPr/>
        </p:nvGrpSpPr>
        <p:grpSpPr>
          <a:xfrm>
            <a:off x="4626067" y="5687013"/>
            <a:ext cx="3113676" cy="984885"/>
            <a:chOff x="4626067" y="5687013"/>
            <a:chExt cx="2872094" cy="984885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00399633-F1D0-4FA4-BEC8-8A09A2347B65}"/>
                </a:ext>
              </a:extLst>
            </p:cNvPr>
            <p:cNvSpPr/>
            <p:nvPr/>
          </p:nvSpPr>
          <p:spPr>
            <a:xfrm>
              <a:off x="4626067" y="5712983"/>
              <a:ext cx="2872094" cy="78029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3D600"/>
                </a:gs>
                <a:gs pos="97000">
                  <a:srgbClr val="74B900"/>
                </a:gs>
              </a:gsLst>
              <a:lin ang="0" scaled="1"/>
              <a:tileRect/>
            </a:gra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442F2E3-7F53-4719-AABA-16BD2C242073}"/>
                </a:ext>
              </a:extLst>
            </p:cNvPr>
            <p:cNvSpPr/>
            <p:nvPr/>
          </p:nvSpPr>
          <p:spPr>
            <a:xfrm>
              <a:off x="4678431" y="5760230"/>
              <a:ext cx="685800" cy="685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331339B-7EC2-4EF0-9E44-65DD14E546FE}"/>
                </a:ext>
              </a:extLst>
            </p:cNvPr>
            <p:cNvSpPr txBox="1"/>
            <p:nvPr/>
          </p:nvSpPr>
          <p:spPr>
            <a:xfrm>
              <a:off x="4803306" y="5855752"/>
              <a:ext cx="3385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effectLst>
                    <a:outerShdw blurRad="101600" dist="63500" dir="2700000" algn="tl" rotWithShape="0">
                      <a:prstClr val="black">
                        <a:alpha val="41000"/>
                      </a:prstClr>
                    </a:outerShdw>
                  </a:effectLst>
                  <a:latin typeface="Eurostile BQ" pitchFamily="50" charset="0"/>
                </a:rPr>
                <a:t>6</a:t>
              </a:r>
            </a:p>
          </p:txBody>
        </p:sp>
        <p:pic>
          <p:nvPicPr>
            <p:cNvPr id="83" name="Graphic 82" descr="Bullseye">
              <a:extLst>
                <a:ext uri="{FF2B5EF4-FFF2-40B4-BE49-F238E27FC236}">
                  <a16:creationId xmlns:a16="http://schemas.microsoft.com/office/drawing/2014/main" id="{DF31F69A-A9D4-465F-B938-6FC4395DA9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035531" y="5920552"/>
              <a:ext cx="429177" cy="429177"/>
            </a:xfrm>
            <a:prstGeom prst="rect">
              <a:avLst/>
            </a:prstGeom>
            <a:effectLst/>
          </p:spPr>
        </p:pic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0F997E43-B3A2-4503-9C84-A8ACC224A177}"/>
                </a:ext>
              </a:extLst>
            </p:cNvPr>
            <p:cNvSpPr txBox="1"/>
            <p:nvPr/>
          </p:nvSpPr>
          <p:spPr>
            <a:xfrm>
              <a:off x="5403106" y="5687013"/>
              <a:ext cx="1684255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/>
                <a:t>Result Output</a:t>
              </a:r>
              <a:br>
                <a:rPr lang="en-IN" sz="1400" dirty="0"/>
              </a:br>
              <a:r>
                <a:rPr lang="en-US" sz="1100" dirty="0"/>
                <a:t>Final results with confidence score and verification status are displayed.</a:t>
              </a:r>
              <a:endParaRPr lang="en-US" sz="1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F276933-997C-4EED-8808-74030997E8B6}"/>
              </a:ext>
            </a:extLst>
          </p:cNvPr>
          <p:cNvGrpSpPr/>
          <p:nvPr/>
        </p:nvGrpSpPr>
        <p:grpSpPr>
          <a:xfrm>
            <a:off x="5358909" y="1451454"/>
            <a:ext cx="3427071" cy="844695"/>
            <a:chOff x="5373513" y="1451454"/>
            <a:chExt cx="2906064" cy="844695"/>
          </a:xfrm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AAD1D8CE-23CA-4164-8BCF-1775C2CD4953}"/>
                </a:ext>
              </a:extLst>
            </p:cNvPr>
            <p:cNvSpPr/>
            <p:nvPr/>
          </p:nvSpPr>
          <p:spPr>
            <a:xfrm>
              <a:off x="5373513" y="1515854"/>
              <a:ext cx="2872094" cy="78029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851A"/>
                </a:gs>
                <a:gs pos="97000">
                  <a:srgbClr val="E70000"/>
                </a:gs>
              </a:gsLst>
              <a:lin ang="0" scaled="1"/>
              <a:tileRect/>
            </a:gra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84B8AFC-EEA7-42C3-8AAD-057B4DE359AA}"/>
                </a:ext>
              </a:extLst>
            </p:cNvPr>
            <p:cNvSpPr/>
            <p:nvPr/>
          </p:nvSpPr>
          <p:spPr>
            <a:xfrm>
              <a:off x="5516719" y="1563472"/>
              <a:ext cx="685800" cy="685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F381830-6816-42CF-B9F1-848EE29C6252}"/>
                </a:ext>
              </a:extLst>
            </p:cNvPr>
            <p:cNvSpPr txBox="1"/>
            <p:nvPr/>
          </p:nvSpPr>
          <p:spPr>
            <a:xfrm>
              <a:off x="5664743" y="1686643"/>
              <a:ext cx="3385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effectLst>
                    <a:outerShdw blurRad="101600" dist="63500" dir="2700000" algn="tl" rotWithShape="0">
                      <a:prstClr val="black">
                        <a:alpha val="41000"/>
                      </a:prstClr>
                    </a:outerShdw>
                  </a:effectLst>
                  <a:latin typeface="Eurostile BQ" pitchFamily="50" charset="0"/>
                </a:rPr>
                <a:t>2</a:t>
              </a:r>
            </a:p>
          </p:txBody>
        </p:sp>
        <p:pic>
          <p:nvPicPr>
            <p:cNvPr id="87" name="Graphic 86" descr="Magnifying glass">
              <a:extLst>
                <a:ext uri="{FF2B5EF4-FFF2-40B4-BE49-F238E27FC236}">
                  <a16:creationId xmlns:a16="http://schemas.microsoft.com/office/drawing/2014/main" id="{DF52EA9A-49C3-4C04-906A-5362DD731B5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850400" y="1644669"/>
              <a:ext cx="429177" cy="429177"/>
            </a:xfrm>
            <a:prstGeom prst="rect">
              <a:avLst/>
            </a:prstGeom>
            <a:effectLst/>
          </p:spPr>
        </p:pic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D9C39B54-5068-4E9F-A0A2-E2D6B9FDB0D4}"/>
                </a:ext>
              </a:extLst>
            </p:cNvPr>
            <p:cNvSpPr txBox="1"/>
            <p:nvPr/>
          </p:nvSpPr>
          <p:spPr>
            <a:xfrm>
              <a:off x="6204974" y="1451454"/>
              <a:ext cx="1782861" cy="815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/>
                <a:t>Preprocessing</a:t>
              </a:r>
              <a:br>
                <a:rPr lang="en-IN" sz="1400" dirty="0"/>
              </a:br>
              <a:r>
                <a:rPr lang="en-US" sz="1100" dirty="0"/>
                <a:t>The system removes noise, </a:t>
              </a:r>
              <a:r>
                <a:rPr lang="en-US" sz="1100" dirty="0" err="1"/>
                <a:t>stopwords</a:t>
              </a:r>
              <a:r>
                <a:rPr lang="en-US" sz="1100" dirty="0"/>
                <a:t>, and irrelevant characters using NLP techniques.</a:t>
              </a:r>
              <a:r>
                <a:rPr lang="en-US" sz="1100" b="1" dirty="0">
                  <a:solidFill>
                    <a:schemeClr val="bg1">
                      <a:lumMod val="95000"/>
                    </a:schemeClr>
                  </a:solidFill>
                  <a:latin typeface="Economica" panose="02000506040000020004" pitchFamily="2" charset="0"/>
                </a:rPr>
                <a:t>. </a:t>
              </a:r>
              <a:endParaRPr lang="en-US" sz="1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5B0AA49-59B1-4F13-AF28-0AB65F6762CE}"/>
              </a:ext>
            </a:extLst>
          </p:cNvPr>
          <p:cNvGrpSpPr/>
          <p:nvPr/>
        </p:nvGrpSpPr>
        <p:grpSpPr>
          <a:xfrm>
            <a:off x="5454953" y="4634297"/>
            <a:ext cx="2872094" cy="815608"/>
            <a:chOff x="5454953" y="4634297"/>
            <a:chExt cx="2872094" cy="815608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CEB31C13-FE45-402C-8A4F-B67597F78EE4}"/>
                </a:ext>
              </a:extLst>
            </p:cNvPr>
            <p:cNvSpPr/>
            <p:nvPr/>
          </p:nvSpPr>
          <p:spPr>
            <a:xfrm>
              <a:off x="5454953" y="4663792"/>
              <a:ext cx="2872094" cy="78029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0A7DF"/>
                </a:gs>
                <a:gs pos="97000">
                  <a:srgbClr val="00A0B1"/>
                </a:gs>
              </a:gsLst>
              <a:lin ang="0" scaled="1"/>
              <a:tileRect/>
            </a:gra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249B34C4-FCD2-47E6-9B5C-D6BDDE3215CA}"/>
                </a:ext>
              </a:extLst>
            </p:cNvPr>
            <p:cNvSpPr/>
            <p:nvPr/>
          </p:nvSpPr>
          <p:spPr>
            <a:xfrm>
              <a:off x="5516719" y="4723499"/>
              <a:ext cx="685800" cy="685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998EBBC-DC0C-4DDB-9F1A-27A1323BA208}"/>
                </a:ext>
              </a:extLst>
            </p:cNvPr>
            <p:cNvSpPr txBox="1"/>
            <p:nvPr/>
          </p:nvSpPr>
          <p:spPr>
            <a:xfrm>
              <a:off x="5660492" y="4846388"/>
              <a:ext cx="3385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effectLst>
                    <a:outerShdw blurRad="101600" dist="63500" dir="2700000" algn="tl" rotWithShape="0">
                      <a:prstClr val="black">
                        <a:alpha val="41000"/>
                      </a:prstClr>
                    </a:outerShdw>
                  </a:effectLst>
                  <a:latin typeface="Eurostile BQ" pitchFamily="50" charset="0"/>
                </a:rPr>
                <a:t>5</a:t>
              </a:r>
            </a:p>
          </p:txBody>
        </p:sp>
        <p:pic>
          <p:nvPicPr>
            <p:cNvPr id="81" name="Graphic 80" descr="Bar graph with upward trend">
              <a:extLst>
                <a:ext uri="{FF2B5EF4-FFF2-40B4-BE49-F238E27FC236}">
                  <a16:creationId xmlns:a16="http://schemas.microsoft.com/office/drawing/2014/main" id="{71237447-751D-4FF3-A078-7C4198CF7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836795" y="4851810"/>
              <a:ext cx="429177" cy="429177"/>
            </a:xfrm>
            <a:prstGeom prst="rect">
              <a:avLst/>
            </a:prstGeom>
            <a:effectLst/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067ACB2-BC5E-4869-BF6B-5D2D04C206BD}"/>
                </a:ext>
              </a:extLst>
            </p:cNvPr>
            <p:cNvSpPr txBox="1"/>
            <p:nvPr/>
          </p:nvSpPr>
          <p:spPr>
            <a:xfrm>
              <a:off x="6210286" y="4634297"/>
              <a:ext cx="1684255" cy="815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/>
                <a:t>Verification</a:t>
              </a:r>
              <a:br>
                <a:rPr lang="en-IN" sz="1400" dirty="0"/>
              </a:br>
              <a:r>
                <a:rPr lang="en-US" sz="1100" dirty="0"/>
                <a:t>Claims are verified using trusted fact-checking APIs to improve reliability.</a:t>
              </a:r>
              <a:endParaRPr lang="en-US" sz="1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6F3AB33-8833-4300-AD00-1D290EE1E279}"/>
              </a:ext>
            </a:extLst>
          </p:cNvPr>
          <p:cNvGrpSpPr/>
          <p:nvPr/>
        </p:nvGrpSpPr>
        <p:grpSpPr>
          <a:xfrm>
            <a:off x="5987821" y="2507584"/>
            <a:ext cx="3123521" cy="984885"/>
            <a:chOff x="5987822" y="2507584"/>
            <a:chExt cx="2872094" cy="984885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AC5E14AE-6928-48A8-839E-EBCE00E18D23}"/>
                </a:ext>
              </a:extLst>
            </p:cNvPr>
            <p:cNvSpPr/>
            <p:nvPr/>
          </p:nvSpPr>
          <p:spPr>
            <a:xfrm>
              <a:off x="5987822" y="2565414"/>
              <a:ext cx="2872094" cy="78029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85AA2"/>
                </a:gs>
                <a:gs pos="97000">
                  <a:srgbClr val="BD2583"/>
                </a:gs>
              </a:gsLst>
              <a:lin ang="0" scaled="1"/>
              <a:tileRect/>
            </a:gra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D4FDBFDD-8340-4786-B5F5-3F23629DFC08}"/>
                </a:ext>
              </a:extLst>
            </p:cNvPr>
            <p:cNvSpPr/>
            <p:nvPr/>
          </p:nvSpPr>
          <p:spPr>
            <a:xfrm>
              <a:off x="6049677" y="2612661"/>
              <a:ext cx="685800" cy="685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65916CE-AB2A-4543-AD58-8238CE7DFEFF}"/>
                </a:ext>
              </a:extLst>
            </p:cNvPr>
            <p:cNvSpPr txBox="1"/>
            <p:nvPr/>
          </p:nvSpPr>
          <p:spPr>
            <a:xfrm>
              <a:off x="6185400" y="2693951"/>
              <a:ext cx="3385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effectLst>
                    <a:outerShdw blurRad="101600" dist="63500" dir="2700000" algn="tl" rotWithShape="0">
                      <a:prstClr val="black">
                        <a:alpha val="41000"/>
                      </a:prstClr>
                    </a:outerShdw>
                  </a:effectLst>
                  <a:latin typeface="Eurostile BQ" pitchFamily="50" charset="0"/>
                </a:rPr>
                <a:t>3</a:t>
              </a:r>
            </a:p>
          </p:txBody>
        </p:sp>
        <p:pic>
          <p:nvPicPr>
            <p:cNvPr id="85" name="Graphic 84" descr="Single gear">
              <a:extLst>
                <a:ext uri="{FF2B5EF4-FFF2-40B4-BE49-F238E27FC236}">
                  <a16:creationId xmlns:a16="http://schemas.microsoft.com/office/drawing/2014/main" id="{811A9E23-93E5-49AD-8D3F-FC41BD8C5B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381077" y="2739788"/>
              <a:ext cx="429177" cy="429177"/>
            </a:xfrm>
            <a:prstGeom prst="rect">
              <a:avLst/>
            </a:prstGeom>
            <a:effectLst/>
          </p:spPr>
        </p:pic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0E86320E-852A-48E5-90E8-A9F0AD32F733}"/>
                </a:ext>
              </a:extLst>
            </p:cNvPr>
            <p:cNvSpPr txBox="1"/>
            <p:nvPr/>
          </p:nvSpPr>
          <p:spPr>
            <a:xfrm>
              <a:off x="6718695" y="2507584"/>
              <a:ext cx="1684255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/>
                <a:t>Feature Extraction</a:t>
              </a:r>
              <a:br>
                <a:rPr lang="en-IN" sz="1400" dirty="0"/>
              </a:br>
              <a:r>
                <a:rPr lang="en-US" sz="1100" dirty="0"/>
                <a:t>Important words and named entities are extracted to understand news context.</a:t>
              </a:r>
              <a:r>
                <a:rPr lang="en-US" sz="1100" b="1" dirty="0">
                  <a:solidFill>
                    <a:schemeClr val="bg1">
                      <a:lumMod val="95000"/>
                    </a:schemeClr>
                  </a:solidFill>
                  <a:latin typeface="Economica" panose="02000506040000020004" pitchFamily="2" charset="0"/>
                </a:rPr>
                <a:t>. </a:t>
              </a:r>
              <a:endParaRPr lang="en-US" sz="1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3CD8BF9-A34A-4C7C-8129-A87CF26C6D30}"/>
              </a:ext>
            </a:extLst>
          </p:cNvPr>
          <p:cNvGrpSpPr/>
          <p:nvPr/>
        </p:nvGrpSpPr>
        <p:grpSpPr>
          <a:xfrm>
            <a:off x="5987822" y="3602836"/>
            <a:ext cx="2872094" cy="815608"/>
            <a:chOff x="5987822" y="3602836"/>
            <a:chExt cx="2872094" cy="815608"/>
          </a:xfrm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49A8B012-1545-4436-8528-FBBF0EE522E0}"/>
                </a:ext>
              </a:extLst>
            </p:cNvPr>
            <p:cNvSpPr/>
            <p:nvPr/>
          </p:nvSpPr>
          <p:spPr>
            <a:xfrm>
              <a:off x="5987822" y="3614603"/>
              <a:ext cx="2872094" cy="78029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7B5BA6"/>
                </a:gs>
                <a:gs pos="97000">
                  <a:srgbClr val="593F92"/>
                </a:gs>
              </a:gsLst>
              <a:lin ang="0" scaled="1"/>
              <a:tileRect/>
            </a:gra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ED79CBBB-135D-40C7-90C7-9E2A0EB63DA1}"/>
                </a:ext>
              </a:extLst>
            </p:cNvPr>
            <p:cNvSpPr/>
            <p:nvPr/>
          </p:nvSpPr>
          <p:spPr>
            <a:xfrm>
              <a:off x="6049677" y="3661850"/>
              <a:ext cx="685800" cy="685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CC8FE8E-1548-41A5-9544-4944BD64E63A}"/>
                </a:ext>
              </a:extLst>
            </p:cNvPr>
            <p:cNvSpPr txBox="1"/>
            <p:nvPr/>
          </p:nvSpPr>
          <p:spPr>
            <a:xfrm>
              <a:off x="6188385" y="3738355"/>
              <a:ext cx="3385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effectLst>
                    <a:outerShdw blurRad="101600" dist="63500" dir="2700000" algn="tl" rotWithShape="0">
                      <a:prstClr val="black">
                        <a:alpha val="41000"/>
                      </a:prstClr>
                    </a:outerShdw>
                  </a:effectLst>
                  <a:latin typeface="Eurostile BQ" pitchFamily="50" charset="0"/>
                </a:rPr>
                <a:t>4</a:t>
              </a:r>
            </a:p>
          </p:txBody>
        </p:sp>
        <p:pic>
          <p:nvPicPr>
            <p:cNvPr id="91" name="Graphic 90" descr="Stopwatch">
              <a:extLst>
                <a:ext uri="{FF2B5EF4-FFF2-40B4-BE49-F238E27FC236}">
                  <a16:creationId xmlns:a16="http://schemas.microsoft.com/office/drawing/2014/main" id="{57331C31-6FB2-461F-8F0D-F8720E7F1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402950" y="3776821"/>
              <a:ext cx="433363" cy="433363"/>
            </a:xfrm>
            <a:prstGeom prst="rect">
              <a:avLst/>
            </a:prstGeom>
            <a:effectLst/>
          </p:spPr>
        </p:pic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BE4984A-6478-48B1-AA4D-6FFDD65F7041}"/>
                </a:ext>
              </a:extLst>
            </p:cNvPr>
            <p:cNvSpPr txBox="1"/>
            <p:nvPr/>
          </p:nvSpPr>
          <p:spPr>
            <a:xfrm>
              <a:off x="6727086" y="3602836"/>
              <a:ext cx="1684255" cy="815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/>
                <a:t>Classification</a:t>
              </a:r>
              <a:br>
                <a:rPr lang="en-IN" sz="1400" dirty="0"/>
              </a:br>
              <a:r>
                <a:rPr lang="en-US" sz="1100" dirty="0"/>
                <a:t>Machine learning models classify the news as Real, Fake, or Suspicious.</a:t>
              </a:r>
              <a:endParaRPr lang="en-US" sz="1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7CBC1740-4A43-4663-BB2A-33BAC08CA3F3}"/>
              </a:ext>
            </a:extLst>
          </p:cNvPr>
          <p:cNvSpPr txBox="1"/>
          <p:nvPr/>
        </p:nvSpPr>
        <p:spPr>
          <a:xfrm>
            <a:off x="7550525" y="135283"/>
            <a:ext cx="52836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Eurostile BQ" pitchFamily="50" charset="0"/>
              </a:rPr>
              <a:t>6 Step ROUNDED RECTANGLE Infographic</a:t>
            </a:r>
          </a:p>
        </p:txBody>
      </p:sp>
    </p:spTree>
    <p:extLst>
      <p:ext uri="{BB962C8B-B14F-4D97-AF65-F5344CB8AC3E}">
        <p14:creationId xmlns:p14="http://schemas.microsoft.com/office/powerpoint/2010/main" val="293123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500"/>
                            </p:stCondLst>
                            <p:childTnLst>
                              <p:par>
                                <p:cTn id="26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500"/>
                            </p:stCondLst>
                            <p:childTnLst>
                              <p:par>
                                <p:cTn id="40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BEC8A44E-9361-4AF6-8B41-6661D222A923}"/>
              </a:ext>
            </a:extLst>
          </p:cNvPr>
          <p:cNvSpPr/>
          <p:nvPr/>
        </p:nvSpPr>
        <p:spPr>
          <a:xfrm rot="5400000">
            <a:off x="5204222" y="-2398400"/>
            <a:ext cx="1016372" cy="7671694"/>
          </a:xfrm>
          <a:custGeom>
            <a:avLst/>
            <a:gdLst>
              <a:gd name="connsiteX0" fmla="*/ 0 w 1108034"/>
              <a:gd name="connsiteY0" fmla="*/ 6829426 h 8363570"/>
              <a:gd name="connsiteX1" fmla="*/ 0 w 1108034"/>
              <a:gd name="connsiteY1" fmla="*/ 554019 h 8363570"/>
              <a:gd name="connsiteX2" fmla="*/ 554017 w 1108034"/>
              <a:gd name="connsiteY2" fmla="*/ 0 h 8363570"/>
              <a:gd name="connsiteX3" fmla="*/ 1108034 w 1108034"/>
              <a:gd name="connsiteY3" fmla="*/ 554019 h 8363570"/>
              <a:gd name="connsiteX4" fmla="*/ 1108034 w 1108034"/>
              <a:gd name="connsiteY4" fmla="*/ 8195761 h 8363570"/>
              <a:gd name="connsiteX5" fmla="*/ 1008811 w 1108034"/>
              <a:gd name="connsiteY5" fmla="*/ 8233116 h 8363570"/>
              <a:gd name="connsiteX6" fmla="*/ 181991 w 1108034"/>
              <a:gd name="connsiteY6" fmla="*/ 8363570 h 8363570"/>
              <a:gd name="connsiteX7" fmla="*/ 6741 w 1108034"/>
              <a:gd name="connsiteY7" fmla="*/ 8356654 h 8363570"/>
              <a:gd name="connsiteX8" fmla="*/ 6741 w 1108034"/>
              <a:gd name="connsiteY8" fmla="*/ 6829426 h 836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034" h="8363570">
                <a:moveTo>
                  <a:pt x="0" y="6829426"/>
                </a:moveTo>
                <a:lnTo>
                  <a:pt x="0" y="554019"/>
                </a:lnTo>
                <a:cubicBezTo>
                  <a:pt x="0" y="248043"/>
                  <a:pt x="248042" y="0"/>
                  <a:pt x="554017" y="0"/>
                </a:cubicBezTo>
                <a:cubicBezTo>
                  <a:pt x="859992" y="0"/>
                  <a:pt x="1108034" y="248043"/>
                  <a:pt x="1108034" y="554019"/>
                </a:cubicBezTo>
                <a:lnTo>
                  <a:pt x="1108034" y="8195761"/>
                </a:lnTo>
                <a:lnTo>
                  <a:pt x="1008811" y="8233116"/>
                </a:lnTo>
                <a:cubicBezTo>
                  <a:pt x="754680" y="8317118"/>
                  <a:pt x="475277" y="8363570"/>
                  <a:pt x="181991" y="8363570"/>
                </a:cubicBezTo>
                <a:lnTo>
                  <a:pt x="6741" y="8356654"/>
                </a:lnTo>
                <a:lnTo>
                  <a:pt x="6741" y="6829426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>
            <a:outerShdw blurRad="76200" dist="38100" algn="l" rotWithShape="0">
              <a:prstClr val="black">
                <a:alpha val="4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354633E-C734-483B-9E94-E79F6822B0BB}"/>
              </a:ext>
            </a:extLst>
          </p:cNvPr>
          <p:cNvSpPr/>
          <p:nvPr/>
        </p:nvSpPr>
        <p:spPr>
          <a:xfrm rot="5400000">
            <a:off x="5102077" y="-1125953"/>
            <a:ext cx="1016372" cy="7159548"/>
          </a:xfrm>
          <a:custGeom>
            <a:avLst/>
            <a:gdLst>
              <a:gd name="connsiteX0" fmla="*/ 0 w 1108034"/>
              <a:gd name="connsiteY0" fmla="*/ 7805236 h 7805236"/>
              <a:gd name="connsiteX1" fmla="*/ 0 w 1108034"/>
              <a:gd name="connsiteY1" fmla="*/ 554017 h 7805236"/>
              <a:gd name="connsiteX2" fmla="*/ 554017 w 1108034"/>
              <a:gd name="connsiteY2" fmla="*/ 0 h 7805236"/>
              <a:gd name="connsiteX3" fmla="*/ 1108034 w 1108034"/>
              <a:gd name="connsiteY3" fmla="*/ 554017 h 7805236"/>
              <a:gd name="connsiteX4" fmla="*/ 1108034 w 1108034"/>
              <a:gd name="connsiteY4" fmla="*/ 6941783 h 7805236"/>
              <a:gd name="connsiteX5" fmla="*/ 909013 w 1108034"/>
              <a:gd name="connsiteY5" fmla="*/ 7146380 h 7805236"/>
              <a:gd name="connsiteX6" fmla="*/ 909009 w 1108034"/>
              <a:gd name="connsiteY6" fmla="*/ 7146385 h 7805236"/>
              <a:gd name="connsiteX7" fmla="*/ 835343 w 1108034"/>
              <a:gd name="connsiteY7" fmla="*/ 7241148 h 7805236"/>
              <a:gd name="connsiteX8" fmla="*/ 713061 w 1108034"/>
              <a:gd name="connsiteY8" fmla="*/ 7368942 h 7805236"/>
              <a:gd name="connsiteX9" fmla="*/ 650309 w 1108034"/>
              <a:gd name="connsiteY9" fmla="*/ 7422901 h 7805236"/>
              <a:gd name="connsiteX10" fmla="*/ 650306 w 1108034"/>
              <a:gd name="connsiteY10" fmla="*/ 7422905 h 7805236"/>
              <a:gd name="connsiteX11" fmla="*/ 575964 w 1108034"/>
              <a:gd name="connsiteY11" fmla="*/ 7486829 h 7805236"/>
              <a:gd name="connsiteX12" fmla="*/ 86457 w 1108034"/>
              <a:gd name="connsiteY12" fmla="*/ 7772687 h 7805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08034" h="7805236">
                <a:moveTo>
                  <a:pt x="0" y="7805236"/>
                </a:moveTo>
                <a:lnTo>
                  <a:pt x="0" y="554017"/>
                </a:lnTo>
                <a:cubicBezTo>
                  <a:pt x="0" y="248042"/>
                  <a:pt x="248042" y="0"/>
                  <a:pt x="554017" y="0"/>
                </a:cubicBezTo>
                <a:cubicBezTo>
                  <a:pt x="859992" y="0"/>
                  <a:pt x="1108034" y="248042"/>
                  <a:pt x="1108034" y="554017"/>
                </a:cubicBezTo>
                <a:lnTo>
                  <a:pt x="1108034" y="6941783"/>
                </a:lnTo>
                <a:lnTo>
                  <a:pt x="909013" y="7146380"/>
                </a:lnTo>
                <a:lnTo>
                  <a:pt x="909009" y="7146385"/>
                </a:lnTo>
                <a:lnTo>
                  <a:pt x="835343" y="7241148"/>
                </a:lnTo>
                <a:cubicBezTo>
                  <a:pt x="797171" y="7285304"/>
                  <a:pt x="756350" y="7327949"/>
                  <a:pt x="713061" y="7368942"/>
                </a:cubicBezTo>
                <a:lnTo>
                  <a:pt x="650309" y="7422901"/>
                </a:lnTo>
                <a:lnTo>
                  <a:pt x="650306" y="7422905"/>
                </a:lnTo>
                <a:lnTo>
                  <a:pt x="575964" y="7486829"/>
                </a:lnTo>
                <a:cubicBezTo>
                  <a:pt x="431815" y="7599483"/>
                  <a:pt x="267044" y="7696021"/>
                  <a:pt x="86457" y="7772687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38100" algn="l" rotWithShape="0">
              <a:prstClr val="black">
                <a:alpha val="4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707F8BB-3363-4800-BFA3-CAB0FB53AF32}"/>
              </a:ext>
            </a:extLst>
          </p:cNvPr>
          <p:cNvSpPr/>
          <p:nvPr/>
        </p:nvSpPr>
        <p:spPr>
          <a:xfrm rot="5400000">
            <a:off x="5318980" y="465543"/>
            <a:ext cx="1016372" cy="6009305"/>
          </a:xfrm>
          <a:custGeom>
            <a:avLst/>
            <a:gdLst>
              <a:gd name="connsiteX0" fmla="*/ 0 w 1108034"/>
              <a:gd name="connsiteY0" fmla="*/ 6551257 h 6551257"/>
              <a:gd name="connsiteX1" fmla="*/ 0 w 1108034"/>
              <a:gd name="connsiteY1" fmla="*/ 554017 h 6551257"/>
              <a:gd name="connsiteX2" fmla="*/ 554017 w 1108034"/>
              <a:gd name="connsiteY2" fmla="*/ 0 h 6551257"/>
              <a:gd name="connsiteX3" fmla="*/ 1108034 w 1108034"/>
              <a:gd name="connsiteY3" fmla="*/ 554017 h 6551257"/>
              <a:gd name="connsiteX4" fmla="*/ 1108034 w 1108034"/>
              <a:gd name="connsiteY4" fmla="*/ 6432787 h 6551257"/>
              <a:gd name="connsiteX5" fmla="*/ 913883 w 1108034"/>
              <a:gd name="connsiteY5" fmla="*/ 6233196 h 6551257"/>
              <a:gd name="connsiteX6" fmla="*/ 309392 w 1108034"/>
              <a:gd name="connsiteY6" fmla="*/ 6233196 h 6551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8034" h="6551257">
                <a:moveTo>
                  <a:pt x="0" y="6551257"/>
                </a:moveTo>
                <a:lnTo>
                  <a:pt x="0" y="554017"/>
                </a:lnTo>
                <a:cubicBezTo>
                  <a:pt x="0" y="248042"/>
                  <a:pt x="248042" y="0"/>
                  <a:pt x="554017" y="0"/>
                </a:cubicBezTo>
                <a:cubicBezTo>
                  <a:pt x="859992" y="0"/>
                  <a:pt x="1108034" y="248042"/>
                  <a:pt x="1108034" y="554017"/>
                </a:cubicBezTo>
                <a:lnTo>
                  <a:pt x="1108034" y="6432787"/>
                </a:lnTo>
                <a:lnTo>
                  <a:pt x="913883" y="6233196"/>
                </a:lnTo>
                <a:cubicBezTo>
                  <a:pt x="746957" y="6061593"/>
                  <a:pt x="476318" y="6061593"/>
                  <a:pt x="309392" y="6233196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  <a:effectLst>
            <a:outerShdw blurRad="76200" dist="38100" algn="l" rotWithShape="0">
              <a:prstClr val="black">
                <a:alpha val="4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9E311C0A-8B15-4D69-9FFA-E5DD3BC84D2F}"/>
              </a:ext>
            </a:extLst>
          </p:cNvPr>
          <p:cNvSpPr/>
          <p:nvPr/>
        </p:nvSpPr>
        <p:spPr>
          <a:xfrm rot="5400000">
            <a:off x="4765054" y="1286209"/>
            <a:ext cx="1016372" cy="6400721"/>
          </a:xfrm>
          <a:custGeom>
            <a:avLst/>
            <a:gdLst>
              <a:gd name="connsiteX0" fmla="*/ 0 w 1108034"/>
              <a:gd name="connsiteY0" fmla="*/ 6042265 h 6977973"/>
              <a:gd name="connsiteX1" fmla="*/ 0 w 1108034"/>
              <a:gd name="connsiteY1" fmla="*/ 554017 h 6977973"/>
              <a:gd name="connsiteX2" fmla="*/ 554017 w 1108034"/>
              <a:gd name="connsiteY2" fmla="*/ 0 h 6977973"/>
              <a:gd name="connsiteX3" fmla="*/ 1108034 w 1108034"/>
              <a:gd name="connsiteY3" fmla="*/ 554017 h 6977973"/>
              <a:gd name="connsiteX4" fmla="*/ 1108034 w 1108034"/>
              <a:gd name="connsiteY4" fmla="*/ 6977973 h 6977973"/>
              <a:gd name="connsiteX5" fmla="*/ 961681 w 1108034"/>
              <a:gd name="connsiteY5" fmla="*/ 6908488 h 6977973"/>
              <a:gd name="connsiteX6" fmla="*/ 647310 w 1108034"/>
              <a:gd name="connsiteY6" fmla="*/ 6705781 h 6977973"/>
              <a:gd name="connsiteX7" fmla="*/ 572969 w 1108034"/>
              <a:gd name="connsiteY7" fmla="*/ 6641859 h 6977973"/>
              <a:gd name="connsiteX8" fmla="*/ 572965 w 1108034"/>
              <a:gd name="connsiteY8" fmla="*/ 6641854 h 6977973"/>
              <a:gd name="connsiteX9" fmla="*/ 510212 w 1108034"/>
              <a:gd name="connsiteY9" fmla="*/ 6587894 h 6977973"/>
              <a:gd name="connsiteX10" fmla="*/ 387931 w 1108034"/>
              <a:gd name="connsiteY10" fmla="*/ 6460100 h 6977973"/>
              <a:gd name="connsiteX11" fmla="*/ 314260 w 1108034"/>
              <a:gd name="connsiteY11" fmla="*/ 6365330 h 6977973"/>
              <a:gd name="connsiteX12" fmla="*/ 314255 w 1108034"/>
              <a:gd name="connsiteY12" fmla="*/ 6365327 h 697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08034" h="6977973">
                <a:moveTo>
                  <a:pt x="0" y="6042265"/>
                </a:moveTo>
                <a:lnTo>
                  <a:pt x="0" y="554017"/>
                </a:lnTo>
                <a:cubicBezTo>
                  <a:pt x="0" y="248042"/>
                  <a:pt x="248042" y="0"/>
                  <a:pt x="554017" y="0"/>
                </a:cubicBezTo>
                <a:cubicBezTo>
                  <a:pt x="859992" y="0"/>
                  <a:pt x="1108034" y="248042"/>
                  <a:pt x="1108034" y="554017"/>
                </a:cubicBezTo>
                <a:lnTo>
                  <a:pt x="1108034" y="6977973"/>
                </a:lnTo>
                <a:lnTo>
                  <a:pt x="961681" y="6908488"/>
                </a:lnTo>
                <a:cubicBezTo>
                  <a:pt x="848674" y="6848824"/>
                  <a:pt x="743410" y="6780884"/>
                  <a:pt x="647310" y="6705781"/>
                </a:cubicBezTo>
                <a:lnTo>
                  <a:pt x="572969" y="6641859"/>
                </a:lnTo>
                <a:lnTo>
                  <a:pt x="572965" y="6641854"/>
                </a:lnTo>
                <a:lnTo>
                  <a:pt x="510212" y="6587894"/>
                </a:lnTo>
                <a:cubicBezTo>
                  <a:pt x="466923" y="6546901"/>
                  <a:pt x="426103" y="6504256"/>
                  <a:pt x="387931" y="6460100"/>
                </a:cubicBezTo>
                <a:lnTo>
                  <a:pt x="314260" y="6365330"/>
                </a:lnTo>
                <a:lnTo>
                  <a:pt x="314255" y="6365327"/>
                </a:lnTo>
                <a:close/>
              </a:path>
            </a:pathLst>
          </a:custGeom>
          <a:solidFill>
            <a:schemeClr val="accent5">
              <a:lumMod val="75000"/>
              <a:lumOff val="25000"/>
            </a:schemeClr>
          </a:solidFill>
          <a:ln>
            <a:noFill/>
          </a:ln>
          <a:effectLst>
            <a:outerShdw blurRad="76200" dist="38100" algn="l" rotWithShape="0">
              <a:prstClr val="black">
                <a:alpha val="4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4B82CB5-CA72-457D-BAE0-7FCE5B89BDFF}"/>
              </a:ext>
            </a:extLst>
          </p:cNvPr>
          <p:cNvSpPr/>
          <p:nvPr/>
        </p:nvSpPr>
        <p:spPr>
          <a:xfrm rot="5400000">
            <a:off x="4487786" y="2383533"/>
            <a:ext cx="1016372" cy="6238822"/>
          </a:xfrm>
          <a:custGeom>
            <a:avLst/>
            <a:gdLst>
              <a:gd name="connsiteX0" fmla="*/ 0 w 1108034"/>
              <a:gd name="connsiteY0" fmla="*/ 6587450 h 6801473"/>
              <a:gd name="connsiteX1" fmla="*/ 0 w 1108034"/>
              <a:gd name="connsiteY1" fmla="*/ 554017 h 6801473"/>
              <a:gd name="connsiteX2" fmla="*/ 554017 w 1108034"/>
              <a:gd name="connsiteY2" fmla="*/ 0 h 6801473"/>
              <a:gd name="connsiteX3" fmla="*/ 1108034 w 1108034"/>
              <a:gd name="connsiteY3" fmla="*/ 554017 h 6801473"/>
              <a:gd name="connsiteX4" fmla="*/ 1108034 w 1108034"/>
              <a:gd name="connsiteY4" fmla="*/ 6798838 h 6801473"/>
              <a:gd name="connsiteX5" fmla="*/ 1041284 w 1108034"/>
              <a:gd name="connsiteY5" fmla="*/ 6801473 h 6801473"/>
              <a:gd name="connsiteX6" fmla="*/ 28782 w 1108034"/>
              <a:gd name="connsiteY6" fmla="*/ 6601115 h 6801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8034" h="6801473">
                <a:moveTo>
                  <a:pt x="0" y="6587450"/>
                </a:moveTo>
                <a:lnTo>
                  <a:pt x="0" y="554017"/>
                </a:lnTo>
                <a:cubicBezTo>
                  <a:pt x="0" y="248042"/>
                  <a:pt x="248042" y="0"/>
                  <a:pt x="554017" y="0"/>
                </a:cubicBezTo>
                <a:cubicBezTo>
                  <a:pt x="859992" y="0"/>
                  <a:pt x="1108034" y="248042"/>
                  <a:pt x="1108034" y="554017"/>
                </a:cubicBezTo>
                <a:lnTo>
                  <a:pt x="1108034" y="6798838"/>
                </a:lnTo>
                <a:lnTo>
                  <a:pt x="1041284" y="6801473"/>
                </a:lnTo>
                <a:cubicBezTo>
                  <a:pt x="674677" y="6801473"/>
                  <a:pt x="329761" y="6728893"/>
                  <a:pt x="28782" y="6601115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  <a:effectLst>
            <a:outerShdw blurRad="76200" dist="38100" algn="l" rotWithShape="0">
              <a:prstClr val="black">
                <a:alpha val="4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069D932-9E15-4E22-A4FB-3434B707A6A0}"/>
              </a:ext>
            </a:extLst>
          </p:cNvPr>
          <p:cNvSpPr/>
          <p:nvPr/>
        </p:nvSpPr>
        <p:spPr>
          <a:xfrm rot="16200000">
            <a:off x="851908" y="1944387"/>
            <a:ext cx="5075686" cy="3045429"/>
          </a:xfrm>
          <a:custGeom>
            <a:avLst/>
            <a:gdLst>
              <a:gd name="connsiteX0" fmla="*/ 1335670 w 3886198"/>
              <a:gd name="connsiteY0" fmla="*/ 1703420 h 2268181"/>
              <a:gd name="connsiteX1" fmla="*/ 1283924 w 3886198"/>
              <a:gd name="connsiteY1" fmla="*/ 1768172 h 2268181"/>
              <a:gd name="connsiteX2" fmla="*/ 1198045 w 3886198"/>
              <a:gd name="connsiteY2" fmla="*/ 1855478 h 2268181"/>
              <a:gd name="connsiteX3" fmla="*/ 1153967 w 3886198"/>
              <a:gd name="connsiteY3" fmla="*/ 1892347 h 2268181"/>
              <a:gd name="connsiteX4" fmla="*/ 1186178 w 3886198"/>
              <a:gd name="connsiteY4" fmla="*/ 1852912 h 2268181"/>
              <a:gd name="connsiteX5" fmla="*/ 2656034 w 3886198"/>
              <a:gd name="connsiteY5" fmla="*/ 1892350 h 2268181"/>
              <a:gd name="connsiteX6" fmla="*/ 2611954 w 3886198"/>
              <a:gd name="connsiteY6" fmla="*/ 1855478 h 2268181"/>
              <a:gd name="connsiteX7" fmla="*/ 2526074 w 3886198"/>
              <a:gd name="connsiteY7" fmla="*/ 1768172 h 2268181"/>
              <a:gd name="connsiteX8" fmla="*/ 2474323 w 3886198"/>
              <a:gd name="connsiteY8" fmla="*/ 1703415 h 2268181"/>
              <a:gd name="connsiteX9" fmla="*/ 2623821 w 3886198"/>
              <a:gd name="connsiteY9" fmla="*/ 1852912 h 2268181"/>
              <a:gd name="connsiteX10" fmla="*/ 3886198 w 3886198"/>
              <a:gd name="connsiteY10" fmla="*/ 4725 h 2268181"/>
              <a:gd name="connsiteX11" fmla="*/ 3886198 w 3886198"/>
              <a:gd name="connsiteY11" fmla="*/ 2263457 h 2268181"/>
              <a:gd name="connsiteX12" fmla="*/ 3763118 w 3886198"/>
              <a:gd name="connsiteY12" fmla="*/ 2268181 h 2268181"/>
              <a:gd name="connsiteX13" fmla="*/ 2708239 w 3886198"/>
              <a:gd name="connsiteY13" fmla="*/ 1936014 h 2268181"/>
              <a:gd name="connsiteX14" fmla="*/ 2656035 w 3886198"/>
              <a:gd name="connsiteY14" fmla="*/ 1892349 h 2268181"/>
              <a:gd name="connsiteX15" fmla="*/ 2623821 w 3886198"/>
              <a:gd name="connsiteY15" fmla="*/ 1852911 h 2268181"/>
              <a:gd name="connsiteX16" fmla="*/ 2474324 w 3886198"/>
              <a:gd name="connsiteY16" fmla="*/ 1703414 h 2268181"/>
              <a:gd name="connsiteX17" fmla="*/ 2117270 w 3886198"/>
              <a:gd name="connsiteY17" fmla="*/ 1346360 h 2268181"/>
              <a:gd name="connsiteX18" fmla="*/ 1692729 w 3886198"/>
              <a:gd name="connsiteY18" fmla="*/ 1346360 h 2268181"/>
              <a:gd name="connsiteX19" fmla="*/ 1335670 w 3886198"/>
              <a:gd name="connsiteY19" fmla="*/ 1703419 h 2268181"/>
              <a:gd name="connsiteX20" fmla="*/ 1186178 w 3886198"/>
              <a:gd name="connsiteY20" fmla="*/ 1852911 h 2268181"/>
              <a:gd name="connsiteX21" fmla="*/ 1153966 w 3886198"/>
              <a:gd name="connsiteY21" fmla="*/ 1892346 h 2268181"/>
              <a:gd name="connsiteX22" fmla="*/ 1101759 w 3886198"/>
              <a:gd name="connsiteY22" fmla="*/ 1936014 h 2268181"/>
              <a:gd name="connsiteX23" fmla="*/ 46880 w 3886198"/>
              <a:gd name="connsiteY23" fmla="*/ 2268181 h 2268181"/>
              <a:gd name="connsiteX24" fmla="*/ 0 w 3886198"/>
              <a:gd name="connsiteY24" fmla="*/ 2266382 h 2268181"/>
              <a:gd name="connsiteX25" fmla="*/ 0 w 3886198"/>
              <a:gd name="connsiteY25" fmla="*/ 1800 h 2268181"/>
              <a:gd name="connsiteX26" fmla="*/ 46880 w 3886198"/>
              <a:gd name="connsiteY26" fmla="*/ 0 h 2268181"/>
              <a:gd name="connsiteX27" fmla="*/ 1101759 w 3886198"/>
              <a:gd name="connsiteY27" fmla="*/ 332168 h 2268181"/>
              <a:gd name="connsiteX28" fmla="*/ 1153969 w 3886198"/>
              <a:gd name="connsiteY28" fmla="*/ 375838 h 2268181"/>
              <a:gd name="connsiteX29" fmla="*/ 1153972 w 3886198"/>
              <a:gd name="connsiteY29" fmla="*/ 375841 h 2268181"/>
              <a:gd name="connsiteX30" fmla="*/ 1198044 w 3886198"/>
              <a:gd name="connsiteY30" fmla="*/ 412705 h 2268181"/>
              <a:gd name="connsiteX31" fmla="*/ 1283924 w 3886198"/>
              <a:gd name="connsiteY31" fmla="*/ 500010 h 2268181"/>
              <a:gd name="connsiteX32" fmla="*/ 1335664 w 3886198"/>
              <a:gd name="connsiteY32" fmla="*/ 564754 h 2268181"/>
              <a:gd name="connsiteX33" fmla="*/ 1335667 w 3886198"/>
              <a:gd name="connsiteY33" fmla="*/ 564757 h 2268181"/>
              <a:gd name="connsiteX34" fmla="*/ 1692728 w 3886198"/>
              <a:gd name="connsiteY34" fmla="*/ 921819 h 2268181"/>
              <a:gd name="connsiteX35" fmla="*/ 2117269 w 3886198"/>
              <a:gd name="connsiteY35" fmla="*/ 921819 h 2268181"/>
              <a:gd name="connsiteX36" fmla="*/ 2474335 w 3886198"/>
              <a:gd name="connsiteY36" fmla="*/ 564753 h 2268181"/>
              <a:gd name="connsiteX37" fmla="*/ 2474338 w 3886198"/>
              <a:gd name="connsiteY37" fmla="*/ 564749 h 2268181"/>
              <a:gd name="connsiteX38" fmla="*/ 2526074 w 3886198"/>
              <a:gd name="connsiteY38" fmla="*/ 500010 h 2268181"/>
              <a:gd name="connsiteX39" fmla="*/ 2611954 w 3886198"/>
              <a:gd name="connsiteY39" fmla="*/ 412705 h 2268181"/>
              <a:gd name="connsiteX40" fmla="*/ 2656026 w 3886198"/>
              <a:gd name="connsiteY40" fmla="*/ 375842 h 2268181"/>
              <a:gd name="connsiteX41" fmla="*/ 2656028 w 3886198"/>
              <a:gd name="connsiteY41" fmla="*/ 375839 h 2268181"/>
              <a:gd name="connsiteX42" fmla="*/ 2708239 w 3886198"/>
              <a:gd name="connsiteY42" fmla="*/ 332168 h 2268181"/>
              <a:gd name="connsiteX43" fmla="*/ 3763118 w 3886198"/>
              <a:gd name="connsiteY43" fmla="*/ 0 h 2268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3886198" h="2268181">
                <a:moveTo>
                  <a:pt x="1335670" y="1703420"/>
                </a:moveTo>
                <a:lnTo>
                  <a:pt x="1283924" y="1768172"/>
                </a:lnTo>
                <a:cubicBezTo>
                  <a:pt x="1257115" y="1798339"/>
                  <a:pt x="1228447" y="1827473"/>
                  <a:pt x="1198045" y="1855478"/>
                </a:cubicBezTo>
                <a:lnTo>
                  <a:pt x="1153967" y="1892347"/>
                </a:lnTo>
                <a:lnTo>
                  <a:pt x="1186178" y="1852912"/>
                </a:lnTo>
                <a:close/>
                <a:moveTo>
                  <a:pt x="2656034" y="1892350"/>
                </a:moveTo>
                <a:lnTo>
                  <a:pt x="2611954" y="1855478"/>
                </a:lnTo>
                <a:cubicBezTo>
                  <a:pt x="2581551" y="1827473"/>
                  <a:pt x="2552883" y="1798339"/>
                  <a:pt x="2526074" y="1768172"/>
                </a:cubicBezTo>
                <a:lnTo>
                  <a:pt x="2474323" y="1703415"/>
                </a:lnTo>
                <a:lnTo>
                  <a:pt x="2623821" y="1852912"/>
                </a:lnTo>
                <a:close/>
                <a:moveTo>
                  <a:pt x="3886198" y="4725"/>
                </a:moveTo>
                <a:lnTo>
                  <a:pt x="3886198" y="2263457"/>
                </a:lnTo>
                <a:lnTo>
                  <a:pt x="3763118" y="2268181"/>
                </a:lnTo>
                <a:cubicBezTo>
                  <a:pt x="3351162" y="2268181"/>
                  <a:pt x="2978206" y="2141244"/>
                  <a:pt x="2708239" y="1936014"/>
                </a:cubicBezTo>
                <a:lnTo>
                  <a:pt x="2656035" y="1892349"/>
                </a:lnTo>
                <a:lnTo>
                  <a:pt x="2623821" y="1852911"/>
                </a:lnTo>
                <a:lnTo>
                  <a:pt x="2474324" y="1703414"/>
                </a:lnTo>
                <a:lnTo>
                  <a:pt x="2117270" y="1346360"/>
                </a:lnTo>
                <a:cubicBezTo>
                  <a:pt x="2000036" y="1229126"/>
                  <a:pt x="1809963" y="1229126"/>
                  <a:pt x="1692729" y="1346360"/>
                </a:cubicBezTo>
                <a:lnTo>
                  <a:pt x="1335670" y="1703419"/>
                </a:lnTo>
                <a:lnTo>
                  <a:pt x="1186178" y="1852911"/>
                </a:lnTo>
                <a:lnTo>
                  <a:pt x="1153966" y="1892346"/>
                </a:lnTo>
                <a:lnTo>
                  <a:pt x="1101759" y="1936014"/>
                </a:lnTo>
                <a:cubicBezTo>
                  <a:pt x="831792" y="2141243"/>
                  <a:pt x="458836" y="2268181"/>
                  <a:pt x="46880" y="2268181"/>
                </a:cubicBezTo>
                <a:lnTo>
                  <a:pt x="0" y="2266382"/>
                </a:lnTo>
                <a:lnTo>
                  <a:pt x="0" y="1800"/>
                </a:lnTo>
                <a:lnTo>
                  <a:pt x="46880" y="0"/>
                </a:lnTo>
                <a:cubicBezTo>
                  <a:pt x="458836" y="0"/>
                  <a:pt x="831792" y="126937"/>
                  <a:pt x="1101759" y="332168"/>
                </a:cubicBezTo>
                <a:lnTo>
                  <a:pt x="1153969" y="375838"/>
                </a:lnTo>
                <a:lnTo>
                  <a:pt x="1153972" y="375841"/>
                </a:lnTo>
                <a:lnTo>
                  <a:pt x="1198044" y="412705"/>
                </a:lnTo>
                <a:cubicBezTo>
                  <a:pt x="1228447" y="440710"/>
                  <a:pt x="1257115" y="469844"/>
                  <a:pt x="1283924" y="500010"/>
                </a:cubicBezTo>
                <a:lnTo>
                  <a:pt x="1335664" y="564754"/>
                </a:lnTo>
                <a:lnTo>
                  <a:pt x="1335667" y="564757"/>
                </a:lnTo>
                <a:lnTo>
                  <a:pt x="1692728" y="921819"/>
                </a:lnTo>
                <a:cubicBezTo>
                  <a:pt x="1809962" y="1039053"/>
                  <a:pt x="2000035" y="1039053"/>
                  <a:pt x="2117269" y="921819"/>
                </a:cubicBezTo>
                <a:lnTo>
                  <a:pt x="2474335" y="564753"/>
                </a:lnTo>
                <a:lnTo>
                  <a:pt x="2474338" y="564749"/>
                </a:lnTo>
                <a:lnTo>
                  <a:pt x="2526074" y="500010"/>
                </a:lnTo>
                <a:cubicBezTo>
                  <a:pt x="2552883" y="469844"/>
                  <a:pt x="2581552" y="440710"/>
                  <a:pt x="2611954" y="412705"/>
                </a:cubicBezTo>
                <a:lnTo>
                  <a:pt x="2656026" y="375842"/>
                </a:lnTo>
                <a:lnTo>
                  <a:pt x="2656028" y="375839"/>
                </a:lnTo>
                <a:lnTo>
                  <a:pt x="2708239" y="332168"/>
                </a:lnTo>
                <a:cubicBezTo>
                  <a:pt x="2978206" y="126937"/>
                  <a:pt x="3351162" y="0"/>
                  <a:pt x="3763118" y="0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  <a:effectLst>
            <a:outerShdw blurRad="469900" dist="38100" algn="l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624991E-1F14-4E34-9334-EBB96BB200AF}"/>
              </a:ext>
            </a:extLst>
          </p:cNvPr>
          <p:cNvSpPr/>
          <p:nvPr/>
        </p:nvSpPr>
        <p:spPr>
          <a:xfrm rot="16200000">
            <a:off x="1493152" y="1465677"/>
            <a:ext cx="1862442" cy="777233"/>
          </a:xfrm>
          <a:custGeom>
            <a:avLst/>
            <a:gdLst>
              <a:gd name="connsiteX0" fmla="*/ 2030407 w 2030407"/>
              <a:gd name="connsiteY0" fmla="*/ 6917 h 847328"/>
              <a:gd name="connsiteX1" fmla="*/ 2030407 w 2030407"/>
              <a:gd name="connsiteY1" fmla="*/ 274251 h 847328"/>
              <a:gd name="connsiteX2" fmla="*/ 1979685 w 2030407"/>
              <a:gd name="connsiteY2" fmla="*/ 270787 h 847328"/>
              <a:gd name="connsiteX3" fmla="*/ 430253 w 2030407"/>
              <a:gd name="connsiteY3" fmla="*/ 608813 h 847328"/>
              <a:gd name="connsiteX4" fmla="*/ 178422 w 2030407"/>
              <a:gd name="connsiteY4" fmla="*/ 738096 h 847328"/>
              <a:gd name="connsiteX5" fmla="*/ 0 w 2030407"/>
              <a:gd name="connsiteY5" fmla="*/ 847328 h 847328"/>
              <a:gd name="connsiteX6" fmla="*/ 20098 w 2030407"/>
              <a:gd name="connsiteY6" fmla="*/ 826666 h 847328"/>
              <a:gd name="connsiteX7" fmla="*/ 20103 w 2030407"/>
              <a:gd name="connsiteY7" fmla="*/ 826660 h 847328"/>
              <a:gd name="connsiteX8" fmla="*/ 93768 w 2030407"/>
              <a:gd name="connsiteY8" fmla="*/ 731897 h 847328"/>
              <a:gd name="connsiteX9" fmla="*/ 216050 w 2030407"/>
              <a:gd name="connsiteY9" fmla="*/ 604103 h 847328"/>
              <a:gd name="connsiteX10" fmla="*/ 278803 w 2030407"/>
              <a:gd name="connsiteY10" fmla="*/ 550144 h 847328"/>
              <a:gd name="connsiteX11" fmla="*/ 278806 w 2030407"/>
              <a:gd name="connsiteY11" fmla="*/ 550140 h 847328"/>
              <a:gd name="connsiteX12" fmla="*/ 353147 w 2030407"/>
              <a:gd name="connsiteY12" fmla="*/ 486216 h 847328"/>
              <a:gd name="connsiteX13" fmla="*/ 1855157 w 2030407"/>
              <a:gd name="connsiteY13" fmla="*/ 0 h 847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030407" h="847328">
                <a:moveTo>
                  <a:pt x="2030407" y="6917"/>
                </a:moveTo>
                <a:lnTo>
                  <a:pt x="2030407" y="274251"/>
                </a:lnTo>
                <a:lnTo>
                  <a:pt x="1979685" y="270787"/>
                </a:lnTo>
                <a:cubicBezTo>
                  <a:pt x="1486242" y="257768"/>
                  <a:pt x="949421" y="366324"/>
                  <a:pt x="430253" y="608813"/>
                </a:cubicBezTo>
                <a:cubicBezTo>
                  <a:pt x="343725" y="649228"/>
                  <a:pt x="259736" y="692407"/>
                  <a:pt x="178422" y="738096"/>
                </a:cubicBezTo>
                <a:lnTo>
                  <a:pt x="0" y="847328"/>
                </a:lnTo>
                <a:lnTo>
                  <a:pt x="20098" y="826666"/>
                </a:lnTo>
                <a:lnTo>
                  <a:pt x="20103" y="826660"/>
                </a:lnTo>
                <a:lnTo>
                  <a:pt x="93768" y="731897"/>
                </a:lnTo>
                <a:cubicBezTo>
                  <a:pt x="131940" y="687741"/>
                  <a:pt x="172761" y="645096"/>
                  <a:pt x="216050" y="604103"/>
                </a:cubicBezTo>
                <a:lnTo>
                  <a:pt x="278803" y="550144"/>
                </a:lnTo>
                <a:lnTo>
                  <a:pt x="278806" y="550140"/>
                </a:lnTo>
                <a:lnTo>
                  <a:pt x="353147" y="486216"/>
                </a:lnTo>
                <a:cubicBezTo>
                  <a:pt x="737545" y="185806"/>
                  <a:pt x="1268586" y="0"/>
                  <a:pt x="1855157" y="0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2DBC214-63DE-4941-97CA-281645E81B50}"/>
              </a:ext>
            </a:extLst>
          </p:cNvPr>
          <p:cNvSpPr/>
          <p:nvPr/>
        </p:nvSpPr>
        <p:spPr>
          <a:xfrm rot="5400000" flipV="1">
            <a:off x="1589709" y="4579942"/>
            <a:ext cx="1862442" cy="999933"/>
          </a:xfrm>
          <a:custGeom>
            <a:avLst/>
            <a:gdLst>
              <a:gd name="connsiteX0" fmla="*/ 2030407 w 2030407"/>
              <a:gd name="connsiteY0" fmla="*/ 6917 h 847328"/>
              <a:gd name="connsiteX1" fmla="*/ 2030407 w 2030407"/>
              <a:gd name="connsiteY1" fmla="*/ 274251 h 847328"/>
              <a:gd name="connsiteX2" fmla="*/ 1979685 w 2030407"/>
              <a:gd name="connsiteY2" fmla="*/ 270787 h 847328"/>
              <a:gd name="connsiteX3" fmla="*/ 430253 w 2030407"/>
              <a:gd name="connsiteY3" fmla="*/ 608813 h 847328"/>
              <a:gd name="connsiteX4" fmla="*/ 178422 w 2030407"/>
              <a:gd name="connsiteY4" fmla="*/ 738096 h 847328"/>
              <a:gd name="connsiteX5" fmla="*/ 0 w 2030407"/>
              <a:gd name="connsiteY5" fmla="*/ 847328 h 847328"/>
              <a:gd name="connsiteX6" fmla="*/ 20098 w 2030407"/>
              <a:gd name="connsiteY6" fmla="*/ 826666 h 847328"/>
              <a:gd name="connsiteX7" fmla="*/ 20103 w 2030407"/>
              <a:gd name="connsiteY7" fmla="*/ 826660 h 847328"/>
              <a:gd name="connsiteX8" fmla="*/ 93768 w 2030407"/>
              <a:gd name="connsiteY8" fmla="*/ 731897 h 847328"/>
              <a:gd name="connsiteX9" fmla="*/ 216050 w 2030407"/>
              <a:gd name="connsiteY9" fmla="*/ 604103 h 847328"/>
              <a:gd name="connsiteX10" fmla="*/ 278803 w 2030407"/>
              <a:gd name="connsiteY10" fmla="*/ 550144 h 847328"/>
              <a:gd name="connsiteX11" fmla="*/ 278806 w 2030407"/>
              <a:gd name="connsiteY11" fmla="*/ 550140 h 847328"/>
              <a:gd name="connsiteX12" fmla="*/ 353147 w 2030407"/>
              <a:gd name="connsiteY12" fmla="*/ 486216 h 847328"/>
              <a:gd name="connsiteX13" fmla="*/ 1855157 w 2030407"/>
              <a:gd name="connsiteY13" fmla="*/ 0 h 847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030407" h="847328">
                <a:moveTo>
                  <a:pt x="2030407" y="6917"/>
                </a:moveTo>
                <a:lnTo>
                  <a:pt x="2030407" y="274251"/>
                </a:lnTo>
                <a:lnTo>
                  <a:pt x="1979685" y="270787"/>
                </a:lnTo>
                <a:cubicBezTo>
                  <a:pt x="1486242" y="257768"/>
                  <a:pt x="949421" y="366324"/>
                  <a:pt x="430253" y="608813"/>
                </a:cubicBezTo>
                <a:cubicBezTo>
                  <a:pt x="343725" y="649228"/>
                  <a:pt x="259736" y="692407"/>
                  <a:pt x="178422" y="738096"/>
                </a:cubicBezTo>
                <a:lnTo>
                  <a:pt x="0" y="847328"/>
                </a:lnTo>
                <a:lnTo>
                  <a:pt x="20098" y="826666"/>
                </a:lnTo>
                <a:lnTo>
                  <a:pt x="20103" y="826660"/>
                </a:lnTo>
                <a:lnTo>
                  <a:pt x="93768" y="731897"/>
                </a:lnTo>
                <a:cubicBezTo>
                  <a:pt x="131940" y="687741"/>
                  <a:pt x="172761" y="645096"/>
                  <a:pt x="216050" y="604103"/>
                </a:cubicBezTo>
                <a:lnTo>
                  <a:pt x="278803" y="550144"/>
                </a:lnTo>
                <a:lnTo>
                  <a:pt x="278806" y="550140"/>
                </a:lnTo>
                <a:lnTo>
                  <a:pt x="353147" y="486216"/>
                </a:lnTo>
                <a:cubicBezTo>
                  <a:pt x="737545" y="185806"/>
                  <a:pt x="1268586" y="0"/>
                  <a:pt x="1855157" y="0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03FDF2F-E5DD-44E4-8015-E982E1B8E4F7}"/>
              </a:ext>
            </a:extLst>
          </p:cNvPr>
          <p:cNvSpPr/>
          <p:nvPr/>
        </p:nvSpPr>
        <p:spPr>
          <a:xfrm>
            <a:off x="1664184" y="774907"/>
            <a:ext cx="3451133" cy="18267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5000">
                <a:schemeClr val="tx1">
                  <a:lumMod val="65000"/>
                  <a:lumOff val="35000"/>
                </a:schemeClr>
              </a:gs>
              <a:gs pos="89000">
                <a:schemeClr val="tx1">
                  <a:lumMod val="95000"/>
                  <a:lumOff val="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F95BF8B-E5F5-4ABD-89EC-8DBC1DE6BC2B}"/>
              </a:ext>
            </a:extLst>
          </p:cNvPr>
          <p:cNvSpPr/>
          <p:nvPr/>
        </p:nvSpPr>
        <p:spPr>
          <a:xfrm>
            <a:off x="1664184" y="6004945"/>
            <a:ext cx="3451133" cy="18267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5000">
                <a:schemeClr val="tx1">
                  <a:lumMod val="65000"/>
                  <a:lumOff val="35000"/>
                </a:schemeClr>
              </a:gs>
              <a:gs pos="89000">
                <a:schemeClr val="tx1">
                  <a:lumMod val="95000"/>
                  <a:lumOff val="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4435592-14E4-43A2-AD28-1CFB4A77BB27}"/>
              </a:ext>
            </a:extLst>
          </p:cNvPr>
          <p:cNvSpPr/>
          <p:nvPr/>
        </p:nvSpPr>
        <p:spPr>
          <a:xfrm>
            <a:off x="8582025" y="987669"/>
            <a:ext cx="899555" cy="89955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8F5F4AD-6AD3-49F8-9210-79436D69A70F}"/>
              </a:ext>
            </a:extLst>
          </p:cNvPr>
          <p:cNvSpPr/>
          <p:nvPr/>
        </p:nvSpPr>
        <p:spPr>
          <a:xfrm>
            <a:off x="8229600" y="2004041"/>
            <a:ext cx="899555" cy="89955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C4A63D7-8983-46B3-8B4A-5F68304AF3F5}"/>
              </a:ext>
            </a:extLst>
          </p:cNvPr>
          <p:cNvSpPr/>
          <p:nvPr/>
        </p:nvSpPr>
        <p:spPr>
          <a:xfrm>
            <a:off x="7877175" y="3020417"/>
            <a:ext cx="899555" cy="89955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E5987D4-BA62-4E43-842A-E32DE5F086E6}"/>
              </a:ext>
            </a:extLst>
          </p:cNvPr>
          <p:cNvSpPr/>
          <p:nvPr/>
        </p:nvSpPr>
        <p:spPr>
          <a:xfrm>
            <a:off x="7515907" y="4035530"/>
            <a:ext cx="899555" cy="89955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E49E49B-DF93-4B3A-AD0B-5EC58358975F}"/>
              </a:ext>
            </a:extLst>
          </p:cNvPr>
          <p:cNvSpPr/>
          <p:nvPr/>
        </p:nvSpPr>
        <p:spPr>
          <a:xfrm>
            <a:off x="7171482" y="5053168"/>
            <a:ext cx="899555" cy="89955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1" name="Graphic 50" descr="Lightbulb and gear">
            <a:extLst>
              <a:ext uri="{FF2B5EF4-FFF2-40B4-BE49-F238E27FC236}">
                <a16:creationId xmlns:a16="http://schemas.microsoft.com/office/drawing/2014/main" id="{2253D898-3FB2-4854-8E4C-2A23D1C8BA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75886" y="1181339"/>
            <a:ext cx="511832" cy="511832"/>
          </a:xfrm>
          <a:prstGeom prst="rect">
            <a:avLst/>
          </a:prstGeom>
        </p:spPr>
      </p:pic>
      <p:pic>
        <p:nvPicPr>
          <p:cNvPr id="52" name="Graphic 51" descr="Gears">
            <a:extLst>
              <a:ext uri="{FF2B5EF4-FFF2-40B4-BE49-F238E27FC236}">
                <a16:creationId xmlns:a16="http://schemas.microsoft.com/office/drawing/2014/main" id="{1CDA354F-DDFC-4FC0-A047-B36C1B95557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3710" y="2197711"/>
            <a:ext cx="511832" cy="511832"/>
          </a:xfrm>
          <a:prstGeom prst="rect">
            <a:avLst/>
          </a:prstGeom>
        </p:spPr>
      </p:pic>
      <p:pic>
        <p:nvPicPr>
          <p:cNvPr id="53" name="Graphic 52" descr="Bar graph with upward trend">
            <a:extLst>
              <a:ext uri="{FF2B5EF4-FFF2-40B4-BE49-F238E27FC236}">
                <a16:creationId xmlns:a16="http://schemas.microsoft.com/office/drawing/2014/main" id="{A69CF581-1FEF-4D2D-90B2-A64B16B9206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65343" y="5247028"/>
            <a:ext cx="511832" cy="511832"/>
          </a:xfrm>
          <a:prstGeom prst="rect">
            <a:avLst/>
          </a:prstGeom>
        </p:spPr>
      </p:pic>
      <p:pic>
        <p:nvPicPr>
          <p:cNvPr id="54" name="Graphic 53" descr="Briefcase">
            <a:extLst>
              <a:ext uri="{FF2B5EF4-FFF2-40B4-BE49-F238E27FC236}">
                <a16:creationId xmlns:a16="http://schemas.microsoft.com/office/drawing/2014/main" id="{7B6ED6FB-F7CB-466C-83B5-2BC2F082A1A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84452" y="3202742"/>
            <a:ext cx="511832" cy="511832"/>
          </a:xfrm>
          <a:prstGeom prst="rect">
            <a:avLst/>
          </a:prstGeom>
        </p:spPr>
      </p:pic>
      <p:pic>
        <p:nvPicPr>
          <p:cNvPr id="55" name="Graphic 54" descr="Handshake">
            <a:extLst>
              <a:ext uri="{FF2B5EF4-FFF2-40B4-BE49-F238E27FC236}">
                <a16:creationId xmlns:a16="http://schemas.microsoft.com/office/drawing/2014/main" id="{D2FF1AFC-9A91-4BAB-ABE1-644AF8760BC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09768" y="4258403"/>
            <a:ext cx="511832" cy="511832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976326AD-550F-4BBD-ABDF-BF29312D0EE7}"/>
              </a:ext>
            </a:extLst>
          </p:cNvPr>
          <p:cNvSpPr txBox="1"/>
          <p:nvPr/>
        </p:nvSpPr>
        <p:spPr>
          <a:xfrm>
            <a:off x="5765318" y="956724"/>
            <a:ext cx="21526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News Submission</a:t>
            </a:r>
            <a:r>
              <a:rPr lang="en-IN" spc="300" dirty="0">
                <a:solidFill>
                  <a:schemeClr val="bg1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 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User enters news text or a URL into the system for verification.</a:t>
            </a:r>
            <a:endParaRPr lang="en-IN" sz="1200" dirty="0">
              <a:solidFill>
                <a:schemeClr val="bg1"/>
              </a:solidFill>
              <a:latin typeface="Economica" panose="02000506040000020004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7791CE3-25F5-4B33-BDB5-29FD18E9C4A4}"/>
              </a:ext>
            </a:extLst>
          </p:cNvPr>
          <p:cNvSpPr txBox="1"/>
          <p:nvPr/>
        </p:nvSpPr>
        <p:spPr>
          <a:xfrm>
            <a:off x="5557141" y="1911218"/>
            <a:ext cx="215262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Text Preprocessing </a:t>
            </a:r>
            <a:r>
              <a:rPr lang="en-US" sz="1200" dirty="0">
                <a:solidFill>
                  <a:schemeClr val="bg1"/>
                </a:solidFill>
              </a:rPr>
              <a:t>The input content is cleaned using NLP techniques such as </a:t>
            </a:r>
            <a:r>
              <a:rPr lang="en-US" sz="1200" dirty="0" err="1">
                <a:solidFill>
                  <a:schemeClr val="bg1"/>
                </a:solidFill>
              </a:rPr>
              <a:t>stopword</a:t>
            </a:r>
            <a:r>
              <a:rPr lang="en-US" sz="1200" dirty="0">
                <a:solidFill>
                  <a:schemeClr val="bg1"/>
                </a:solidFill>
              </a:rPr>
              <a:t> removal and normalization.</a:t>
            </a:r>
            <a:endParaRPr lang="en-IN" sz="1200" dirty="0">
              <a:solidFill>
                <a:schemeClr val="bg1"/>
              </a:solidFill>
              <a:latin typeface="Economica" panose="02000506040000020004" pitchFamily="2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DA7A0B6-76A8-40EB-A5C3-8F07261DC7EA}"/>
              </a:ext>
            </a:extLst>
          </p:cNvPr>
          <p:cNvSpPr txBox="1"/>
          <p:nvPr/>
        </p:nvSpPr>
        <p:spPr>
          <a:xfrm>
            <a:off x="5314889" y="2903596"/>
            <a:ext cx="215262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Feature Analysis</a:t>
            </a:r>
            <a:r>
              <a:rPr lang="en-IN" spc="300" dirty="0">
                <a:solidFill>
                  <a:schemeClr val="bg1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 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Key tokens and entities are extracted to understand the context and meaning of the news.</a:t>
            </a:r>
            <a:endParaRPr lang="en-IN" sz="1200" dirty="0">
              <a:solidFill>
                <a:schemeClr val="bg1"/>
              </a:solidFill>
              <a:latin typeface="Economica" panose="02000506040000020004" pitchFamily="2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FD8A558-15EF-4E34-BD78-D6EF168B298F}"/>
              </a:ext>
            </a:extLst>
          </p:cNvPr>
          <p:cNvSpPr txBox="1"/>
          <p:nvPr/>
        </p:nvSpPr>
        <p:spPr>
          <a:xfrm>
            <a:off x="4751118" y="3974498"/>
            <a:ext cx="26618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Fake News Classification 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AI-based models analyze the processed text and classify it as Real, Fake, or Suspicious.</a:t>
            </a:r>
            <a:endParaRPr lang="en-IN" sz="1200" dirty="0">
              <a:solidFill>
                <a:schemeClr val="bg1"/>
              </a:solidFill>
              <a:latin typeface="Economica" panose="02000506040000020004" pitchFamily="2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BB128C9-B127-43AD-8EEB-B891327F7DA7}"/>
              </a:ext>
            </a:extLst>
          </p:cNvPr>
          <p:cNvSpPr txBox="1"/>
          <p:nvPr/>
        </p:nvSpPr>
        <p:spPr>
          <a:xfrm>
            <a:off x="4964929" y="5018602"/>
            <a:ext cx="21526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Result &amp; Verification</a:t>
            </a:r>
            <a:r>
              <a:rPr lang="en-IN" spc="300" dirty="0">
                <a:solidFill>
                  <a:schemeClr val="bg1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 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The system verifies claims using trusted sources and displays the final credibility result</a:t>
            </a:r>
            <a:r>
              <a:rPr lang="en-IN" sz="1200" dirty="0">
                <a:solidFill>
                  <a:schemeClr val="bg1"/>
                </a:solidFill>
                <a:latin typeface="Economica" panose="02000506040000020004" pitchFamily="2" charset="0"/>
              </a:rPr>
              <a:t>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141606C-EE59-4012-8B62-19155755477F}"/>
              </a:ext>
            </a:extLst>
          </p:cNvPr>
          <p:cNvSpPr txBox="1"/>
          <p:nvPr/>
        </p:nvSpPr>
        <p:spPr>
          <a:xfrm>
            <a:off x="5067692" y="31156"/>
            <a:ext cx="64671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Zona Pro" panose="02010A03040002020004" pitchFamily="50" charset="0"/>
                <a:ea typeface="STXingkai" panose="020B0503020204020204" pitchFamily="2" charset="-122"/>
                <a:cs typeface="Rajdhani bold" panose="02000000000000000000" pitchFamily="2" charset="0"/>
              </a:rPr>
              <a:t>5 Step SAND Clock Infographic</a:t>
            </a:r>
            <a:r>
              <a:rPr lang="en-I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The Bold Font" pitchFamily="2" charset="0"/>
                <a:ea typeface="STXingkai" panose="020B0503020204020204" pitchFamily="2" charset="-122"/>
                <a:cs typeface="Rajdhani bold" panose="02000000000000000000" pitchFamily="2" charset="0"/>
              </a:rPr>
              <a:t> </a:t>
            </a:r>
            <a:endParaRPr lang="en-IN" sz="2000" dirty="0">
              <a:solidFill>
                <a:schemeClr val="tx1">
                  <a:lumMod val="85000"/>
                  <a:lumOff val="15000"/>
                </a:schemeClr>
              </a:solidFill>
              <a:latin typeface="The Bold Font" pitchFamily="2" charset="0"/>
              <a:ea typeface="STXingkai" panose="020B0503020204020204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006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Top Corners Rounded 35">
            <a:extLst>
              <a:ext uri="{FF2B5EF4-FFF2-40B4-BE49-F238E27FC236}">
                <a16:creationId xmlns:a16="http://schemas.microsoft.com/office/drawing/2014/main" id="{4D236BA1-2E53-46D7-9927-7D2A20E62868}"/>
              </a:ext>
            </a:extLst>
          </p:cNvPr>
          <p:cNvSpPr/>
          <p:nvPr/>
        </p:nvSpPr>
        <p:spPr>
          <a:xfrm rot="16200000">
            <a:off x="3304118" y="5008933"/>
            <a:ext cx="1164167" cy="171026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44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: Top Corners Rounded 39">
            <a:extLst>
              <a:ext uri="{FF2B5EF4-FFF2-40B4-BE49-F238E27FC236}">
                <a16:creationId xmlns:a16="http://schemas.microsoft.com/office/drawing/2014/main" id="{B9A8646E-6C27-4511-8BE9-72A059EC39A1}"/>
              </a:ext>
            </a:extLst>
          </p:cNvPr>
          <p:cNvSpPr/>
          <p:nvPr/>
        </p:nvSpPr>
        <p:spPr>
          <a:xfrm rot="16200000">
            <a:off x="3194053" y="3734699"/>
            <a:ext cx="1164165" cy="193039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D6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: Top Corners Rounded 40">
            <a:extLst>
              <a:ext uri="{FF2B5EF4-FFF2-40B4-BE49-F238E27FC236}">
                <a16:creationId xmlns:a16="http://schemas.microsoft.com/office/drawing/2014/main" id="{21BE7F31-0738-4FF1-AFD4-2F00C02CE724}"/>
              </a:ext>
            </a:extLst>
          </p:cNvPr>
          <p:cNvSpPr/>
          <p:nvPr/>
        </p:nvSpPr>
        <p:spPr>
          <a:xfrm rot="16200000">
            <a:off x="3075785" y="2452263"/>
            <a:ext cx="1164162" cy="216693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83A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: Top Corners Rounded 41">
            <a:extLst>
              <a:ext uri="{FF2B5EF4-FFF2-40B4-BE49-F238E27FC236}">
                <a16:creationId xmlns:a16="http://schemas.microsoft.com/office/drawing/2014/main" id="{86DC3AF4-70D6-46AA-BECD-E338A95DF6E7}"/>
              </a:ext>
            </a:extLst>
          </p:cNvPr>
          <p:cNvSpPr/>
          <p:nvPr/>
        </p:nvSpPr>
        <p:spPr>
          <a:xfrm rot="16200000">
            <a:off x="2965457" y="1186233"/>
            <a:ext cx="1164162" cy="2387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415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315A5F7F-E767-4454-BE7F-23B84EA27BFC}"/>
              </a:ext>
            </a:extLst>
          </p:cNvPr>
          <p:cNvSpPr/>
          <p:nvPr/>
        </p:nvSpPr>
        <p:spPr>
          <a:xfrm>
            <a:off x="4724399" y="4075481"/>
            <a:ext cx="4571152" cy="2413000"/>
          </a:xfrm>
          <a:custGeom>
            <a:avLst/>
            <a:gdLst>
              <a:gd name="connsiteX0" fmla="*/ 1217572 w 4571152"/>
              <a:gd name="connsiteY0" fmla="*/ 0 h 2413000"/>
              <a:gd name="connsiteX1" fmla="*/ 3996267 w 4571152"/>
              <a:gd name="connsiteY1" fmla="*/ 0 h 2413000"/>
              <a:gd name="connsiteX2" fmla="*/ 3996267 w 4571152"/>
              <a:gd name="connsiteY2" fmla="*/ 10476 h 2413000"/>
              <a:gd name="connsiteX3" fmla="*/ 4096238 w 4571152"/>
              <a:gd name="connsiteY3" fmla="*/ 20554 h 2413000"/>
              <a:gd name="connsiteX4" fmla="*/ 4571152 w 4571152"/>
              <a:gd name="connsiteY4" fmla="*/ 603253 h 2413000"/>
              <a:gd name="connsiteX5" fmla="*/ 3976368 w 4571152"/>
              <a:gd name="connsiteY5" fmla="*/ 1198036 h 2413000"/>
              <a:gd name="connsiteX6" fmla="*/ 1997285 w 4571152"/>
              <a:gd name="connsiteY6" fmla="*/ 1198036 h 2413000"/>
              <a:gd name="connsiteX7" fmla="*/ 1997285 w 4571152"/>
              <a:gd name="connsiteY7" fmla="*/ 1189550 h 2413000"/>
              <a:gd name="connsiteX8" fmla="*/ 1217572 w 4571152"/>
              <a:gd name="connsiteY8" fmla="*/ 1189550 h 2413000"/>
              <a:gd name="connsiteX9" fmla="*/ 24738 w 4571152"/>
              <a:gd name="connsiteY9" fmla="*/ 2323108 h 2413000"/>
              <a:gd name="connsiteX10" fmla="*/ 16965 w 4571152"/>
              <a:gd name="connsiteY10" fmla="*/ 2413000 h 2413000"/>
              <a:gd name="connsiteX11" fmla="*/ 0 w 4571152"/>
              <a:gd name="connsiteY11" fmla="*/ 2216780 h 2413000"/>
              <a:gd name="connsiteX12" fmla="*/ 0 w 4571152"/>
              <a:gd name="connsiteY12" fmla="*/ 1419670 h 2413000"/>
              <a:gd name="connsiteX13" fmla="*/ 1217572 w 4571152"/>
              <a:gd name="connsiteY13" fmla="*/ 0 h 2413000"/>
              <a:gd name="connsiteX0" fmla="*/ 1217572 w 4571152"/>
              <a:gd name="connsiteY0" fmla="*/ 0 h 2413000"/>
              <a:gd name="connsiteX1" fmla="*/ 3996267 w 4571152"/>
              <a:gd name="connsiteY1" fmla="*/ 0 h 2413000"/>
              <a:gd name="connsiteX2" fmla="*/ 3996267 w 4571152"/>
              <a:gd name="connsiteY2" fmla="*/ 10476 h 2413000"/>
              <a:gd name="connsiteX3" fmla="*/ 4096238 w 4571152"/>
              <a:gd name="connsiteY3" fmla="*/ 20554 h 2413000"/>
              <a:gd name="connsiteX4" fmla="*/ 4571152 w 4571152"/>
              <a:gd name="connsiteY4" fmla="*/ 603253 h 2413000"/>
              <a:gd name="connsiteX5" fmla="*/ 3976368 w 4571152"/>
              <a:gd name="connsiteY5" fmla="*/ 1198036 h 2413000"/>
              <a:gd name="connsiteX6" fmla="*/ 1997285 w 4571152"/>
              <a:gd name="connsiteY6" fmla="*/ 1189550 h 2413000"/>
              <a:gd name="connsiteX7" fmla="*/ 1217572 w 4571152"/>
              <a:gd name="connsiteY7" fmla="*/ 1189550 h 2413000"/>
              <a:gd name="connsiteX8" fmla="*/ 24738 w 4571152"/>
              <a:gd name="connsiteY8" fmla="*/ 2323108 h 2413000"/>
              <a:gd name="connsiteX9" fmla="*/ 16965 w 4571152"/>
              <a:gd name="connsiteY9" fmla="*/ 2413000 h 2413000"/>
              <a:gd name="connsiteX10" fmla="*/ 0 w 4571152"/>
              <a:gd name="connsiteY10" fmla="*/ 2216780 h 2413000"/>
              <a:gd name="connsiteX11" fmla="*/ 0 w 4571152"/>
              <a:gd name="connsiteY11" fmla="*/ 1419670 h 2413000"/>
              <a:gd name="connsiteX12" fmla="*/ 1217572 w 4571152"/>
              <a:gd name="connsiteY12" fmla="*/ 0 h 241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571152" h="2413000">
                <a:moveTo>
                  <a:pt x="1217572" y="0"/>
                </a:moveTo>
                <a:lnTo>
                  <a:pt x="3996267" y="0"/>
                </a:lnTo>
                <a:lnTo>
                  <a:pt x="3996267" y="10476"/>
                </a:lnTo>
                <a:lnTo>
                  <a:pt x="4096238" y="20554"/>
                </a:lnTo>
                <a:cubicBezTo>
                  <a:pt x="4367271" y="76015"/>
                  <a:pt x="4571152" y="315824"/>
                  <a:pt x="4571152" y="603253"/>
                </a:cubicBezTo>
                <a:cubicBezTo>
                  <a:pt x="4571152" y="931743"/>
                  <a:pt x="4304858" y="1198036"/>
                  <a:pt x="3976368" y="1198036"/>
                </a:cubicBezTo>
                <a:lnTo>
                  <a:pt x="1997285" y="1189550"/>
                </a:lnTo>
                <a:lnTo>
                  <a:pt x="1217572" y="1189550"/>
                </a:lnTo>
                <a:cubicBezTo>
                  <a:pt x="629181" y="1189550"/>
                  <a:pt x="138271" y="1676187"/>
                  <a:pt x="24738" y="2323108"/>
                </a:cubicBezTo>
                <a:lnTo>
                  <a:pt x="16965" y="2413000"/>
                </a:lnTo>
                <a:lnTo>
                  <a:pt x="0" y="2216780"/>
                </a:lnTo>
                <a:lnTo>
                  <a:pt x="0" y="1419670"/>
                </a:lnTo>
                <a:cubicBezTo>
                  <a:pt x="0" y="635608"/>
                  <a:pt x="545125" y="0"/>
                  <a:pt x="1217572" y="0"/>
                </a:cubicBezTo>
                <a:close/>
              </a:path>
            </a:pathLst>
          </a:custGeom>
          <a:gradFill flip="none" rotWithShape="1">
            <a:gsLst>
              <a:gs pos="11000">
                <a:srgbClr val="FC853D"/>
              </a:gs>
              <a:gs pos="0">
                <a:srgbClr val="C44900"/>
              </a:gs>
              <a:gs pos="26000">
                <a:srgbClr val="C44900"/>
              </a:gs>
              <a:gs pos="72000">
                <a:srgbClr val="C44900"/>
              </a:gs>
              <a:gs pos="100000">
                <a:srgbClr val="C44900"/>
              </a:gs>
            </a:gsLst>
            <a:lin ang="0" scaled="1"/>
            <a:tileRect/>
          </a:gradFill>
          <a:ln>
            <a:noFill/>
          </a:ln>
          <a:effectLst>
            <a:outerShdw blurRad="203200" dist="88900" dir="2700000" algn="tl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C7ECB94-4E81-4F12-8C4E-E7D766F627C7}"/>
              </a:ext>
            </a:extLst>
          </p:cNvPr>
          <p:cNvSpPr/>
          <p:nvPr/>
        </p:nvSpPr>
        <p:spPr>
          <a:xfrm>
            <a:off x="4724399" y="2885915"/>
            <a:ext cx="4952152" cy="2413000"/>
          </a:xfrm>
          <a:custGeom>
            <a:avLst/>
            <a:gdLst>
              <a:gd name="connsiteX0" fmla="*/ 1217572 w 4952152"/>
              <a:gd name="connsiteY0" fmla="*/ 0 h 2413000"/>
              <a:gd name="connsiteX1" fmla="*/ 3996267 w 4952152"/>
              <a:gd name="connsiteY1" fmla="*/ 0 h 2413000"/>
              <a:gd name="connsiteX2" fmla="*/ 3996267 w 4952152"/>
              <a:gd name="connsiteY2" fmla="*/ 8469 h 2413000"/>
              <a:gd name="connsiteX3" fmla="*/ 4357368 w 4952152"/>
              <a:gd name="connsiteY3" fmla="*/ 8469 h 2413000"/>
              <a:gd name="connsiteX4" fmla="*/ 4952152 w 4952152"/>
              <a:gd name="connsiteY4" fmla="*/ 603252 h 2413000"/>
              <a:gd name="connsiteX5" fmla="*/ 4357368 w 4952152"/>
              <a:gd name="connsiteY5" fmla="*/ 1198035 h 2413000"/>
              <a:gd name="connsiteX6" fmla="*/ 2378285 w 4952152"/>
              <a:gd name="connsiteY6" fmla="*/ 1198035 h 2413000"/>
              <a:gd name="connsiteX7" fmla="*/ 2378285 w 4952152"/>
              <a:gd name="connsiteY7" fmla="*/ 1189550 h 2413000"/>
              <a:gd name="connsiteX8" fmla="*/ 1217572 w 4952152"/>
              <a:gd name="connsiteY8" fmla="*/ 1189550 h 2413000"/>
              <a:gd name="connsiteX9" fmla="*/ 24738 w 4952152"/>
              <a:gd name="connsiteY9" fmla="*/ 2323108 h 2413000"/>
              <a:gd name="connsiteX10" fmla="*/ 16965 w 4952152"/>
              <a:gd name="connsiteY10" fmla="*/ 2413000 h 2413000"/>
              <a:gd name="connsiteX11" fmla="*/ 0 w 4952152"/>
              <a:gd name="connsiteY11" fmla="*/ 2216780 h 2413000"/>
              <a:gd name="connsiteX12" fmla="*/ 0 w 4952152"/>
              <a:gd name="connsiteY12" fmla="*/ 1419670 h 2413000"/>
              <a:gd name="connsiteX13" fmla="*/ 1217572 w 4952152"/>
              <a:gd name="connsiteY13" fmla="*/ 0 h 2413000"/>
              <a:gd name="connsiteX0" fmla="*/ 1217572 w 4952152"/>
              <a:gd name="connsiteY0" fmla="*/ 0 h 2413000"/>
              <a:gd name="connsiteX1" fmla="*/ 3996267 w 4952152"/>
              <a:gd name="connsiteY1" fmla="*/ 0 h 2413000"/>
              <a:gd name="connsiteX2" fmla="*/ 3996267 w 4952152"/>
              <a:gd name="connsiteY2" fmla="*/ 8469 h 2413000"/>
              <a:gd name="connsiteX3" fmla="*/ 4357368 w 4952152"/>
              <a:gd name="connsiteY3" fmla="*/ 8469 h 2413000"/>
              <a:gd name="connsiteX4" fmla="*/ 4952152 w 4952152"/>
              <a:gd name="connsiteY4" fmla="*/ 603252 h 2413000"/>
              <a:gd name="connsiteX5" fmla="*/ 4357368 w 4952152"/>
              <a:gd name="connsiteY5" fmla="*/ 1198035 h 2413000"/>
              <a:gd name="connsiteX6" fmla="*/ 2378285 w 4952152"/>
              <a:gd name="connsiteY6" fmla="*/ 1198035 h 2413000"/>
              <a:gd name="connsiteX7" fmla="*/ 1217572 w 4952152"/>
              <a:gd name="connsiteY7" fmla="*/ 1189550 h 2413000"/>
              <a:gd name="connsiteX8" fmla="*/ 24738 w 4952152"/>
              <a:gd name="connsiteY8" fmla="*/ 2323108 h 2413000"/>
              <a:gd name="connsiteX9" fmla="*/ 16965 w 4952152"/>
              <a:gd name="connsiteY9" fmla="*/ 2413000 h 2413000"/>
              <a:gd name="connsiteX10" fmla="*/ 0 w 4952152"/>
              <a:gd name="connsiteY10" fmla="*/ 2216780 h 2413000"/>
              <a:gd name="connsiteX11" fmla="*/ 0 w 4952152"/>
              <a:gd name="connsiteY11" fmla="*/ 1419670 h 2413000"/>
              <a:gd name="connsiteX12" fmla="*/ 1217572 w 4952152"/>
              <a:gd name="connsiteY12" fmla="*/ 0 h 241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52152" h="2413000">
                <a:moveTo>
                  <a:pt x="1217572" y="0"/>
                </a:moveTo>
                <a:lnTo>
                  <a:pt x="3996267" y="0"/>
                </a:lnTo>
                <a:lnTo>
                  <a:pt x="3996267" y="8469"/>
                </a:lnTo>
                <a:lnTo>
                  <a:pt x="4357368" y="8469"/>
                </a:lnTo>
                <a:cubicBezTo>
                  <a:pt x="4685858" y="8469"/>
                  <a:pt x="4952152" y="274762"/>
                  <a:pt x="4952152" y="603252"/>
                </a:cubicBezTo>
                <a:cubicBezTo>
                  <a:pt x="4952152" y="931742"/>
                  <a:pt x="4685858" y="1198035"/>
                  <a:pt x="4357368" y="1198035"/>
                </a:cubicBezTo>
                <a:lnTo>
                  <a:pt x="2378285" y="1198035"/>
                </a:lnTo>
                <a:lnTo>
                  <a:pt x="1217572" y="1189550"/>
                </a:lnTo>
                <a:cubicBezTo>
                  <a:pt x="629181" y="1189550"/>
                  <a:pt x="138271" y="1676187"/>
                  <a:pt x="24738" y="2323108"/>
                </a:cubicBezTo>
                <a:lnTo>
                  <a:pt x="16965" y="2413000"/>
                </a:lnTo>
                <a:lnTo>
                  <a:pt x="0" y="2216780"/>
                </a:lnTo>
                <a:lnTo>
                  <a:pt x="0" y="1419670"/>
                </a:lnTo>
                <a:cubicBezTo>
                  <a:pt x="0" y="635608"/>
                  <a:pt x="545125" y="0"/>
                  <a:pt x="1217572" y="0"/>
                </a:cubicBezTo>
                <a:close/>
              </a:path>
            </a:pathLst>
          </a:custGeom>
          <a:gradFill flip="none" rotWithShape="1">
            <a:gsLst>
              <a:gs pos="11000">
                <a:srgbClr val="FBF5EB"/>
              </a:gs>
              <a:gs pos="0">
                <a:srgbClr val="EFD6AC"/>
              </a:gs>
              <a:gs pos="26000">
                <a:srgbClr val="EFD6AC"/>
              </a:gs>
              <a:gs pos="72000">
                <a:srgbClr val="EFD6AC"/>
              </a:gs>
              <a:gs pos="100000">
                <a:srgbClr val="EFD6AC"/>
              </a:gs>
            </a:gsLst>
            <a:lin ang="0" scaled="1"/>
            <a:tileRect/>
          </a:gradFill>
          <a:ln>
            <a:noFill/>
          </a:ln>
          <a:effectLst>
            <a:outerShdw blurRad="203200" dist="88900" dir="2700000" algn="tl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154942CA-E58D-4698-8288-D777C81D3855}"/>
              </a:ext>
            </a:extLst>
          </p:cNvPr>
          <p:cNvSpPr/>
          <p:nvPr/>
        </p:nvSpPr>
        <p:spPr>
          <a:xfrm>
            <a:off x="4724399" y="1704816"/>
            <a:ext cx="5333152" cy="2413000"/>
          </a:xfrm>
          <a:custGeom>
            <a:avLst/>
            <a:gdLst>
              <a:gd name="connsiteX0" fmla="*/ 1217572 w 5333152"/>
              <a:gd name="connsiteY0" fmla="*/ 0 h 2413000"/>
              <a:gd name="connsiteX1" fmla="*/ 3996267 w 5333152"/>
              <a:gd name="connsiteY1" fmla="*/ 0 h 2413000"/>
              <a:gd name="connsiteX2" fmla="*/ 3996267 w 5333152"/>
              <a:gd name="connsiteY2" fmla="*/ 1 h 2413000"/>
              <a:gd name="connsiteX3" fmla="*/ 4738368 w 5333152"/>
              <a:gd name="connsiteY3" fmla="*/ 1 h 2413000"/>
              <a:gd name="connsiteX4" fmla="*/ 5333152 w 5333152"/>
              <a:gd name="connsiteY4" fmla="*/ 594784 h 2413000"/>
              <a:gd name="connsiteX5" fmla="*/ 4738368 w 5333152"/>
              <a:gd name="connsiteY5" fmla="*/ 1189567 h 2413000"/>
              <a:gd name="connsiteX6" fmla="*/ 2759285 w 5333152"/>
              <a:gd name="connsiteY6" fmla="*/ 1189567 h 2413000"/>
              <a:gd name="connsiteX7" fmla="*/ 2759285 w 5333152"/>
              <a:gd name="connsiteY7" fmla="*/ 1189550 h 2413000"/>
              <a:gd name="connsiteX8" fmla="*/ 1217572 w 5333152"/>
              <a:gd name="connsiteY8" fmla="*/ 1189550 h 2413000"/>
              <a:gd name="connsiteX9" fmla="*/ 24738 w 5333152"/>
              <a:gd name="connsiteY9" fmla="*/ 2323108 h 2413000"/>
              <a:gd name="connsiteX10" fmla="*/ 16965 w 5333152"/>
              <a:gd name="connsiteY10" fmla="*/ 2413000 h 2413000"/>
              <a:gd name="connsiteX11" fmla="*/ 0 w 5333152"/>
              <a:gd name="connsiteY11" fmla="*/ 2216780 h 2413000"/>
              <a:gd name="connsiteX12" fmla="*/ 0 w 5333152"/>
              <a:gd name="connsiteY12" fmla="*/ 1419670 h 2413000"/>
              <a:gd name="connsiteX13" fmla="*/ 1217572 w 5333152"/>
              <a:gd name="connsiteY13" fmla="*/ 0 h 241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33152" h="2413000">
                <a:moveTo>
                  <a:pt x="1217572" y="0"/>
                </a:moveTo>
                <a:lnTo>
                  <a:pt x="3996267" y="0"/>
                </a:lnTo>
                <a:lnTo>
                  <a:pt x="3996267" y="1"/>
                </a:lnTo>
                <a:lnTo>
                  <a:pt x="4738368" y="1"/>
                </a:lnTo>
                <a:cubicBezTo>
                  <a:pt x="5066858" y="1"/>
                  <a:pt x="5333152" y="266294"/>
                  <a:pt x="5333152" y="594784"/>
                </a:cubicBezTo>
                <a:cubicBezTo>
                  <a:pt x="5333152" y="923274"/>
                  <a:pt x="5066858" y="1189567"/>
                  <a:pt x="4738368" y="1189567"/>
                </a:cubicBezTo>
                <a:lnTo>
                  <a:pt x="2759285" y="1189567"/>
                </a:lnTo>
                <a:lnTo>
                  <a:pt x="2759285" y="1189550"/>
                </a:lnTo>
                <a:lnTo>
                  <a:pt x="1217572" y="1189550"/>
                </a:lnTo>
                <a:cubicBezTo>
                  <a:pt x="629181" y="1189550"/>
                  <a:pt x="138271" y="1676187"/>
                  <a:pt x="24738" y="2323108"/>
                </a:cubicBezTo>
                <a:lnTo>
                  <a:pt x="16965" y="2413000"/>
                </a:lnTo>
                <a:lnTo>
                  <a:pt x="0" y="2216780"/>
                </a:lnTo>
                <a:lnTo>
                  <a:pt x="0" y="1419670"/>
                </a:lnTo>
                <a:cubicBezTo>
                  <a:pt x="0" y="635608"/>
                  <a:pt x="545125" y="0"/>
                  <a:pt x="1217572" y="0"/>
                </a:cubicBezTo>
                <a:close/>
              </a:path>
            </a:pathLst>
          </a:custGeom>
          <a:gradFill flip="none" rotWithShape="1">
            <a:gsLst>
              <a:gs pos="11000">
                <a:srgbClr val="398982"/>
              </a:gs>
              <a:gs pos="0">
                <a:srgbClr val="183A37"/>
              </a:gs>
              <a:gs pos="26000">
                <a:srgbClr val="183A37"/>
              </a:gs>
              <a:gs pos="72000">
                <a:srgbClr val="183A37"/>
              </a:gs>
              <a:gs pos="100000">
                <a:srgbClr val="183A37"/>
              </a:gs>
            </a:gsLst>
            <a:lin ang="0" scaled="1"/>
            <a:tileRect/>
          </a:gradFill>
          <a:ln>
            <a:noFill/>
          </a:ln>
          <a:effectLst>
            <a:outerShdw blurRad="203200" dist="88900" dir="2700000" algn="tl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8057EB4E-D814-4BCC-8B43-9285FD2ECB4B}"/>
              </a:ext>
            </a:extLst>
          </p:cNvPr>
          <p:cNvSpPr/>
          <p:nvPr/>
        </p:nvSpPr>
        <p:spPr>
          <a:xfrm>
            <a:off x="4724399" y="515250"/>
            <a:ext cx="5714152" cy="2413000"/>
          </a:xfrm>
          <a:custGeom>
            <a:avLst/>
            <a:gdLst>
              <a:gd name="connsiteX0" fmla="*/ 3140285 w 5714152"/>
              <a:gd name="connsiteY0" fmla="*/ 0 h 2413000"/>
              <a:gd name="connsiteX1" fmla="*/ 5119368 w 5714152"/>
              <a:gd name="connsiteY1" fmla="*/ 0 h 2413000"/>
              <a:gd name="connsiteX2" fmla="*/ 5714152 w 5714152"/>
              <a:gd name="connsiteY2" fmla="*/ 594783 h 2413000"/>
              <a:gd name="connsiteX3" fmla="*/ 5119368 w 5714152"/>
              <a:gd name="connsiteY3" fmla="*/ 1189566 h 2413000"/>
              <a:gd name="connsiteX4" fmla="*/ 3140285 w 5714152"/>
              <a:gd name="connsiteY4" fmla="*/ 1189566 h 2413000"/>
              <a:gd name="connsiteX5" fmla="*/ 3140285 w 5714152"/>
              <a:gd name="connsiteY5" fmla="*/ 1189550 h 2413000"/>
              <a:gd name="connsiteX6" fmla="*/ 1217572 w 5714152"/>
              <a:gd name="connsiteY6" fmla="*/ 1189550 h 2413000"/>
              <a:gd name="connsiteX7" fmla="*/ 24738 w 5714152"/>
              <a:gd name="connsiteY7" fmla="*/ 2323108 h 2413000"/>
              <a:gd name="connsiteX8" fmla="*/ 16965 w 5714152"/>
              <a:gd name="connsiteY8" fmla="*/ 2413000 h 2413000"/>
              <a:gd name="connsiteX9" fmla="*/ 0 w 5714152"/>
              <a:gd name="connsiteY9" fmla="*/ 2216780 h 2413000"/>
              <a:gd name="connsiteX10" fmla="*/ 0 w 5714152"/>
              <a:gd name="connsiteY10" fmla="*/ 1419670 h 2413000"/>
              <a:gd name="connsiteX11" fmla="*/ 1217572 w 5714152"/>
              <a:gd name="connsiteY11" fmla="*/ 0 h 2413000"/>
              <a:gd name="connsiteX12" fmla="*/ 3140285 w 5714152"/>
              <a:gd name="connsiteY12" fmla="*/ 0 h 241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714152" h="2413000">
                <a:moveTo>
                  <a:pt x="3140285" y="0"/>
                </a:moveTo>
                <a:lnTo>
                  <a:pt x="5119368" y="0"/>
                </a:lnTo>
                <a:cubicBezTo>
                  <a:pt x="5447858" y="0"/>
                  <a:pt x="5714152" y="266293"/>
                  <a:pt x="5714152" y="594783"/>
                </a:cubicBezTo>
                <a:cubicBezTo>
                  <a:pt x="5714152" y="923273"/>
                  <a:pt x="5447858" y="1189566"/>
                  <a:pt x="5119368" y="1189566"/>
                </a:cubicBezTo>
                <a:lnTo>
                  <a:pt x="3140285" y="1189566"/>
                </a:lnTo>
                <a:lnTo>
                  <a:pt x="3140285" y="1189550"/>
                </a:lnTo>
                <a:lnTo>
                  <a:pt x="1217572" y="1189550"/>
                </a:lnTo>
                <a:cubicBezTo>
                  <a:pt x="629181" y="1189550"/>
                  <a:pt x="138271" y="1676187"/>
                  <a:pt x="24738" y="2323108"/>
                </a:cubicBezTo>
                <a:lnTo>
                  <a:pt x="16965" y="2413000"/>
                </a:lnTo>
                <a:lnTo>
                  <a:pt x="0" y="2216780"/>
                </a:lnTo>
                <a:lnTo>
                  <a:pt x="0" y="1419670"/>
                </a:lnTo>
                <a:cubicBezTo>
                  <a:pt x="0" y="635608"/>
                  <a:pt x="545125" y="0"/>
                  <a:pt x="1217572" y="0"/>
                </a:cubicBezTo>
                <a:lnTo>
                  <a:pt x="3140285" y="0"/>
                </a:lnTo>
                <a:close/>
              </a:path>
            </a:pathLst>
          </a:custGeom>
          <a:gradFill flip="none" rotWithShape="1">
            <a:gsLst>
              <a:gs pos="11000">
                <a:srgbClr val="11557F"/>
              </a:gs>
              <a:gs pos="0">
                <a:srgbClr val="04151F"/>
              </a:gs>
              <a:gs pos="26000">
                <a:srgbClr val="04151F"/>
              </a:gs>
              <a:gs pos="72000">
                <a:srgbClr val="04151F"/>
              </a:gs>
              <a:gs pos="100000">
                <a:srgbClr val="04151F"/>
              </a:gs>
            </a:gsLst>
            <a:lin ang="0" scaled="1"/>
            <a:tileRect/>
          </a:gradFill>
          <a:ln>
            <a:noFill/>
          </a:ln>
          <a:effectLst>
            <a:outerShdw blurRad="203200" dist="88900" dir="2700000" algn="tl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88D41C8-D7A5-4418-A813-EFE93AF7FA89}"/>
              </a:ext>
            </a:extLst>
          </p:cNvPr>
          <p:cNvSpPr/>
          <p:nvPr/>
        </p:nvSpPr>
        <p:spPr>
          <a:xfrm>
            <a:off x="9364129" y="623200"/>
            <a:ext cx="973667" cy="97366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1778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1C15CAE-8AA4-45DE-B4CD-A5980709A573}"/>
              </a:ext>
            </a:extLst>
          </p:cNvPr>
          <p:cNvSpPr/>
          <p:nvPr/>
        </p:nvSpPr>
        <p:spPr>
          <a:xfrm>
            <a:off x="8979749" y="1808532"/>
            <a:ext cx="973667" cy="97366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1778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EB8F7C1-3D17-4A0D-9353-5AD4F34603CA}"/>
              </a:ext>
            </a:extLst>
          </p:cNvPr>
          <p:cNvSpPr/>
          <p:nvPr/>
        </p:nvSpPr>
        <p:spPr>
          <a:xfrm>
            <a:off x="8595369" y="2993864"/>
            <a:ext cx="973667" cy="97366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1778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F3FEE88-0429-4617-BA0D-451577C4E0D2}"/>
              </a:ext>
            </a:extLst>
          </p:cNvPr>
          <p:cNvSpPr/>
          <p:nvPr/>
        </p:nvSpPr>
        <p:spPr>
          <a:xfrm>
            <a:off x="8210989" y="4179196"/>
            <a:ext cx="973667" cy="97366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1778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1" name="Graphic 50" descr="Bar graph with upward trend with solid fill">
            <a:extLst>
              <a:ext uri="{FF2B5EF4-FFF2-40B4-BE49-F238E27FC236}">
                <a16:creationId xmlns:a16="http://schemas.microsoft.com/office/drawing/2014/main" id="{25F69AB0-AF72-42B0-B735-FD8F88F21B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7464" y="3268297"/>
            <a:ext cx="570851" cy="570851"/>
          </a:xfrm>
          <a:prstGeom prst="rect">
            <a:avLst/>
          </a:prstGeom>
        </p:spPr>
      </p:pic>
      <p:pic>
        <p:nvPicPr>
          <p:cNvPr id="52" name="Graphic 51" descr="Scatterplot with solid fill">
            <a:extLst>
              <a:ext uri="{FF2B5EF4-FFF2-40B4-BE49-F238E27FC236}">
                <a16:creationId xmlns:a16="http://schemas.microsoft.com/office/drawing/2014/main" id="{B6337942-015A-4431-9D3A-E6297B5471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8166" y="2076617"/>
            <a:ext cx="570851" cy="570851"/>
          </a:xfrm>
          <a:prstGeom prst="rect">
            <a:avLst/>
          </a:prstGeom>
        </p:spPr>
      </p:pic>
      <p:pic>
        <p:nvPicPr>
          <p:cNvPr id="53" name="Graphic 52" descr="Bar chart with solid fill">
            <a:extLst>
              <a:ext uri="{FF2B5EF4-FFF2-40B4-BE49-F238E27FC236}">
                <a16:creationId xmlns:a16="http://schemas.microsoft.com/office/drawing/2014/main" id="{2262FE83-F28C-40B9-A318-9FECA2B2749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31069" y="4413711"/>
            <a:ext cx="570851" cy="570851"/>
          </a:xfrm>
          <a:prstGeom prst="rect">
            <a:avLst/>
          </a:prstGeom>
        </p:spPr>
      </p:pic>
      <p:pic>
        <p:nvPicPr>
          <p:cNvPr id="54" name="Graphic 53" descr="Upward trend with solid fill">
            <a:extLst>
              <a:ext uri="{FF2B5EF4-FFF2-40B4-BE49-F238E27FC236}">
                <a16:creationId xmlns:a16="http://schemas.microsoft.com/office/drawing/2014/main" id="{94852D78-5194-4FC1-934B-67D821D55C0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62112" y="5578639"/>
            <a:ext cx="570851" cy="570851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87201686-7F1F-4516-ADDA-FDC8D3015F5B}"/>
              </a:ext>
            </a:extLst>
          </p:cNvPr>
          <p:cNvSpPr txBox="1"/>
          <p:nvPr/>
        </p:nvSpPr>
        <p:spPr>
          <a:xfrm>
            <a:off x="9450016" y="786867"/>
            <a:ext cx="801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C853D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04</a:t>
            </a:r>
            <a:endParaRPr lang="en-IN" sz="2000" dirty="0">
              <a:solidFill>
                <a:srgbClr val="FC853D"/>
              </a:solidFill>
              <a:latin typeface="Economica" panose="02000506040000020004" pitchFamily="2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75BF3C9-C93A-4AD1-B655-F376D69A1D5D}"/>
              </a:ext>
            </a:extLst>
          </p:cNvPr>
          <p:cNvSpPr txBox="1"/>
          <p:nvPr/>
        </p:nvSpPr>
        <p:spPr>
          <a:xfrm>
            <a:off x="9065636" y="1953665"/>
            <a:ext cx="801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EFD6AC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03</a:t>
            </a:r>
            <a:endParaRPr lang="en-IN" sz="2000" dirty="0">
              <a:solidFill>
                <a:srgbClr val="EFD6AC"/>
              </a:solidFill>
              <a:latin typeface="Economica" panose="02000506040000020004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1DEC01D-1029-4C1D-BBAE-BF14A9210432}"/>
              </a:ext>
            </a:extLst>
          </p:cNvPr>
          <p:cNvSpPr txBox="1"/>
          <p:nvPr/>
        </p:nvSpPr>
        <p:spPr>
          <a:xfrm>
            <a:off x="8664690" y="3157531"/>
            <a:ext cx="801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183A3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02</a:t>
            </a:r>
            <a:endParaRPr lang="en-IN" sz="2000" dirty="0">
              <a:solidFill>
                <a:srgbClr val="183A37"/>
              </a:solidFill>
              <a:latin typeface="Economica" panose="02000506040000020004" pitchFamily="2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45E4400-66E3-44DA-A5EA-C3A98DA47D57}"/>
              </a:ext>
            </a:extLst>
          </p:cNvPr>
          <p:cNvSpPr txBox="1"/>
          <p:nvPr/>
        </p:nvSpPr>
        <p:spPr>
          <a:xfrm>
            <a:off x="8314918" y="4375970"/>
            <a:ext cx="801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04151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01</a:t>
            </a:r>
            <a:endParaRPr lang="en-IN" sz="2000" dirty="0">
              <a:solidFill>
                <a:srgbClr val="04151F"/>
              </a:solidFill>
              <a:latin typeface="Economica" panose="02000506040000020004" pitchFamily="2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1B4DFC6-A671-4B18-AF8D-124848318068}"/>
              </a:ext>
            </a:extLst>
          </p:cNvPr>
          <p:cNvSpPr txBox="1"/>
          <p:nvPr/>
        </p:nvSpPr>
        <p:spPr>
          <a:xfrm>
            <a:off x="5751923" y="4284910"/>
            <a:ext cx="2242745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Result Display </a:t>
            </a:r>
            <a:br>
              <a:rPr lang="en-IN" sz="1600" dirty="0">
                <a:solidFill>
                  <a:schemeClr val="bg1"/>
                </a:solidFill>
              </a:rPr>
            </a:br>
            <a:r>
              <a:rPr lang="en-US" sz="1050" dirty="0">
                <a:solidFill>
                  <a:schemeClr val="bg1"/>
                </a:solidFill>
              </a:rPr>
              <a:t>The final credibility result with confidence score and verification status is shown to the user</a:t>
            </a:r>
            <a:r>
              <a:rPr lang="en-US" sz="1050" dirty="0"/>
              <a:t>.</a:t>
            </a:r>
            <a:endParaRPr lang="en-IN" sz="1050" dirty="0">
              <a:latin typeface="Economica" panose="02000506040000020004" pitchFamily="2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03A2BC8-2F02-44BD-A2C6-6E6AE4D3B7BE}"/>
              </a:ext>
            </a:extLst>
          </p:cNvPr>
          <p:cNvSpPr txBox="1"/>
          <p:nvPr/>
        </p:nvSpPr>
        <p:spPr>
          <a:xfrm>
            <a:off x="6481254" y="670099"/>
            <a:ext cx="2242745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News Input </a:t>
            </a:r>
            <a:br>
              <a:rPr lang="en-IN" sz="1600" dirty="0">
                <a:solidFill>
                  <a:schemeClr val="bg1"/>
                </a:solidFill>
              </a:rPr>
            </a:br>
            <a:r>
              <a:rPr lang="en-US" sz="1050" dirty="0">
                <a:solidFill>
                  <a:schemeClr val="bg1"/>
                </a:solidFill>
              </a:rPr>
              <a:t>User submits news text or a source URL through the application interface for analysis.</a:t>
            </a:r>
            <a:endParaRPr lang="en-IN" sz="1050" dirty="0">
              <a:solidFill>
                <a:schemeClr val="bg1"/>
              </a:solidFill>
              <a:latin typeface="Economica" panose="02000506040000020004" pitchFamily="2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5CC73B4-14D9-4B11-A8AC-0B3AB6C382B9}"/>
              </a:ext>
            </a:extLst>
          </p:cNvPr>
          <p:cNvSpPr txBox="1"/>
          <p:nvPr/>
        </p:nvSpPr>
        <p:spPr>
          <a:xfrm>
            <a:off x="6259227" y="1901911"/>
            <a:ext cx="224274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NLP Processing</a:t>
            </a:r>
            <a:br>
              <a:rPr lang="en-IN" sz="1600" dirty="0">
                <a:solidFill>
                  <a:schemeClr val="bg1"/>
                </a:solidFill>
              </a:rPr>
            </a:br>
            <a:r>
              <a:rPr lang="en-US" sz="1050" dirty="0">
                <a:solidFill>
                  <a:schemeClr val="bg1"/>
                </a:solidFill>
              </a:rPr>
              <a:t>The system cleans the text, removes </a:t>
            </a:r>
            <a:r>
              <a:rPr lang="en-US" sz="1050" dirty="0" err="1">
                <a:solidFill>
                  <a:schemeClr val="bg1"/>
                </a:solidFill>
              </a:rPr>
              <a:t>stopwords</a:t>
            </a:r>
            <a:r>
              <a:rPr lang="en-US" sz="1050" dirty="0">
                <a:solidFill>
                  <a:schemeClr val="bg1"/>
                </a:solidFill>
              </a:rPr>
              <a:t>, and extracts meaningful linguistic features.</a:t>
            </a:r>
          </a:p>
          <a:p>
            <a:pPr algn="ctr"/>
            <a:endParaRPr lang="en-IN" sz="1050" dirty="0">
              <a:solidFill>
                <a:srgbClr val="EFD6AC"/>
              </a:solidFill>
              <a:latin typeface="Economica" panose="02000506040000020004" pitchFamily="2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0EAF0E7-F78E-4C85-B9D9-D4E481AAB43D}"/>
              </a:ext>
            </a:extLst>
          </p:cNvPr>
          <p:cNvSpPr txBox="1"/>
          <p:nvPr/>
        </p:nvSpPr>
        <p:spPr>
          <a:xfrm>
            <a:off x="5994659" y="3137676"/>
            <a:ext cx="2242745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AI Classification 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</a:rPr>
              <a:t>Machine learning models analyze the processed text and classify it as Real, Fake, or Suspicious.</a:t>
            </a:r>
            <a:endParaRPr lang="en-IN" sz="1050" dirty="0">
              <a:solidFill>
                <a:schemeClr val="bg1"/>
              </a:solidFill>
              <a:latin typeface="Economica" panose="02000506040000020004" pitchFamily="2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AF242D3-578E-4B78-95A0-57308B46328D}"/>
              </a:ext>
            </a:extLst>
          </p:cNvPr>
          <p:cNvSpPr txBox="1"/>
          <p:nvPr/>
        </p:nvSpPr>
        <p:spPr>
          <a:xfrm>
            <a:off x="284891" y="150380"/>
            <a:ext cx="423928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4 Step Rectangular Infographic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  <a:latin typeface="Economica" panose="0200050604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747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D5A294B5-FD25-49EF-AECD-E442225A9501}"/>
              </a:ext>
            </a:extLst>
          </p:cNvPr>
          <p:cNvSpPr/>
          <p:nvPr/>
        </p:nvSpPr>
        <p:spPr>
          <a:xfrm>
            <a:off x="4884798" y="2217798"/>
            <a:ext cx="2422405" cy="2422405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88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2643250-0EAB-4E29-9F4B-866A59001718}"/>
              </a:ext>
            </a:extLst>
          </p:cNvPr>
          <p:cNvGrpSpPr/>
          <p:nvPr/>
        </p:nvGrpSpPr>
        <p:grpSpPr>
          <a:xfrm>
            <a:off x="4617312" y="741469"/>
            <a:ext cx="1961720" cy="2465203"/>
            <a:chOff x="4617312" y="741469"/>
            <a:chExt cx="1961720" cy="2465203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565CDC5-5D45-414D-92A7-A1ADC9F51E30}"/>
                </a:ext>
              </a:extLst>
            </p:cNvPr>
            <p:cNvSpPr/>
            <p:nvPr/>
          </p:nvSpPr>
          <p:spPr>
            <a:xfrm rot="1802297">
              <a:off x="5091321" y="741469"/>
              <a:ext cx="1155360" cy="1158621"/>
            </a:xfrm>
            <a:custGeom>
              <a:avLst/>
              <a:gdLst>
                <a:gd name="connsiteX0" fmla="*/ 287952 w 1155360"/>
                <a:gd name="connsiteY0" fmla="*/ 77891 h 1158621"/>
                <a:gd name="connsiteX1" fmla="*/ 1079315 w 1155360"/>
                <a:gd name="connsiteY1" fmla="*/ 289369 h 1158621"/>
                <a:gd name="connsiteX2" fmla="*/ 1152769 w 1155360"/>
                <a:gd name="connsiteY2" fmla="*/ 507330 h 1158621"/>
                <a:gd name="connsiteX3" fmla="*/ 1155360 w 1155360"/>
                <a:gd name="connsiteY3" fmla="*/ 603331 h 1158621"/>
                <a:gd name="connsiteX4" fmla="*/ 1154757 w 1155360"/>
                <a:gd name="connsiteY4" fmla="*/ 621153 h 1158621"/>
                <a:gd name="connsiteX5" fmla="*/ 1154877 w 1155360"/>
                <a:gd name="connsiteY5" fmla="*/ 624695 h 1158621"/>
                <a:gd name="connsiteX6" fmla="*/ 1137472 w 1155360"/>
                <a:gd name="connsiteY6" fmla="*/ 728849 h 1158621"/>
                <a:gd name="connsiteX7" fmla="*/ 867836 w 1155360"/>
                <a:gd name="connsiteY7" fmla="*/ 1080732 h 1158621"/>
                <a:gd name="connsiteX8" fmla="*/ 76474 w 1155360"/>
                <a:gd name="connsiteY8" fmla="*/ 869253 h 1158621"/>
                <a:gd name="connsiteX9" fmla="*/ 42803 w 1155360"/>
                <a:gd name="connsiteY9" fmla="*/ 794617 h 1158621"/>
                <a:gd name="connsiteX10" fmla="*/ 40758 w 1155360"/>
                <a:gd name="connsiteY10" fmla="*/ 789161 h 1158621"/>
                <a:gd name="connsiteX11" fmla="*/ 6529 w 1155360"/>
                <a:gd name="connsiteY11" fmla="*/ 665624 h 1158621"/>
                <a:gd name="connsiteX12" fmla="*/ 2844 w 1155360"/>
                <a:gd name="connsiteY12" fmla="*/ 644778 h 1158621"/>
                <a:gd name="connsiteX13" fmla="*/ 0 w 1155360"/>
                <a:gd name="connsiteY13" fmla="*/ 539387 h 1158621"/>
                <a:gd name="connsiteX14" fmla="*/ 287952 w 1155360"/>
                <a:gd name="connsiteY14" fmla="*/ 77891 h 1158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5360" h="1158621">
                  <a:moveTo>
                    <a:pt x="287952" y="77891"/>
                  </a:moveTo>
                  <a:cubicBezTo>
                    <a:pt x="564879" y="-82240"/>
                    <a:pt x="919184" y="12442"/>
                    <a:pt x="1079315" y="289369"/>
                  </a:cubicBezTo>
                  <a:cubicBezTo>
                    <a:pt x="1119347" y="358601"/>
                    <a:pt x="1143454" y="432669"/>
                    <a:pt x="1152769" y="507330"/>
                  </a:cubicBezTo>
                  <a:lnTo>
                    <a:pt x="1155360" y="603331"/>
                  </a:lnTo>
                  <a:lnTo>
                    <a:pt x="1154757" y="621153"/>
                  </a:lnTo>
                  <a:lnTo>
                    <a:pt x="1154877" y="624695"/>
                  </a:lnTo>
                  <a:lnTo>
                    <a:pt x="1137472" y="728849"/>
                  </a:lnTo>
                  <a:cubicBezTo>
                    <a:pt x="1099202" y="872058"/>
                    <a:pt x="1006300" y="1000666"/>
                    <a:pt x="867836" y="1080732"/>
                  </a:cubicBezTo>
                  <a:cubicBezTo>
                    <a:pt x="590910" y="1240862"/>
                    <a:pt x="236604" y="1146180"/>
                    <a:pt x="76474" y="869253"/>
                  </a:cubicBezTo>
                  <a:lnTo>
                    <a:pt x="42803" y="794617"/>
                  </a:lnTo>
                  <a:lnTo>
                    <a:pt x="40758" y="789161"/>
                  </a:lnTo>
                  <a:cubicBezTo>
                    <a:pt x="27262" y="747774"/>
                    <a:pt x="15836" y="706545"/>
                    <a:pt x="6529" y="665624"/>
                  </a:cubicBezTo>
                  <a:lnTo>
                    <a:pt x="2844" y="644778"/>
                  </a:lnTo>
                  <a:lnTo>
                    <a:pt x="0" y="539387"/>
                  </a:lnTo>
                  <a:cubicBezTo>
                    <a:pt x="12983" y="353904"/>
                    <a:pt x="114873" y="177973"/>
                    <a:pt x="287952" y="77891"/>
                  </a:cubicBezTo>
                  <a:close/>
                </a:path>
              </a:pathLst>
            </a:custGeom>
            <a:solidFill>
              <a:srgbClr val="E0A4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0AEC44A-2431-4753-9D1E-F41494403EE2}"/>
                </a:ext>
              </a:extLst>
            </p:cNvPr>
            <p:cNvSpPr/>
            <p:nvPr/>
          </p:nvSpPr>
          <p:spPr>
            <a:xfrm rot="1802297">
              <a:off x="5309032" y="1649642"/>
              <a:ext cx="1258308" cy="1557030"/>
            </a:xfrm>
            <a:custGeom>
              <a:avLst/>
              <a:gdLst>
                <a:gd name="connsiteX0" fmla="*/ 418992 w 1258308"/>
                <a:gd name="connsiteY0" fmla="*/ 0 h 1557030"/>
                <a:gd name="connsiteX1" fmla="*/ 424401 w 1258308"/>
                <a:gd name="connsiteY1" fmla="*/ 159949 h 1557030"/>
                <a:gd name="connsiteX2" fmla="*/ 1171217 w 1258308"/>
                <a:gd name="connsiteY2" fmla="*/ 1523588 h 1557030"/>
                <a:gd name="connsiteX3" fmla="*/ 1258308 w 1258308"/>
                <a:gd name="connsiteY3" fmla="*/ 1557030 h 1557030"/>
                <a:gd name="connsiteX4" fmla="*/ 1115747 w 1258308"/>
                <a:gd name="connsiteY4" fmla="*/ 1530761 h 1557030"/>
                <a:gd name="connsiteX5" fmla="*/ 132101 w 1258308"/>
                <a:gd name="connsiteY5" fmla="*/ 811933 h 1557030"/>
                <a:gd name="connsiteX6" fmla="*/ 2595 w 1258308"/>
                <a:gd name="connsiteY6" fmla="*/ 519833 h 1557030"/>
                <a:gd name="connsiteX7" fmla="*/ 0 w 1258308"/>
                <a:gd name="connsiteY7" fmla="*/ 509961 h 1557030"/>
                <a:gd name="connsiteX8" fmla="*/ 25007 w 1258308"/>
                <a:gd name="connsiteY8" fmla="*/ 504283 h 1557030"/>
                <a:gd name="connsiteX9" fmla="*/ 131952 w 1258308"/>
                <a:gd name="connsiteY9" fmla="*/ 456037 h 1557030"/>
                <a:gd name="connsiteX10" fmla="*/ 401587 w 1258308"/>
                <a:gd name="connsiteY10" fmla="*/ 104154 h 1557030"/>
                <a:gd name="connsiteX11" fmla="*/ 418992 w 1258308"/>
                <a:gd name="connsiteY11" fmla="*/ 0 h 1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58308" h="1557030">
                  <a:moveTo>
                    <a:pt x="418992" y="0"/>
                  </a:moveTo>
                  <a:lnTo>
                    <a:pt x="424401" y="159949"/>
                  </a:lnTo>
                  <a:cubicBezTo>
                    <a:pt x="468267" y="805001"/>
                    <a:pt x="768875" y="1336708"/>
                    <a:pt x="1171217" y="1523588"/>
                  </a:cubicBezTo>
                  <a:lnTo>
                    <a:pt x="1258308" y="1557030"/>
                  </a:lnTo>
                  <a:lnTo>
                    <a:pt x="1115747" y="1530761"/>
                  </a:lnTo>
                  <a:cubicBezTo>
                    <a:pt x="709950" y="1435881"/>
                    <a:pt x="350006" y="1188775"/>
                    <a:pt x="132101" y="811933"/>
                  </a:cubicBezTo>
                  <a:cubicBezTo>
                    <a:pt x="77624" y="717723"/>
                    <a:pt x="34604" y="619863"/>
                    <a:pt x="2595" y="519833"/>
                  </a:cubicBezTo>
                  <a:lnTo>
                    <a:pt x="0" y="509961"/>
                  </a:lnTo>
                  <a:lnTo>
                    <a:pt x="25007" y="504283"/>
                  </a:lnTo>
                  <a:cubicBezTo>
                    <a:pt x="61511" y="492088"/>
                    <a:pt x="97336" y="476053"/>
                    <a:pt x="131952" y="456037"/>
                  </a:cubicBezTo>
                  <a:cubicBezTo>
                    <a:pt x="270415" y="375971"/>
                    <a:pt x="363317" y="247363"/>
                    <a:pt x="401587" y="104154"/>
                  </a:cubicBezTo>
                  <a:lnTo>
                    <a:pt x="418992" y="0"/>
                  </a:lnTo>
                  <a:close/>
                </a:path>
              </a:pathLst>
            </a:custGeom>
            <a:solidFill>
              <a:srgbClr val="F0B1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F27CD56-1923-46ED-B30C-49C15D007500}"/>
                </a:ext>
              </a:extLst>
            </p:cNvPr>
            <p:cNvSpPr/>
            <p:nvPr/>
          </p:nvSpPr>
          <p:spPr>
            <a:xfrm rot="1802297">
              <a:off x="4617312" y="1636742"/>
              <a:ext cx="1961720" cy="1394938"/>
            </a:xfrm>
            <a:custGeom>
              <a:avLst/>
              <a:gdLst>
                <a:gd name="connsiteX0" fmla="*/ 0 w 1961720"/>
                <a:gd name="connsiteY0" fmla="*/ 0 h 1394938"/>
                <a:gd name="connsiteX1" fmla="*/ 33670 w 1961720"/>
                <a:gd name="connsiteY1" fmla="*/ 74636 h 1394938"/>
                <a:gd name="connsiteX2" fmla="*/ 607072 w 1961720"/>
                <a:gd name="connsiteY2" fmla="*/ 359569 h 1394938"/>
                <a:gd name="connsiteX3" fmla="*/ 693081 w 1961720"/>
                <a:gd name="connsiteY3" fmla="*/ 340039 h 1394938"/>
                <a:gd name="connsiteX4" fmla="*/ 695676 w 1961720"/>
                <a:gd name="connsiteY4" fmla="*/ 349911 h 1394938"/>
                <a:gd name="connsiteX5" fmla="*/ 825182 w 1961720"/>
                <a:gd name="connsiteY5" fmla="*/ 642011 h 1394938"/>
                <a:gd name="connsiteX6" fmla="*/ 1808828 w 1961720"/>
                <a:gd name="connsiteY6" fmla="*/ 1360839 h 1394938"/>
                <a:gd name="connsiteX7" fmla="*/ 1951389 w 1961720"/>
                <a:gd name="connsiteY7" fmla="*/ 1387108 h 1394938"/>
                <a:gd name="connsiteX8" fmla="*/ 1961720 w 1961720"/>
                <a:gd name="connsiteY8" fmla="*/ 1391075 h 1394938"/>
                <a:gd name="connsiteX9" fmla="*/ 1904862 w 1961720"/>
                <a:gd name="connsiteY9" fmla="*/ 1394765 h 1394938"/>
                <a:gd name="connsiteX10" fmla="*/ 693695 w 1961720"/>
                <a:gd name="connsiteY10" fmla="*/ 939388 h 1394938"/>
                <a:gd name="connsiteX11" fmla="*/ 44602 w 1961720"/>
                <a:gd name="connsiteY11" fmla="*/ 119019 h 1394938"/>
                <a:gd name="connsiteX12" fmla="*/ 0 w 1961720"/>
                <a:gd name="connsiteY12" fmla="*/ 0 h 1394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61720" h="1394938">
                  <a:moveTo>
                    <a:pt x="0" y="0"/>
                  </a:moveTo>
                  <a:lnTo>
                    <a:pt x="33670" y="74636"/>
                  </a:lnTo>
                  <a:cubicBezTo>
                    <a:pt x="153768" y="282331"/>
                    <a:pt x="383090" y="387513"/>
                    <a:pt x="607072" y="359569"/>
                  </a:cubicBezTo>
                  <a:lnTo>
                    <a:pt x="693081" y="340039"/>
                  </a:lnTo>
                  <a:lnTo>
                    <a:pt x="695676" y="349911"/>
                  </a:lnTo>
                  <a:cubicBezTo>
                    <a:pt x="727685" y="449941"/>
                    <a:pt x="770705" y="547801"/>
                    <a:pt x="825182" y="642011"/>
                  </a:cubicBezTo>
                  <a:cubicBezTo>
                    <a:pt x="1043087" y="1018853"/>
                    <a:pt x="1403031" y="1265959"/>
                    <a:pt x="1808828" y="1360839"/>
                  </a:cubicBezTo>
                  <a:lnTo>
                    <a:pt x="1951389" y="1387108"/>
                  </a:lnTo>
                  <a:lnTo>
                    <a:pt x="1961720" y="1391075"/>
                  </a:lnTo>
                  <a:lnTo>
                    <a:pt x="1904862" y="1394765"/>
                  </a:lnTo>
                  <a:cubicBezTo>
                    <a:pt x="1527227" y="1400861"/>
                    <a:pt x="1084440" y="1246115"/>
                    <a:pt x="693695" y="939388"/>
                  </a:cubicBezTo>
                  <a:cubicBezTo>
                    <a:pt x="389783" y="700823"/>
                    <a:pt x="167705" y="409842"/>
                    <a:pt x="44602" y="11901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3C9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3F8F804-AC7B-4334-86D2-A4C26A289F8E}"/>
              </a:ext>
            </a:extLst>
          </p:cNvPr>
          <p:cNvGrpSpPr/>
          <p:nvPr/>
        </p:nvGrpSpPr>
        <p:grpSpPr>
          <a:xfrm rot="2700000">
            <a:off x="5792822" y="825983"/>
            <a:ext cx="1961720" cy="2465203"/>
            <a:chOff x="4617312" y="741469"/>
            <a:chExt cx="1961720" cy="246520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47FFA0E-3843-4D75-A5F3-518068D38F94}"/>
                </a:ext>
              </a:extLst>
            </p:cNvPr>
            <p:cNvSpPr/>
            <p:nvPr/>
          </p:nvSpPr>
          <p:spPr>
            <a:xfrm rot="1802297">
              <a:off x="5091321" y="741469"/>
              <a:ext cx="1155360" cy="1158621"/>
            </a:xfrm>
            <a:custGeom>
              <a:avLst/>
              <a:gdLst>
                <a:gd name="connsiteX0" fmla="*/ 287952 w 1155360"/>
                <a:gd name="connsiteY0" fmla="*/ 77891 h 1158621"/>
                <a:gd name="connsiteX1" fmla="*/ 1079315 w 1155360"/>
                <a:gd name="connsiteY1" fmla="*/ 289369 h 1158621"/>
                <a:gd name="connsiteX2" fmla="*/ 1152769 w 1155360"/>
                <a:gd name="connsiteY2" fmla="*/ 507330 h 1158621"/>
                <a:gd name="connsiteX3" fmla="*/ 1155360 w 1155360"/>
                <a:gd name="connsiteY3" fmla="*/ 603331 h 1158621"/>
                <a:gd name="connsiteX4" fmla="*/ 1154757 w 1155360"/>
                <a:gd name="connsiteY4" fmla="*/ 621153 h 1158621"/>
                <a:gd name="connsiteX5" fmla="*/ 1154877 w 1155360"/>
                <a:gd name="connsiteY5" fmla="*/ 624695 h 1158621"/>
                <a:gd name="connsiteX6" fmla="*/ 1137472 w 1155360"/>
                <a:gd name="connsiteY6" fmla="*/ 728849 h 1158621"/>
                <a:gd name="connsiteX7" fmla="*/ 867836 w 1155360"/>
                <a:gd name="connsiteY7" fmla="*/ 1080732 h 1158621"/>
                <a:gd name="connsiteX8" fmla="*/ 76474 w 1155360"/>
                <a:gd name="connsiteY8" fmla="*/ 869253 h 1158621"/>
                <a:gd name="connsiteX9" fmla="*/ 42803 w 1155360"/>
                <a:gd name="connsiteY9" fmla="*/ 794617 h 1158621"/>
                <a:gd name="connsiteX10" fmla="*/ 40758 w 1155360"/>
                <a:gd name="connsiteY10" fmla="*/ 789161 h 1158621"/>
                <a:gd name="connsiteX11" fmla="*/ 6529 w 1155360"/>
                <a:gd name="connsiteY11" fmla="*/ 665624 h 1158621"/>
                <a:gd name="connsiteX12" fmla="*/ 2844 w 1155360"/>
                <a:gd name="connsiteY12" fmla="*/ 644778 h 1158621"/>
                <a:gd name="connsiteX13" fmla="*/ 0 w 1155360"/>
                <a:gd name="connsiteY13" fmla="*/ 539387 h 1158621"/>
                <a:gd name="connsiteX14" fmla="*/ 287952 w 1155360"/>
                <a:gd name="connsiteY14" fmla="*/ 77891 h 1158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5360" h="1158621">
                  <a:moveTo>
                    <a:pt x="287952" y="77891"/>
                  </a:moveTo>
                  <a:cubicBezTo>
                    <a:pt x="564879" y="-82240"/>
                    <a:pt x="919184" y="12442"/>
                    <a:pt x="1079315" y="289369"/>
                  </a:cubicBezTo>
                  <a:cubicBezTo>
                    <a:pt x="1119347" y="358601"/>
                    <a:pt x="1143454" y="432669"/>
                    <a:pt x="1152769" y="507330"/>
                  </a:cubicBezTo>
                  <a:lnTo>
                    <a:pt x="1155360" y="603331"/>
                  </a:lnTo>
                  <a:lnTo>
                    <a:pt x="1154757" y="621153"/>
                  </a:lnTo>
                  <a:lnTo>
                    <a:pt x="1154877" y="624695"/>
                  </a:lnTo>
                  <a:lnTo>
                    <a:pt x="1137472" y="728849"/>
                  </a:lnTo>
                  <a:cubicBezTo>
                    <a:pt x="1099202" y="872058"/>
                    <a:pt x="1006300" y="1000666"/>
                    <a:pt x="867836" y="1080732"/>
                  </a:cubicBezTo>
                  <a:cubicBezTo>
                    <a:pt x="590910" y="1240862"/>
                    <a:pt x="236604" y="1146180"/>
                    <a:pt x="76474" y="869253"/>
                  </a:cubicBezTo>
                  <a:lnTo>
                    <a:pt x="42803" y="794617"/>
                  </a:lnTo>
                  <a:lnTo>
                    <a:pt x="40758" y="789161"/>
                  </a:lnTo>
                  <a:cubicBezTo>
                    <a:pt x="27262" y="747774"/>
                    <a:pt x="15836" y="706545"/>
                    <a:pt x="6529" y="665624"/>
                  </a:cubicBezTo>
                  <a:lnTo>
                    <a:pt x="2844" y="644778"/>
                  </a:lnTo>
                  <a:lnTo>
                    <a:pt x="0" y="539387"/>
                  </a:lnTo>
                  <a:cubicBezTo>
                    <a:pt x="12983" y="353904"/>
                    <a:pt x="114873" y="177973"/>
                    <a:pt x="287952" y="77891"/>
                  </a:cubicBezTo>
                  <a:close/>
                </a:path>
              </a:pathLst>
            </a:custGeom>
            <a:solidFill>
              <a:srgbClr val="668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9B98A40-4948-4E14-BB0D-993E382A6B79}"/>
                </a:ext>
              </a:extLst>
            </p:cNvPr>
            <p:cNvSpPr/>
            <p:nvPr/>
          </p:nvSpPr>
          <p:spPr>
            <a:xfrm rot="1802297">
              <a:off x="5309032" y="1649642"/>
              <a:ext cx="1258308" cy="1557030"/>
            </a:xfrm>
            <a:custGeom>
              <a:avLst/>
              <a:gdLst>
                <a:gd name="connsiteX0" fmla="*/ 418992 w 1258308"/>
                <a:gd name="connsiteY0" fmla="*/ 0 h 1557030"/>
                <a:gd name="connsiteX1" fmla="*/ 424401 w 1258308"/>
                <a:gd name="connsiteY1" fmla="*/ 159949 h 1557030"/>
                <a:gd name="connsiteX2" fmla="*/ 1171217 w 1258308"/>
                <a:gd name="connsiteY2" fmla="*/ 1523588 h 1557030"/>
                <a:gd name="connsiteX3" fmla="*/ 1258308 w 1258308"/>
                <a:gd name="connsiteY3" fmla="*/ 1557030 h 1557030"/>
                <a:gd name="connsiteX4" fmla="*/ 1115747 w 1258308"/>
                <a:gd name="connsiteY4" fmla="*/ 1530761 h 1557030"/>
                <a:gd name="connsiteX5" fmla="*/ 132101 w 1258308"/>
                <a:gd name="connsiteY5" fmla="*/ 811933 h 1557030"/>
                <a:gd name="connsiteX6" fmla="*/ 2595 w 1258308"/>
                <a:gd name="connsiteY6" fmla="*/ 519833 h 1557030"/>
                <a:gd name="connsiteX7" fmla="*/ 0 w 1258308"/>
                <a:gd name="connsiteY7" fmla="*/ 509961 h 1557030"/>
                <a:gd name="connsiteX8" fmla="*/ 25007 w 1258308"/>
                <a:gd name="connsiteY8" fmla="*/ 504283 h 1557030"/>
                <a:gd name="connsiteX9" fmla="*/ 131952 w 1258308"/>
                <a:gd name="connsiteY9" fmla="*/ 456037 h 1557030"/>
                <a:gd name="connsiteX10" fmla="*/ 401587 w 1258308"/>
                <a:gd name="connsiteY10" fmla="*/ 104154 h 1557030"/>
                <a:gd name="connsiteX11" fmla="*/ 418992 w 1258308"/>
                <a:gd name="connsiteY11" fmla="*/ 0 h 1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58308" h="1557030">
                  <a:moveTo>
                    <a:pt x="418992" y="0"/>
                  </a:moveTo>
                  <a:lnTo>
                    <a:pt x="424401" y="159949"/>
                  </a:lnTo>
                  <a:cubicBezTo>
                    <a:pt x="468267" y="805001"/>
                    <a:pt x="768875" y="1336708"/>
                    <a:pt x="1171217" y="1523588"/>
                  </a:cubicBezTo>
                  <a:lnTo>
                    <a:pt x="1258308" y="1557030"/>
                  </a:lnTo>
                  <a:lnTo>
                    <a:pt x="1115747" y="1530761"/>
                  </a:lnTo>
                  <a:cubicBezTo>
                    <a:pt x="709950" y="1435881"/>
                    <a:pt x="350006" y="1188775"/>
                    <a:pt x="132101" y="811933"/>
                  </a:cubicBezTo>
                  <a:cubicBezTo>
                    <a:pt x="77624" y="717723"/>
                    <a:pt x="34604" y="619863"/>
                    <a:pt x="2595" y="519833"/>
                  </a:cubicBezTo>
                  <a:lnTo>
                    <a:pt x="0" y="509961"/>
                  </a:lnTo>
                  <a:lnTo>
                    <a:pt x="25007" y="504283"/>
                  </a:lnTo>
                  <a:cubicBezTo>
                    <a:pt x="61511" y="492088"/>
                    <a:pt x="97336" y="476053"/>
                    <a:pt x="131952" y="456037"/>
                  </a:cubicBezTo>
                  <a:cubicBezTo>
                    <a:pt x="270415" y="375971"/>
                    <a:pt x="363317" y="247363"/>
                    <a:pt x="401587" y="104154"/>
                  </a:cubicBezTo>
                  <a:lnTo>
                    <a:pt x="418992" y="0"/>
                  </a:lnTo>
                  <a:close/>
                </a:path>
              </a:pathLst>
            </a:custGeom>
            <a:solidFill>
              <a:srgbClr val="7BA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2DD3B0C-8733-4A92-9D91-3C791316CBBB}"/>
                </a:ext>
              </a:extLst>
            </p:cNvPr>
            <p:cNvSpPr/>
            <p:nvPr/>
          </p:nvSpPr>
          <p:spPr>
            <a:xfrm rot="1802297">
              <a:off x="4617312" y="1636742"/>
              <a:ext cx="1961720" cy="1394938"/>
            </a:xfrm>
            <a:custGeom>
              <a:avLst/>
              <a:gdLst>
                <a:gd name="connsiteX0" fmla="*/ 0 w 1961720"/>
                <a:gd name="connsiteY0" fmla="*/ 0 h 1394938"/>
                <a:gd name="connsiteX1" fmla="*/ 33670 w 1961720"/>
                <a:gd name="connsiteY1" fmla="*/ 74636 h 1394938"/>
                <a:gd name="connsiteX2" fmla="*/ 607072 w 1961720"/>
                <a:gd name="connsiteY2" fmla="*/ 359569 h 1394938"/>
                <a:gd name="connsiteX3" fmla="*/ 693081 w 1961720"/>
                <a:gd name="connsiteY3" fmla="*/ 340039 h 1394938"/>
                <a:gd name="connsiteX4" fmla="*/ 695676 w 1961720"/>
                <a:gd name="connsiteY4" fmla="*/ 349911 h 1394938"/>
                <a:gd name="connsiteX5" fmla="*/ 825182 w 1961720"/>
                <a:gd name="connsiteY5" fmla="*/ 642011 h 1394938"/>
                <a:gd name="connsiteX6" fmla="*/ 1808828 w 1961720"/>
                <a:gd name="connsiteY6" fmla="*/ 1360839 h 1394938"/>
                <a:gd name="connsiteX7" fmla="*/ 1951389 w 1961720"/>
                <a:gd name="connsiteY7" fmla="*/ 1387108 h 1394938"/>
                <a:gd name="connsiteX8" fmla="*/ 1961720 w 1961720"/>
                <a:gd name="connsiteY8" fmla="*/ 1391075 h 1394938"/>
                <a:gd name="connsiteX9" fmla="*/ 1904862 w 1961720"/>
                <a:gd name="connsiteY9" fmla="*/ 1394765 h 1394938"/>
                <a:gd name="connsiteX10" fmla="*/ 693695 w 1961720"/>
                <a:gd name="connsiteY10" fmla="*/ 939388 h 1394938"/>
                <a:gd name="connsiteX11" fmla="*/ 44602 w 1961720"/>
                <a:gd name="connsiteY11" fmla="*/ 119019 h 1394938"/>
                <a:gd name="connsiteX12" fmla="*/ 0 w 1961720"/>
                <a:gd name="connsiteY12" fmla="*/ 0 h 1394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61720" h="1394938">
                  <a:moveTo>
                    <a:pt x="0" y="0"/>
                  </a:moveTo>
                  <a:lnTo>
                    <a:pt x="33670" y="74636"/>
                  </a:lnTo>
                  <a:cubicBezTo>
                    <a:pt x="153768" y="282331"/>
                    <a:pt x="383090" y="387513"/>
                    <a:pt x="607072" y="359569"/>
                  </a:cubicBezTo>
                  <a:lnTo>
                    <a:pt x="693081" y="340039"/>
                  </a:lnTo>
                  <a:lnTo>
                    <a:pt x="695676" y="349911"/>
                  </a:lnTo>
                  <a:cubicBezTo>
                    <a:pt x="727685" y="449941"/>
                    <a:pt x="770705" y="547801"/>
                    <a:pt x="825182" y="642011"/>
                  </a:cubicBezTo>
                  <a:cubicBezTo>
                    <a:pt x="1043087" y="1018853"/>
                    <a:pt x="1403031" y="1265959"/>
                    <a:pt x="1808828" y="1360839"/>
                  </a:cubicBezTo>
                  <a:lnTo>
                    <a:pt x="1951389" y="1387108"/>
                  </a:lnTo>
                  <a:lnTo>
                    <a:pt x="1961720" y="1391075"/>
                  </a:lnTo>
                  <a:lnTo>
                    <a:pt x="1904862" y="1394765"/>
                  </a:lnTo>
                  <a:cubicBezTo>
                    <a:pt x="1527227" y="1400861"/>
                    <a:pt x="1084440" y="1246115"/>
                    <a:pt x="693695" y="939388"/>
                  </a:cubicBezTo>
                  <a:cubicBezTo>
                    <a:pt x="389783" y="700823"/>
                    <a:pt x="167705" y="409842"/>
                    <a:pt x="44602" y="11901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0B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F7C2BA6-0279-4021-8454-DF94FCE6C31D}"/>
              </a:ext>
            </a:extLst>
          </p:cNvPr>
          <p:cNvGrpSpPr/>
          <p:nvPr/>
        </p:nvGrpSpPr>
        <p:grpSpPr>
          <a:xfrm rot="5400000">
            <a:off x="6563954" y="1702137"/>
            <a:ext cx="1961720" cy="2465203"/>
            <a:chOff x="4617312" y="741469"/>
            <a:chExt cx="1961720" cy="2465203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AFAC166-DDE8-4C2A-908C-B2DC17A5F9E2}"/>
                </a:ext>
              </a:extLst>
            </p:cNvPr>
            <p:cNvSpPr/>
            <p:nvPr/>
          </p:nvSpPr>
          <p:spPr>
            <a:xfrm rot="1802297">
              <a:off x="5091321" y="741469"/>
              <a:ext cx="1155360" cy="1158621"/>
            </a:xfrm>
            <a:custGeom>
              <a:avLst/>
              <a:gdLst>
                <a:gd name="connsiteX0" fmla="*/ 287952 w 1155360"/>
                <a:gd name="connsiteY0" fmla="*/ 77891 h 1158621"/>
                <a:gd name="connsiteX1" fmla="*/ 1079315 w 1155360"/>
                <a:gd name="connsiteY1" fmla="*/ 289369 h 1158621"/>
                <a:gd name="connsiteX2" fmla="*/ 1152769 w 1155360"/>
                <a:gd name="connsiteY2" fmla="*/ 507330 h 1158621"/>
                <a:gd name="connsiteX3" fmla="*/ 1155360 w 1155360"/>
                <a:gd name="connsiteY3" fmla="*/ 603331 h 1158621"/>
                <a:gd name="connsiteX4" fmla="*/ 1154757 w 1155360"/>
                <a:gd name="connsiteY4" fmla="*/ 621153 h 1158621"/>
                <a:gd name="connsiteX5" fmla="*/ 1154877 w 1155360"/>
                <a:gd name="connsiteY5" fmla="*/ 624695 h 1158621"/>
                <a:gd name="connsiteX6" fmla="*/ 1137472 w 1155360"/>
                <a:gd name="connsiteY6" fmla="*/ 728849 h 1158621"/>
                <a:gd name="connsiteX7" fmla="*/ 867836 w 1155360"/>
                <a:gd name="connsiteY7" fmla="*/ 1080732 h 1158621"/>
                <a:gd name="connsiteX8" fmla="*/ 76474 w 1155360"/>
                <a:gd name="connsiteY8" fmla="*/ 869253 h 1158621"/>
                <a:gd name="connsiteX9" fmla="*/ 42803 w 1155360"/>
                <a:gd name="connsiteY9" fmla="*/ 794617 h 1158621"/>
                <a:gd name="connsiteX10" fmla="*/ 40758 w 1155360"/>
                <a:gd name="connsiteY10" fmla="*/ 789161 h 1158621"/>
                <a:gd name="connsiteX11" fmla="*/ 6529 w 1155360"/>
                <a:gd name="connsiteY11" fmla="*/ 665624 h 1158621"/>
                <a:gd name="connsiteX12" fmla="*/ 2844 w 1155360"/>
                <a:gd name="connsiteY12" fmla="*/ 644778 h 1158621"/>
                <a:gd name="connsiteX13" fmla="*/ 0 w 1155360"/>
                <a:gd name="connsiteY13" fmla="*/ 539387 h 1158621"/>
                <a:gd name="connsiteX14" fmla="*/ 287952 w 1155360"/>
                <a:gd name="connsiteY14" fmla="*/ 77891 h 1158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5360" h="1158621">
                  <a:moveTo>
                    <a:pt x="287952" y="77891"/>
                  </a:moveTo>
                  <a:cubicBezTo>
                    <a:pt x="564879" y="-82240"/>
                    <a:pt x="919184" y="12442"/>
                    <a:pt x="1079315" y="289369"/>
                  </a:cubicBezTo>
                  <a:cubicBezTo>
                    <a:pt x="1119347" y="358601"/>
                    <a:pt x="1143454" y="432669"/>
                    <a:pt x="1152769" y="507330"/>
                  </a:cubicBezTo>
                  <a:lnTo>
                    <a:pt x="1155360" y="603331"/>
                  </a:lnTo>
                  <a:lnTo>
                    <a:pt x="1154757" y="621153"/>
                  </a:lnTo>
                  <a:lnTo>
                    <a:pt x="1154877" y="624695"/>
                  </a:lnTo>
                  <a:lnTo>
                    <a:pt x="1137472" y="728849"/>
                  </a:lnTo>
                  <a:cubicBezTo>
                    <a:pt x="1099202" y="872058"/>
                    <a:pt x="1006300" y="1000666"/>
                    <a:pt x="867836" y="1080732"/>
                  </a:cubicBezTo>
                  <a:cubicBezTo>
                    <a:pt x="590910" y="1240862"/>
                    <a:pt x="236604" y="1146180"/>
                    <a:pt x="76474" y="869253"/>
                  </a:cubicBezTo>
                  <a:lnTo>
                    <a:pt x="42803" y="794617"/>
                  </a:lnTo>
                  <a:lnTo>
                    <a:pt x="40758" y="789161"/>
                  </a:lnTo>
                  <a:cubicBezTo>
                    <a:pt x="27262" y="747774"/>
                    <a:pt x="15836" y="706545"/>
                    <a:pt x="6529" y="665624"/>
                  </a:cubicBezTo>
                  <a:lnTo>
                    <a:pt x="2844" y="644778"/>
                  </a:lnTo>
                  <a:lnTo>
                    <a:pt x="0" y="539387"/>
                  </a:lnTo>
                  <a:cubicBezTo>
                    <a:pt x="12983" y="353904"/>
                    <a:pt x="114873" y="177973"/>
                    <a:pt x="287952" y="77891"/>
                  </a:cubicBezTo>
                  <a:close/>
                </a:path>
              </a:pathLst>
            </a:custGeom>
            <a:solidFill>
              <a:srgbClr val="107A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FD28662-04E3-4569-AE90-1A8AEBDF105F}"/>
                </a:ext>
              </a:extLst>
            </p:cNvPr>
            <p:cNvSpPr/>
            <p:nvPr/>
          </p:nvSpPr>
          <p:spPr>
            <a:xfrm rot="1802297">
              <a:off x="5309032" y="1649642"/>
              <a:ext cx="1258308" cy="1557030"/>
            </a:xfrm>
            <a:custGeom>
              <a:avLst/>
              <a:gdLst>
                <a:gd name="connsiteX0" fmla="*/ 418992 w 1258308"/>
                <a:gd name="connsiteY0" fmla="*/ 0 h 1557030"/>
                <a:gd name="connsiteX1" fmla="*/ 424401 w 1258308"/>
                <a:gd name="connsiteY1" fmla="*/ 159949 h 1557030"/>
                <a:gd name="connsiteX2" fmla="*/ 1171217 w 1258308"/>
                <a:gd name="connsiteY2" fmla="*/ 1523588 h 1557030"/>
                <a:gd name="connsiteX3" fmla="*/ 1258308 w 1258308"/>
                <a:gd name="connsiteY3" fmla="*/ 1557030 h 1557030"/>
                <a:gd name="connsiteX4" fmla="*/ 1115747 w 1258308"/>
                <a:gd name="connsiteY4" fmla="*/ 1530761 h 1557030"/>
                <a:gd name="connsiteX5" fmla="*/ 132101 w 1258308"/>
                <a:gd name="connsiteY5" fmla="*/ 811933 h 1557030"/>
                <a:gd name="connsiteX6" fmla="*/ 2595 w 1258308"/>
                <a:gd name="connsiteY6" fmla="*/ 519833 h 1557030"/>
                <a:gd name="connsiteX7" fmla="*/ 0 w 1258308"/>
                <a:gd name="connsiteY7" fmla="*/ 509961 h 1557030"/>
                <a:gd name="connsiteX8" fmla="*/ 25007 w 1258308"/>
                <a:gd name="connsiteY8" fmla="*/ 504283 h 1557030"/>
                <a:gd name="connsiteX9" fmla="*/ 131952 w 1258308"/>
                <a:gd name="connsiteY9" fmla="*/ 456037 h 1557030"/>
                <a:gd name="connsiteX10" fmla="*/ 401587 w 1258308"/>
                <a:gd name="connsiteY10" fmla="*/ 104154 h 1557030"/>
                <a:gd name="connsiteX11" fmla="*/ 418992 w 1258308"/>
                <a:gd name="connsiteY11" fmla="*/ 0 h 1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58308" h="1557030">
                  <a:moveTo>
                    <a:pt x="418992" y="0"/>
                  </a:moveTo>
                  <a:lnTo>
                    <a:pt x="424401" y="159949"/>
                  </a:lnTo>
                  <a:cubicBezTo>
                    <a:pt x="468267" y="805001"/>
                    <a:pt x="768875" y="1336708"/>
                    <a:pt x="1171217" y="1523588"/>
                  </a:cubicBezTo>
                  <a:lnTo>
                    <a:pt x="1258308" y="1557030"/>
                  </a:lnTo>
                  <a:lnTo>
                    <a:pt x="1115747" y="1530761"/>
                  </a:lnTo>
                  <a:cubicBezTo>
                    <a:pt x="709950" y="1435881"/>
                    <a:pt x="350006" y="1188775"/>
                    <a:pt x="132101" y="811933"/>
                  </a:cubicBezTo>
                  <a:cubicBezTo>
                    <a:pt x="77624" y="717723"/>
                    <a:pt x="34604" y="619863"/>
                    <a:pt x="2595" y="519833"/>
                  </a:cubicBezTo>
                  <a:lnTo>
                    <a:pt x="0" y="509961"/>
                  </a:lnTo>
                  <a:lnTo>
                    <a:pt x="25007" y="504283"/>
                  </a:lnTo>
                  <a:cubicBezTo>
                    <a:pt x="61511" y="492088"/>
                    <a:pt x="97336" y="476053"/>
                    <a:pt x="131952" y="456037"/>
                  </a:cubicBezTo>
                  <a:cubicBezTo>
                    <a:pt x="270415" y="375971"/>
                    <a:pt x="363317" y="247363"/>
                    <a:pt x="401587" y="104154"/>
                  </a:cubicBezTo>
                  <a:lnTo>
                    <a:pt x="418992" y="0"/>
                  </a:lnTo>
                  <a:close/>
                </a:path>
              </a:pathLst>
            </a:custGeom>
            <a:solidFill>
              <a:srgbClr val="1395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96D040A-E205-4B3D-B6A0-C69A5C8EFF7B}"/>
                </a:ext>
              </a:extLst>
            </p:cNvPr>
            <p:cNvSpPr/>
            <p:nvPr/>
          </p:nvSpPr>
          <p:spPr>
            <a:xfrm rot="1802297">
              <a:off x="4617312" y="1636742"/>
              <a:ext cx="1961720" cy="1394938"/>
            </a:xfrm>
            <a:custGeom>
              <a:avLst/>
              <a:gdLst>
                <a:gd name="connsiteX0" fmla="*/ 0 w 1961720"/>
                <a:gd name="connsiteY0" fmla="*/ 0 h 1394938"/>
                <a:gd name="connsiteX1" fmla="*/ 33670 w 1961720"/>
                <a:gd name="connsiteY1" fmla="*/ 74636 h 1394938"/>
                <a:gd name="connsiteX2" fmla="*/ 607072 w 1961720"/>
                <a:gd name="connsiteY2" fmla="*/ 359569 h 1394938"/>
                <a:gd name="connsiteX3" fmla="*/ 693081 w 1961720"/>
                <a:gd name="connsiteY3" fmla="*/ 340039 h 1394938"/>
                <a:gd name="connsiteX4" fmla="*/ 695676 w 1961720"/>
                <a:gd name="connsiteY4" fmla="*/ 349911 h 1394938"/>
                <a:gd name="connsiteX5" fmla="*/ 825182 w 1961720"/>
                <a:gd name="connsiteY5" fmla="*/ 642011 h 1394938"/>
                <a:gd name="connsiteX6" fmla="*/ 1808828 w 1961720"/>
                <a:gd name="connsiteY6" fmla="*/ 1360839 h 1394938"/>
                <a:gd name="connsiteX7" fmla="*/ 1951389 w 1961720"/>
                <a:gd name="connsiteY7" fmla="*/ 1387108 h 1394938"/>
                <a:gd name="connsiteX8" fmla="*/ 1961720 w 1961720"/>
                <a:gd name="connsiteY8" fmla="*/ 1391075 h 1394938"/>
                <a:gd name="connsiteX9" fmla="*/ 1904862 w 1961720"/>
                <a:gd name="connsiteY9" fmla="*/ 1394765 h 1394938"/>
                <a:gd name="connsiteX10" fmla="*/ 693695 w 1961720"/>
                <a:gd name="connsiteY10" fmla="*/ 939388 h 1394938"/>
                <a:gd name="connsiteX11" fmla="*/ 44602 w 1961720"/>
                <a:gd name="connsiteY11" fmla="*/ 119019 h 1394938"/>
                <a:gd name="connsiteX12" fmla="*/ 0 w 1961720"/>
                <a:gd name="connsiteY12" fmla="*/ 0 h 1394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61720" h="1394938">
                  <a:moveTo>
                    <a:pt x="0" y="0"/>
                  </a:moveTo>
                  <a:lnTo>
                    <a:pt x="33670" y="74636"/>
                  </a:lnTo>
                  <a:cubicBezTo>
                    <a:pt x="153768" y="282331"/>
                    <a:pt x="383090" y="387513"/>
                    <a:pt x="607072" y="359569"/>
                  </a:cubicBezTo>
                  <a:lnTo>
                    <a:pt x="693081" y="340039"/>
                  </a:lnTo>
                  <a:lnTo>
                    <a:pt x="695676" y="349911"/>
                  </a:lnTo>
                  <a:cubicBezTo>
                    <a:pt x="727685" y="449941"/>
                    <a:pt x="770705" y="547801"/>
                    <a:pt x="825182" y="642011"/>
                  </a:cubicBezTo>
                  <a:cubicBezTo>
                    <a:pt x="1043087" y="1018853"/>
                    <a:pt x="1403031" y="1265959"/>
                    <a:pt x="1808828" y="1360839"/>
                  </a:cubicBezTo>
                  <a:lnTo>
                    <a:pt x="1951389" y="1387108"/>
                  </a:lnTo>
                  <a:lnTo>
                    <a:pt x="1961720" y="1391075"/>
                  </a:lnTo>
                  <a:lnTo>
                    <a:pt x="1904862" y="1394765"/>
                  </a:lnTo>
                  <a:cubicBezTo>
                    <a:pt x="1527227" y="1400861"/>
                    <a:pt x="1084440" y="1246115"/>
                    <a:pt x="693695" y="939388"/>
                  </a:cubicBezTo>
                  <a:cubicBezTo>
                    <a:pt x="389783" y="700823"/>
                    <a:pt x="167705" y="409842"/>
                    <a:pt x="44602" y="11901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7B9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8FAC994-9C2F-4BBD-BDB4-D3BFC038080D}"/>
              </a:ext>
            </a:extLst>
          </p:cNvPr>
          <p:cNvGrpSpPr/>
          <p:nvPr/>
        </p:nvGrpSpPr>
        <p:grpSpPr>
          <a:xfrm rot="8100000">
            <a:off x="6484593" y="2873863"/>
            <a:ext cx="1961720" cy="2465203"/>
            <a:chOff x="4617312" y="741469"/>
            <a:chExt cx="1961720" cy="2465203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A01EF99-0509-4BE1-AA02-6EADBC4A79DC}"/>
                </a:ext>
              </a:extLst>
            </p:cNvPr>
            <p:cNvSpPr/>
            <p:nvPr/>
          </p:nvSpPr>
          <p:spPr>
            <a:xfrm rot="1802297">
              <a:off x="5091321" y="741469"/>
              <a:ext cx="1155360" cy="1158621"/>
            </a:xfrm>
            <a:custGeom>
              <a:avLst/>
              <a:gdLst>
                <a:gd name="connsiteX0" fmla="*/ 287952 w 1155360"/>
                <a:gd name="connsiteY0" fmla="*/ 77891 h 1158621"/>
                <a:gd name="connsiteX1" fmla="*/ 1079315 w 1155360"/>
                <a:gd name="connsiteY1" fmla="*/ 289369 h 1158621"/>
                <a:gd name="connsiteX2" fmla="*/ 1152769 w 1155360"/>
                <a:gd name="connsiteY2" fmla="*/ 507330 h 1158621"/>
                <a:gd name="connsiteX3" fmla="*/ 1155360 w 1155360"/>
                <a:gd name="connsiteY3" fmla="*/ 603331 h 1158621"/>
                <a:gd name="connsiteX4" fmla="*/ 1154757 w 1155360"/>
                <a:gd name="connsiteY4" fmla="*/ 621153 h 1158621"/>
                <a:gd name="connsiteX5" fmla="*/ 1154877 w 1155360"/>
                <a:gd name="connsiteY5" fmla="*/ 624695 h 1158621"/>
                <a:gd name="connsiteX6" fmla="*/ 1137472 w 1155360"/>
                <a:gd name="connsiteY6" fmla="*/ 728849 h 1158621"/>
                <a:gd name="connsiteX7" fmla="*/ 867836 w 1155360"/>
                <a:gd name="connsiteY7" fmla="*/ 1080732 h 1158621"/>
                <a:gd name="connsiteX8" fmla="*/ 76474 w 1155360"/>
                <a:gd name="connsiteY8" fmla="*/ 869253 h 1158621"/>
                <a:gd name="connsiteX9" fmla="*/ 42803 w 1155360"/>
                <a:gd name="connsiteY9" fmla="*/ 794617 h 1158621"/>
                <a:gd name="connsiteX10" fmla="*/ 40758 w 1155360"/>
                <a:gd name="connsiteY10" fmla="*/ 789161 h 1158621"/>
                <a:gd name="connsiteX11" fmla="*/ 6529 w 1155360"/>
                <a:gd name="connsiteY11" fmla="*/ 665624 h 1158621"/>
                <a:gd name="connsiteX12" fmla="*/ 2844 w 1155360"/>
                <a:gd name="connsiteY12" fmla="*/ 644778 h 1158621"/>
                <a:gd name="connsiteX13" fmla="*/ 0 w 1155360"/>
                <a:gd name="connsiteY13" fmla="*/ 539387 h 1158621"/>
                <a:gd name="connsiteX14" fmla="*/ 287952 w 1155360"/>
                <a:gd name="connsiteY14" fmla="*/ 77891 h 1158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5360" h="1158621">
                  <a:moveTo>
                    <a:pt x="287952" y="77891"/>
                  </a:moveTo>
                  <a:cubicBezTo>
                    <a:pt x="564879" y="-82240"/>
                    <a:pt x="919184" y="12442"/>
                    <a:pt x="1079315" y="289369"/>
                  </a:cubicBezTo>
                  <a:cubicBezTo>
                    <a:pt x="1119347" y="358601"/>
                    <a:pt x="1143454" y="432669"/>
                    <a:pt x="1152769" y="507330"/>
                  </a:cubicBezTo>
                  <a:lnTo>
                    <a:pt x="1155360" y="603331"/>
                  </a:lnTo>
                  <a:lnTo>
                    <a:pt x="1154757" y="621153"/>
                  </a:lnTo>
                  <a:lnTo>
                    <a:pt x="1154877" y="624695"/>
                  </a:lnTo>
                  <a:lnTo>
                    <a:pt x="1137472" y="728849"/>
                  </a:lnTo>
                  <a:cubicBezTo>
                    <a:pt x="1099202" y="872058"/>
                    <a:pt x="1006300" y="1000666"/>
                    <a:pt x="867836" y="1080732"/>
                  </a:cubicBezTo>
                  <a:cubicBezTo>
                    <a:pt x="590910" y="1240862"/>
                    <a:pt x="236604" y="1146180"/>
                    <a:pt x="76474" y="869253"/>
                  </a:cubicBezTo>
                  <a:lnTo>
                    <a:pt x="42803" y="794617"/>
                  </a:lnTo>
                  <a:lnTo>
                    <a:pt x="40758" y="789161"/>
                  </a:lnTo>
                  <a:cubicBezTo>
                    <a:pt x="27262" y="747774"/>
                    <a:pt x="15836" y="706545"/>
                    <a:pt x="6529" y="665624"/>
                  </a:cubicBezTo>
                  <a:lnTo>
                    <a:pt x="2844" y="644778"/>
                  </a:lnTo>
                  <a:lnTo>
                    <a:pt x="0" y="539387"/>
                  </a:lnTo>
                  <a:cubicBezTo>
                    <a:pt x="12983" y="353904"/>
                    <a:pt x="114873" y="177973"/>
                    <a:pt x="287952" y="77891"/>
                  </a:cubicBezTo>
                  <a:close/>
                </a:path>
              </a:pathLst>
            </a:custGeom>
            <a:solidFill>
              <a:srgbClr val="238AA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95EB83F-7039-4D40-8468-24FCBCABEDCE}"/>
                </a:ext>
              </a:extLst>
            </p:cNvPr>
            <p:cNvSpPr/>
            <p:nvPr/>
          </p:nvSpPr>
          <p:spPr>
            <a:xfrm rot="1802297">
              <a:off x="5309032" y="1649642"/>
              <a:ext cx="1258308" cy="1557030"/>
            </a:xfrm>
            <a:custGeom>
              <a:avLst/>
              <a:gdLst>
                <a:gd name="connsiteX0" fmla="*/ 418992 w 1258308"/>
                <a:gd name="connsiteY0" fmla="*/ 0 h 1557030"/>
                <a:gd name="connsiteX1" fmla="*/ 424401 w 1258308"/>
                <a:gd name="connsiteY1" fmla="*/ 159949 h 1557030"/>
                <a:gd name="connsiteX2" fmla="*/ 1171217 w 1258308"/>
                <a:gd name="connsiteY2" fmla="*/ 1523588 h 1557030"/>
                <a:gd name="connsiteX3" fmla="*/ 1258308 w 1258308"/>
                <a:gd name="connsiteY3" fmla="*/ 1557030 h 1557030"/>
                <a:gd name="connsiteX4" fmla="*/ 1115747 w 1258308"/>
                <a:gd name="connsiteY4" fmla="*/ 1530761 h 1557030"/>
                <a:gd name="connsiteX5" fmla="*/ 132101 w 1258308"/>
                <a:gd name="connsiteY5" fmla="*/ 811933 h 1557030"/>
                <a:gd name="connsiteX6" fmla="*/ 2595 w 1258308"/>
                <a:gd name="connsiteY6" fmla="*/ 519833 h 1557030"/>
                <a:gd name="connsiteX7" fmla="*/ 0 w 1258308"/>
                <a:gd name="connsiteY7" fmla="*/ 509961 h 1557030"/>
                <a:gd name="connsiteX8" fmla="*/ 25007 w 1258308"/>
                <a:gd name="connsiteY8" fmla="*/ 504283 h 1557030"/>
                <a:gd name="connsiteX9" fmla="*/ 131952 w 1258308"/>
                <a:gd name="connsiteY9" fmla="*/ 456037 h 1557030"/>
                <a:gd name="connsiteX10" fmla="*/ 401587 w 1258308"/>
                <a:gd name="connsiteY10" fmla="*/ 104154 h 1557030"/>
                <a:gd name="connsiteX11" fmla="*/ 418992 w 1258308"/>
                <a:gd name="connsiteY11" fmla="*/ 0 h 1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58308" h="1557030">
                  <a:moveTo>
                    <a:pt x="418992" y="0"/>
                  </a:moveTo>
                  <a:lnTo>
                    <a:pt x="424401" y="159949"/>
                  </a:lnTo>
                  <a:cubicBezTo>
                    <a:pt x="468267" y="805001"/>
                    <a:pt x="768875" y="1336708"/>
                    <a:pt x="1171217" y="1523588"/>
                  </a:cubicBezTo>
                  <a:lnTo>
                    <a:pt x="1258308" y="1557030"/>
                  </a:lnTo>
                  <a:lnTo>
                    <a:pt x="1115747" y="1530761"/>
                  </a:lnTo>
                  <a:cubicBezTo>
                    <a:pt x="709950" y="1435881"/>
                    <a:pt x="350006" y="1188775"/>
                    <a:pt x="132101" y="811933"/>
                  </a:cubicBezTo>
                  <a:cubicBezTo>
                    <a:pt x="77624" y="717723"/>
                    <a:pt x="34604" y="619863"/>
                    <a:pt x="2595" y="519833"/>
                  </a:cubicBezTo>
                  <a:lnTo>
                    <a:pt x="0" y="509961"/>
                  </a:lnTo>
                  <a:lnTo>
                    <a:pt x="25007" y="504283"/>
                  </a:lnTo>
                  <a:cubicBezTo>
                    <a:pt x="61511" y="492088"/>
                    <a:pt x="97336" y="476053"/>
                    <a:pt x="131952" y="456037"/>
                  </a:cubicBezTo>
                  <a:cubicBezTo>
                    <a:pt x="270415" y="375971"/>
                    <a:pt x="363317" y="247363"/>
                    <a:pt x="401587" y="104154"/>
                  </a:cubicBezTo>
                  <a:lnTo>
                    <a:pt x="418992" y="0"/>
                  </a:lnTo>
                  <a:close/>
                </a:path>
              </a:pathLst>
            </a:custGeom>
            <a:solidFill>
              <a:srgbClr val="29A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2419346-8205-4709-B8DE-C677188A0ECE}"/>
                </a:ext>
              </a:extLst>
            </p:cNvPr>
            <p:cNvSpPr/>
            <p:nvPr/>
          </p:nvSpPr>
          <p:spPr>
            <a:xfrm rot="1802297">
              <a:off x="4617312" y="1636742"/>
              <a:ext cx="1961720" cy="1394938"/>
            </a:xfrm>
            <a:custGeom>
              <a:avLst/>
              <a:gdLst>
                <a:gd name="connsiteX0" fmla="*/ 0 w 1961720"/>
                <a:gd name="connsiteY0" fmla="*/ 0 h 1394938"/>
                <a:gd name="connsiteX1" fmla="*/ 33670 w 1961720"/>
                <a:gd name="connsiteY1" fmla="*/ 74636 h 1394938"/>
                <a:gd name="connsiteX2" fmla="*/ 607072 w 1961720"/>
                <a:gd name="connsiteY2" fmla="*/ 359569 h 1394938"/>
                <a:gd name="connsiteX3" fmla="*/ 693081 w 1961720"/>
                <a:gd name="connsiteY3" fmla="*/ 340039 h 1394938"/>
                <a:gd name="connsiteX4" fmla="*/ 695676 w 1961720"/>
                <a:gd name="connsiteY4" fmla="*/ 349911 h 1394938"/>
                <a:gd name="connsiteX5" fmla="*/ 825182 w 1961720"/>
                <a:gd name="connsiteY5" fmla="*/ 642011 h 1394938"/>
                <a:gd name="connsiteX6" fmla="*/ 1808828 w 1961720"/>
                <a:gd name="connsiteY6" fmla="*/ 1360839 h 1394938"/>
                <a:gd name="connsiteX7" fmla="*/ 1951389 w 1961720"/>
                <a:gd name="connsiteY7" fmla="*/ 1387108 h 1394938"/>
                <a:gd name="connsiteX8" fmla="*/ 1961720 w 1961720"/>
                <a:gd name="connsiteY8" fmla="*/ 1391075 h 1394938"/>
                <a:gd name="connsiteX9" fmla="*/ 1904862 w 1961720"/>
                <a:gd name="connsiteY9" fmla="*/ 1394765 h 1394938"/>
                <a:gd name="connsiteX10" fmla="*/ 693695 w 1961720"/>
                <a:gd name="connsiteY10" fmla="*/ 939388 h 1394938"/>
                <a:gd name="connsiteX11" fmla="*/ 44602 w 1961720"/>
                <a:gd name="connsiteY11" fmla="*/ 119019 h 1394938"/>
                <a:gd name="connsiteX12" fmla="*/ 0 w 1961720"/>
                <a:gd name="connsiteY12" fmla="*/ 0 h 1394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61720" h="1394938">
                  <a:moveTo>
                    <a:pt x="0" y="0"/>
                  </a:moveTo>
                  <a:lnTo>
                    <a:pt x="33670" y="74636"/>
                  </a:lnTo>
                  <a:cubicBezTo>
                    <a:pt x="153768" y="282331"/>
                    <a:pt x="383090" y="387513"/>
                    <a:pt x="607072" y="359569"/>
                  </a:cubicBezTo>
                  <a:lnTo>
                    <a:pt x="693081" y="340039"/>
                  </a:lnTo>
                  <a:lnTo>
                    <a:pt x="695676" y="349911"/>
                  </a:lnTo>
                  <a:cubicBezTo>
                    <a:pt x="727685" y="449941"/>
                    <a:pt x="770705" y="547801"/>
                    <a:pt x="825182" y="642011"/>
                  </a:cubicBezTo>
                  <a:cubicBezTo>
                    <a:pt x="1043087" y="1018853"/>
                    <a:pt x="1403031" y="1265959"/>
                    <a:pt x="1808828" y="1360839"/>
                  </a:cubicBezTo>
                  <a:lnTo>
                    <a:pt x="1951389" y="1387108"/>
                  </a:lnTo>
                  <a:lnTo>
                    <a:pt x="1961720" y="1391075"/>
                  </a:lnTo>
                  <a:lnTo>
                    <a:pt x="1904862" y="1394765"/>
                  </a:lnTo>
                  <a:cubicBezTo>
                    <a:pt x="1527227" y="1400861"/>
                    <a:pt x="1084440" y="1246115"/>
                    <a:pt x="693695" y="939388"/>
                  </a:cubicBezTo>
                  <a:cubicBezTo>
                    <a:pt x="389783" y="700823"/>
                    <a:pt x="167705" y="409842"/>
                    <a:pt x="44602" y="11901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7C1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E066F53-8B70-41AD-AEA5-91AF4F438B6F}"/>
              </a:ext>
            </a:extLst>
          </p:cNvPr>
          <p:cNvGrpSpPr/>
          <p:nvPr/>
        </p:nvGrpSpPr>
        <p:grpSpPr>
          <a:xfrm rot="10800000">
            <a:off x="5602293" y="3640760"/>
            <a:ext cx="1961720" cy="2465203"/>
            <a:chOff x="4617312" y="741469"/>
            <a:chExt cx="1961720" cy="246520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B662B77-C6AC-4ED9-92F8-CBE4C6C62F96}"/>
                </a:ext>
              </a:extLst>
            </p:cNvPr>
            <p:cNvSpPr/>
            <p:nvPr/>
          </p:nvSpPr>
          <p:spPr>
            <a:xfrm rot="1802297">
              <a:off x="5091321" y="741469"/>
              <a:ext cx="1155360" cy="1158621"/>
            </a:xfrm>
            <a:custGeom>
              <a:avLst/>
              <a:gdLst>
                <a:gd name="connsiteX0" fmla="*/ 287952 w 1155360"/>
                <a:gd name="connsiteY0" fmla="*/ 77891 h 1158621"/>
                <a:gd name="connsiteX1" fmla="*/ 1079315 w 1155360"/>
                <a:gd name="connsiteY1" fmla="*/ 289369 h 1158621"/>
                <a:gd name="connsiteX2" fmla="*/ 1152769 w 1155360"/>
                <a:gd name="connsiteY2" fmla="*/ 507330 h 1158621"/>
                <a:gd name="connsiteX3" fmla="*/ 1155360 w 1155360"/>
                <a:gd name="connsiteY3" fmla="*/ 603331 h 1158621"/>
                <a:gd name="connsiteX4" fmla="*/ 1154757 w 1155360"/>
                <a:gd name="connsiteY4" fmla="*/ 621153 h 1158621"/>
                <a:gd name="connsiteX5" fmla="*/ 1154877 w 1155360"/>
                <a:gd name="connsiteY5" fmla="*/ 624695 h 1158621"/>
                <a:gd name="connsiteX6" fmla="*/ 1137472 w 1155360"/>
                <a:gd name="connsiteY6" fmla="*/ 728849 h 1158621"/>
                <a:gd name="connsiteX7" fmla="*/ 867836 w 1155360"/>
                <a:gd name="connsiteY7" fmla="*/ 1080732 h 1158621"/>
                <a:gd name="connsiteX8" fmla="*/ 76474 w 1155360"/>
                <a:gd name="connsiteY8" fmla="*/ 869253 h 1158621"/>
                <a:gd name="connsiteX9" fmla="*/ 42803 w 1155360"/>
                <a:gd name="connsiteY9" fmla="*/ 794617 h 1158621"/>
                <a:gd name="connsiteX10" fmla="*/ 40758 w 1155360"/>
                <a:gd name="connsiteY10" fmla="*/ 789161 h 1158621"/>
                <a:gd name="connsiteX11" fmla="*/ 6529 w 1155360"/>
                <a:gd name="connsiteY11" fmla="*/ 665624 h 1158621"/>
                <a:gd name="connsiteX12" fmla="*/ 2844 w 1155360"/>
                <a:gd name="connsiteY12" fmla="*/ 644778 h 1158621"/>
                <a:gd name="connsiteX13" fmla="*/ 0 w 1155360"/>
                <a:gd name="connsiteY13" fmla="*/ 539387 h 1158621"/>
                <a:gd name="connsiteX14" fmla="*/ 287952 w 1155360"/>
                <a:gd name="connsiteY14" fmla="*/ 77891 h 1158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5360" h="1158621">
                  <a:moveTo>
                    <a:pt x="287952" y="77891"/>
                  </a:moveTo>
                  <a:cubicBezTo>
                    <a:pt x="564879" y="-82240"/>
                    <a:pt x="919184" y="12442"/>
                    <a:pt x="1079315" y="289369"/>
                  </a:cubicBezTo>
                  <a:cubicBezTo>
                    <a:pt x="1119347" y="358601"/>
                    <a:pt x="1143454" y="432669"/>
                    <a:pt x="1152769" y="507330"/>
                  </a:cubicBezTo>
                  <a:lnTo>
                    <a:pt x="1155360" y="603331"/>
                  </a:lnTo>
                  <a:lnTo>
                    <a:pt x="1154757" y="621153"/>
                  </a:lnTo>
                  <a:lnTo>
                    <a:pt x="1154877" y="624695"/>
                  </a:lnTo>
                  <a:lnTo>
                    <a:pt x="1137472" y="728849"/>
                  </a:lnTo>
                  <a:cubicBezTo>
                    <a:pt x="1099202" y="872058"/>
                    <a:pt x="1006300" y="1000666"/>
                    <a:pt x="867836" y="1080732"/>
                  </a:cubicBezTo>
                  <a:cubicBezTo>
                    <a:pt x="590910" y="1240862"/>
                    <a:pt x="236604" y="1146180"/>
                    <a:pt x="76474" y="869253"/>
                  </a:cubicBezTo>
                  <a:lnTo>
                    <a:pt x="42803" y="794617"/>
                  </a:lnTo>
                  <a:lnTo>
                    <a:pt x="40758" y="789161"/>
                  </a:lnTo>
                  <a:cubicBezTo>
                    <a:pt x="27262" y="747774"/>
                    <a:pt x="15836" y="706545"/>
                    <a:pt x="6529" y="665624"/>
                  </a:cubicBezTo>
                  <a:lnTo>
                    <a:pt x="2844" y="644778"/>
                  </a:lnTo>
                  <a:lnTo>
                    <a:pt x="0" y="539387"/>
                  </a:lnTo>
                  <a:cubicBezTo>
                    <a:pt x="12983" y="353904"/>
                    <a:pt x="114873" y="177973"/>
                    <a:pt x="287952" y="77891"/>
                  </a:cubicBezTo>
                  <a:close/>
                </a:path>
              </a:pathLst>
            </a:custGeom>
            <a:solidFill>
              <a:srgbClr val="1542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896EC62-6359-4975-A98C-00101DBD446E}"/>
                </a:ext>
              </a:extLst>
            </p:cNvPr>
            <p:cNvSpPr/>
            <p:nvPr/>
          </p:nvSpPr>
          <p:spPr>
            <a:xfrm rot="1802297">
              <a:off x="5309032" y="1649642"/>
              <a:ext cx="1258308" cy="1557030"/>
            </a:xfrm>
            <a:custGeom>
              <a:avLst/>
              <a:gdLst>
                <a:gd name="connsiteX0" fmla="*/ 418992 w 1258308"/>
                <a:gd name="connsiteY0" fmla="*/ 0 h 1557030"/>
                <a:gd name="connsiteX1" fmla="*/ 424401 w 1258308"/>
                <a:gd name="connsiteY1" fmla="*/ 159949 h 1557030"/>
                <a:gd name="connsiteX2" fmla="*/ 1171217 w 1258308"/>
                <a:gd name="connsiteY2" fmla="*/ 1523588 h 1557030"/>
                <a:gd name="connsiteX3" fmla="*/ 1258308 w 1258308"/>
                <a:gd name="connsiteY3" fmla="*/ 1557030 h 1557030"/>
                <a:gd name="connsiteX4" fmla="*/ 1115747 w 1258308"/>
                <a:gd name="connsiteY4" fmla="*/ 1530761 h 1557030"/>
                <a:gd name="connsiteX5" fmla="*/ 132101 w 1258308"/>
                <a:gd name="connsiteY5" fmla="*/ 811933 h 1557030"/>
                <a:gd name="connsiteX6" fmla="*/ 2595 w 1258308"/>
                <a:gd name="connsiteY6" fmla="*/ 519833 h 1557030"/>
                <a:gd name="connsiteX7" fmla="*/ 0 w 1258308"/>
                <a:gd name="connsiteY7" fmla="*/ 509961 h 1557030"/>
                <a:gd name="connsiteX8" fmla="*/ 25007 w 1258308"/>
                <a:gd name="connsiteY8" fmla="*/ 504283 h 1557030"/>
                <a:gd name="connsiteX9" fmla="*/ 131952 w 1258308"/>
                <a:gd name="connsiteY9" fmla="*/ 456037 h 1557030"/>
                <a:gd name="connsiteX10" fmla="*/ 401587 w 1258308"/>
                <a:gd name="connsiteY10" fmla="*/ 104154 h 1557030"/>
                <a:gd name="connsiteX11" fmla="*/ 418992 w 1258308"/>
                <a:gd name="connsiteY11" fmla="*/ 0 h 1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58308" h="1557030">
                  <a:moveTo>
                    <a:pt x="418992" y="0"/>
                  </a:moveTo>
                  <a:lnTo>
                    <a:pt x="424401" y="159949"/>
                  </a:lnTo>
                  <a:cubicBezTo>
                    <a:pt x="468267" y="805001"/>
                    <a:pt x="768875" y="1336708"/>
                    <a:pt x="1171217" y="1523588"/>
                  </a:cubicBezTo>
                  <a:lnTo>
                    <a:pt x="1258308" y="1557030"/>
                  </a:lnTo>
                  <a:lnTo>
                    <a:pt x="1115747" y="1530761"/>
                  </a:lnTo>
                  <a:cubicBezTo>
                    <a:pt x="709950" y="1435881"/>
                    <a:pt x="350006" y="1188775"/>
                    <a:pt x="132101" y="811933"/>
                  </a:cubicBezTo>
                  <a:cubicBezTo>
                    <a:pt x="77624" y="717723"/>
                    <a:pt x="34604" y="619863"/>
                    <a:pt x="2595" y="519833"/>
                  </a:cubicBezTo>
                  <a:lnTo>
                    <a:pt x="0" y="509961"/>
                  </a:lnTo>
                  <a:lnTo>
                    <a:pt x="25007" y="504283"/>
                  </a:lnTo>
                  <a:cubicBezTo>
                    <a:pt x="61511" y="492088"/>
                    <a:pt x="97336" y="476053"/>
                    <a:pt x="131952" y="456037"/>
                  </a:cubicBezTo>
                  <a:cubicBezTo>
                    <a:pt x="270415" y="375971"/>
                    <a:pt x="363317" y="247363"/>
                    <a:pt x="401587" y="104154"/>
                  </a:cubicBezTo>
                  <a:lnTo>
                    <a:pt x="418992" y="0"/>
                  </a:lnTo>
                  <a:close/>
                </a:path>
              </a:pathLst>
            </a:custGeom>
            <a:solidFill>
              <a:srgbClr val="194E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77BAD86-4DE4-4D30-AED7-1725E45661AB}"/>
                </a:ext>
              </a:extLst>
            </p:cNvPr>
            <p:cNvSpPr/>
            <p:nvPr/>
          </p:nvSpPr>
          <p:spPr>
            <a:xfrm rot="1802297">
              <a:off x="4617312" y="1636742"/>
              <a:ext cx="1961720" cy="1394938"/>
            </a:xfrm>
            <a:custGeom>
              <a:avLst/>
              <a:gdLst>
                <a:gd name="connsiteX0" fmla="*/ 0 w 1961720"/>
                <a:gd name="connsiteY0" fmla="*/ 0 h 1394938"/>
                <a:gd name="connsiteX1" fmla="*/ 33670 w 1961720"/>
                <a:gd name="connsiteY1" fmla="*/ 74636 h 1394938"/>
                <a:gd name="connsiteX2" fmla="*/ 607072 w 1961720"/>
                <a:gd name="connsiteY2" fmla="*/ 359569 h 1394938"/>
                <a:gd name="connsiteX3" fmla="*/ 693081 w 1961720"/>
                <a:gd name="connsiteY3" fmla="*/ 340039 h 1394938"/>
                <a:gd name="connsiteX4" fmla="*/ 695676 w 1961720"/>
                <a:gd name="connsiteY4" fmla="*/ 349911 h 1394938"/>
                <a:gd name="connsiteX5" fmla="*/ 825182 w 1961720"/>
                <a:gd name="connsiteY5" fmla="*/ 642011 h 1394938"/>
                <a:gd name="connsiteX6" fmla="*/ 1808828 w 1961720"/>
                <a:gd name="connsiteY6" fmla="*/ 1360839 h 1394938"/>
                <a:gd name="connsiteX7" fmla="*/ 1951389 w 1961720"/>
                <a:gd name="connsiteY7" fmla="*/ 1387108 h 1394938"/>
                <a:gd name="connsiteX8" fmla="*/ 1961720 w 1961720"/>
                <a:gd name="connsiteY8" fmla="*/ 1391075 h 1394938"/>
                <a:gd name="connsiteX9" fmla="*/ 1904862 w 1961720"/>
                <a:gd name="connsiteY9" fmla="*/ 1394765 h 1394938"/>
                <a:gd name="connsiteX10" fmla="*/ 693695 w 1961720"/>
                <a:gd name="connsiteY10" fmla="*/ 939388 h 1394938"/>
                <a:gd name="connsiteX11" fmla="*/ 44602 w 1961720"/>
                <a:gd name="connsiteY11" fmla="*/ 119019 h 1394938"/>
                <a:gd name="connsiteX12" fmla="*/ 0 w 1961720"/>
                <a:gd name="connsiteY12" fmla="*/ 0 h 1394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61720" h="1394938">
                  <a:moveTo>
                    <a:pt x="0" y="0"/>
                  </a:moveTo>
                  <a:lnTo>
                    <a:pt x="33670" y="74636"/>
                  </a:lnTo>
                  <a:cubicBezTo>
                    <a:pt x="153768" y="282331"/>
                    <a:pt x="383090" y="387513"/>
                    <a:pt x="607072" y="359569"/>
                  </a:cubicBezTo>
                  <a:lnTo>
                    <a:pt x="693081" y="340039"/>
                  </a:lnTo>
                  <a:lnTo>
                    <a:pt x="695676" y="349911"/>
                  </a:lnTo>
                  <a:cubicBezTo>
                    <a:pt x="727685" y="449941"/>
                    <a:pt x="770705" y="547801"/>
                    <a:pt x="825182" y="642011"/>
                  </a:cubicBezTo>
                  <a:cubicBezTo>
                    <a:pt x="1043087" y="1018853"/>
                    <a:pt x="1403031" y="1265959"/>
                    <a:pt x="1808828" y="1360839"/>
                  </a:cubicBezTo>
                  <a:lnTo>
                    <a:pt x="1951389" y="1387108"/>
                  </a:lnTo>
                  <a:lnTo>
                    <a:pt x="1961720" y="1391075"/>
                  </a:lnTo>
                  <a:lnTo>
                    <a:pt x="1904862" y="1394765"/>
                  </a:lnTo>
                  <a:cubicBezTo>
                    <a:pt x="1527227" y="1400861"/>
                    <a:pt x="1084440" y="1246115"/>
                    <a:pt x="693695" y="939388"/>
                  </a:cubicBezTo>
                  <a:cubicBezTo>
                    <a:pt x="389783" y="700823"/>
                    <a:pt x="167705" y="409842"/>
                    <a:pt x="44602" y="11901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76B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72CA8E1-AD74-49DF-8C2E-2818995D4B99}"/>
              </a:ext>
            </a:extLst>
          </p:cNvPr>
          <p:cNvGrpSpPr/>
          <p:nvPr/>
        </p:nvGrpSpPr>
        <p:grpSpPr>
          <a:xfrm rot="13500000">
            <a:off x="4437203" y="3560871"/>
            <a:ext cx="1961720" cy="2465203"/>
            <a:chOff x="4617312" y="741469"/>
            <a:chExt cx="1961720" cy="246520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ECED554-55B7-4432-A00F-AE5197AE716C}"/>
                </a:ext>
              </a:extLst>
            </p:cNvPr>
            <p:cNvSpPr/>
            <p:nvPr/>
          </p:nvSpPr>
          <p:spPr>
            <a:xfrm rot="1802297">
              <a:off x="5091321" y="741469"/>
              <a:ext cx="1155360" cy="1158621"/>
            </a:xfrm>
            <a:custGeom>
              <a:avLst/>
              <a:gdLst>
                <a:gd name="connsiteX0" fmla="*/ 287952 w 1155360"/>
                <a:gd name="connsiteY0" fmla="*/ 77891 h 1158621"/>
                <a:gd name="connsiteX1" fmla="*/ 1079315 w 1155360"/>
                <a:gd name="connsiteY1" fmla="*/ 289369 h 1158621"/>
                <a:gd name="connsiteX2" fmla="*/ 1152769 w 1155360"/>
                <a:gd name="connsiteY2" fmla="*/ 507330 h 1158621"/>
                <a:gd name="connsiteX3" fmla="*/ 1155360 w 1155360"/>
                <a:gd name="connsiteY3" fmla="*/ 603331 h 1158621"/>
                <a:gd name="connsiteX4" fmla="*/ 1154757 w 1155360"/>
                <a:gd name="connsiteY4" fmla="*/ 621153 h 1158621"/>
                <a:gd name="connsiteX5" fmla="*/ 1154877 w 1155360"/>
                <a:gd name="connsiteY5" fmla="*/ 624695 h 1158621"/>
                <a:gd name="connsiteX6" fmla="*/ 1137472 w 1155360"/>
                <a:gd name="connsiteY6" fmla="*/ 728849 h 1158621"/>
                <a:gd name="connsiteX7" fmla="*/ 867836 w 1155360"/>
                <a:gd name="connsiteY7" fmla="*/ 1080732 h 1158621"/>
                <a:gd name="connsiteX8" fmla="*/ 76474 w 1155360"/>
                <a:gd name="connsiteY8" fmla="*/ 869253 h 1158621"/>
                <a:gd name="connsiteX9" fmla="*/ 42803 w 1155360"/>
                <a:gd name="connsiteY9" fmla="*/ 794617 h 1158621"/>
                <a:gd name="connsiteX10" fmla="*/ 40758 w 1155360"/>
                <a:gd name="connsiteY10" fmla="*/ 789161 h 1158621"/>
                <a:gd name="connsiteX11" fmla="*/ 6529 w 1155360"/>
                <a:gd name="connsiteY11" fmla="*/ 665624 h 1158621"/>
                <a:gd name="connsiteX12" fmla="*/ 2844 w 1155360"/>
                <a:gd name="connsiteY12" fmla="*/ 644778 h 1158621"/>
                <a:gd name="connsiteX13" fmla="*/ 0 w 1155360"/>
                <a:gd name="connsiteY13" fmla="*/ 539387 h 1158621"/>
                <a:gd name="connsiteX14" fmla="*/ 287952 w 1155360"/>
                <a:gd name="connsiteY14" fmla="*/ 77891 h 1158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5360" h="1158621">
                  <a:moveTo>
                    <a:pt x="287952" y="77891"/>
                  </a:moveTo>
                  <a:cubicBezTo>
                    <a:pt x="564879" y="-82240"/>
                    <a:pt x="919184" y="12442"/>
                    <a:pt x="1079315" y="289369"/>
                  </a:cubicBezTo>
                  <a:cubicBezTo>
                    <a:pt x="1119347" y="358601"/>
                    <a:pt x="1143454" y="432669"/>
                    <a:pt x="1152769" y="507330"/>
                  </a:cubicBezTo>
                  <a:lnTo>
                    <a:pt x="1155360" y="603331"/>
                  </a:lnTo>
                  <a:lnTo>
                    <a:pt x="1154757" y="621153"/>
                  </a:lnTo>
                  <a:lnTo>
                    <a:pt x="1154877" y="624695"/>
                  </a:lnTo>
                  <a:lnTo>
                    <a:pt x="1137472" y="728849"/>
                  </a:lnTo>
                  <a:cubicBezTo>
                    <a:pt x="1099202" y="872058"/>
                    <a:pt x="1006300" y="1000666"/>
                    <a:pt x="867836" y="1080732"/>
                  </a:cubicBezTo>
                  <a:cubicBezTo>
                    <a:pt x="590910" y="1240862"/>
                    <a:pt x="236604" y="1146180"/>
                    <a:pt x="76474" y="869253"/>
                  </a:cubicBezTo>
                  <a:lnTo>
                    <a:pt x="42803" y="794617"/>
                  </a:lnTo>
                  <a:lnTo>
                    <a:pt x="40758" y="789161"/>
                  </a:lnTo>
                  <a:cubicBezTo>
                    <a:pt x="27262" y="747774"/>
                    <a:pt x="15836" y="706545"/>
                    <a:pt x="6529" y="665624"/>
                  </a:cubicBezTo>
                  <a:lnTo>
                    <a:pt x="2844" y="644778"/>
                  </a:lnTo>
                  <a:lnTo>
                    <a:pt x="0" y="539387"/>
                  </a:lnTo>
                  <a:cubicBezTo>
                    <a:pt x="12983" y="353904"/>
                    <a:pt x="114873" y="177973"/>
                    <a:pt x="287952" y="77891"/>
                  </a:cubicBezTo>
                  <a:close/>
                </a:path>
              </a:pathLst>
            </a:custGeom>
            <a:solidFill>
              <a:srgbClr val="5A2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F527F66-717B-4716-9909-A8491B048D2C}"/>
                </a:ext>
              </a:extLst>
            </p:cNvPr>
            <p:cNvSpPr/>
            <p:nvPr/>
          </p:nvSpPr>
          <p:spPr>
            <a:xfrm rot="1802297">
              <a:off x="5309032" y="1649642"/>
              <a:ext cx="1258308" cy="1557030"/>
            </a:xfrm>
            <a:custGeom>
              <a:avLst/>
              <a:gdLst>
                <a:gd name="connsiteX0" fmla="*/ 418992 w 1258308"/>
                <a:gd name="connsiteY0" fmla="*/ 0 h 1557030"/>
                <a:gd name="connsiteX1" fmla="*/ 424401 w 1258308"/>
                <a:gd name="connsiteY1" fmla="*/ 159949 h 1557030"/>
                <a:gd name="connsiteX2" fmla="*/ 1171217 w 1258308"/>
                <a:gd name="connsiteY2" fmla="*/ 1523588 h 1557030"/>
                <a:gd name="connsiteX3" fmla="*/ 1258308 w 1258308"/>
                <a:gd name="connsiteY3" fmla="*/ 1557030 h 1557030"/>
                <a:gd name="connsiteX4" fmla="*/ 1115747 w 1258308"/>
                <a:gd name="connsiteY4" fmla="*/ 1530761 h 1557030"/>
                <a:gd name="connsiteX5" fmla="*/ 132101 w 1258308"/>
                <a:gd name="connsiteY5" fmla="*/ 811933 h 1557030"/>
                <a:gd name="connsiteX6" fmla="*/ 2595 w 1258308"/>
                <a:gd name="connsiteY6" fmla="*/ 519833 h 1557030"/>
                <a:gd name="connsiteX7" fmla="*/ 0 w 1258308"/>
                <a:gd name="connsiteY7" fmla="*/ 509961 h 1557030"/>
                <a:gd name="connsiteX8" fmla="*/ 25007 w 1258308"/>
                <a:gd name="connsiteY8" fmla="*/ 504283 h 1557030"/>
                <a:gd name="connsiteX9" fmla="*/ 131952 w 1258308"/>
                <a:gd name="connsiteY9" fmla="*/ 456037 h 1557030"/>
                <a:gd name="connsiteX10" fmla="*/ 401587 w 1258308"/>
                <a:gd name="connsiteY10" fmla="*/ 104154 h 1557030"/>
                <a:gd name="connsiteX11" fmla="*/ 418992 w 1258308"/>
                <a:gd name="connsiteY11" fmla="*/ 0 h 1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58308" h="1557030">
                  <a:moveTo>
                    <a:pt x="418992" y="0"/>
                  </a:moveTo>
                  <a:lnTo>
                    <a:pt x="424401" y="159949"/>
                  </a:lnTo>
                  <a:cubicBezTo>
                    <a:pt x="468267" y="805001"/>
                    <a:pt x="768875" y="1336708"/>
                    <a:pt x="1171217" y="1523588"/>
                  </a:cubicBezTo>
                  <a:lnTo>
                    <a:pt x="1258308" y="1557030"/>
                  </a:lnTo>
                  <a:lnTo>
                    <a:pt x="1115747" y="1530761"/>
                  </a:lnTo>
                  <a:cubicBezTo>
                    <a:pt x="709950" y="1435881"/>
                    <a:pt x="350006" y="1188775"/>
                    <a:pt x="132101" y="811933"/>
                  </a:cubicBezTo>
                  <a:cubicBezTo>
                    <a:pt x="77624" y="717723"/>
                    <a:pt x="34604" y="619863"/>
                    <a:pt x="2595" y="519833"/>
                  </a:cubicBezTo>
                  <a:lnTo>
                    <a:pt x="0" y="509961"/>
                  </a:lnTo>
                  <a:lnTo>
                    <a:pt x="25007" y="504283"/>
                  </a:lnTo>
                  <a:cubicBezTo>
                    <a:pt x="61511" y="492088"/>
                    <a:pt x="97336" y="476053"/>
                    <a:pt x="131952" y="456037"/>
                  </a:cubicBezTo>
                  <a:cubicBezTo>
                    <a:pt x="270415" y="375971"/>
                    <a:pt x="363317" y="247363"/>
                    <a:pt x="401587" y="104154"/>
                  </a:cubicBezTo>
                  <a:lnTo>
                    <a:pt x="418992" y="0"/>
                  </a:lnTo>
                  <a:close/>
                </a:path>
              </a:pathLst>
            </a:custGeom>
            <a:solidFill>
              <a:srgbClr val="7338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AB4054D-4602-4FB6-8C78-06E89969BD8D}"/>
                </a:ext>
              </a:extLst>
            </p:cNvPr>
            <p:cNvSpPr/>
            <p:nvPr/>
          </p:nvSpPr>
          <p:spPr>
            <a:xfrm rot="1802297">
              <a:off x="4617312" y="1636742"/>
              <a:ext cx="1961720" cy="1394938"/>
            </a:xfrm>
            <a:custGeom>
              <a:avLst/>
              <a:gdLst>
                <a:gd name="connsiteX0" fmla="*/ 0 w 1961720"/>
                <a:gd name="connsiteY0" fmla="*/ 0 h 1394938"/>
                <a:gd name="connsiteX1" fmla="*/ 33670 w 1961720"/>
                <a:gd name="connsiteY1" fmla="*/ 74636 h 1394938"/>
                <a:gd name="connsiteX2" fmla="*/ 607072 w 1961720"/>
                <a:gd name="connsiteY2" fmla="*/ 359569 h 1394938"/>
                <a:gd name="connsiteX3" fmla="*/ 693081 w 1961720"/>
                <a:gd name="connsiteY3" fmla="*/ 340039 h 1394938"/>
                <a:gd name="connsiteX4" fmla="*/ 695676 w 1961720"/>
                <a:gd name="connsiteY4" fmla="*/ 349911 h 1394938"/>
                <a:gd name="connsiteX5" fmla="*/ 825182 w 1961720"/>
                <a:gd name="connsiteY5" fmla="*/ 642011 h 1394938"/>
                <a:gd name="connsiteX6" fmla="*/ 1808828 w 1961720"/>
                <a:gd name="connsiteY6" fmla="*/ 1360839 h 1394938"/>
                <a:gd name="connsiteX7" fmla="*/ 1951389 w 1961720"/>
                <a:gd name="connsiteY7" fmla="*/ 1387108 h 1394938"/>
                <a:gd name="connsiteX8" fmla="*/ 1961720 w 1961720"/>
                <a:gd name="connsiteY8" fmla="*/ 1391075 h 1394938"/>
                <a:gd name="connsiteX9" fmla="*/ 1904862 w 1961720"/>
                <a:gd name="connsiteY9" fmla="*/ 1394765 h 1394938"/>
                <a:gd name="connsiteX10" fmla="*/ 693695 w 1961720"/>
                <a:gd name="connsiteY10" fmla="*/ 939388 h 1394938"/>
                <a:gd name="connsiteX11" fmla="*/ 44602 w 1961720"/>
                <a:gd name="connsiteY11" fmla="*/ 119019 h 1394938"/>
                <a:gd name="connsiteX12" fmla="*/ 0 w 1961720"/>
                <a:gd name="connsiteY12" fmla="*/ 0 h 1394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61720" h="1394938">
                  <a:moveTo>
                    <a:pt x="0" y="0"/>
                  </a:moveTo>
                  <a:lnTo>
                    <a:pt x="33670" y="74636"/>
                  </a:lnTo>
                  <a:cubicBezTo>
                    <a:pt x="153768" y="282331"/>
                    <a:pt x="383090" y="387513"/>
                    <a:pt x="607072" y="359569"/>
                  </a:cubicBezTo>
                  <a:lnTo>
                    <a:pt x="693081" y="340039"/>
                  </a:lnTo>
                  <a:lnTo>
                    <a:pt x="695676" y="349911"/>
                  </a:lnTo>
                  <a:cubicBezTo>
                    <a:pt x="727685" y="449941"/>
                    <a:pt x="770705" y="547801"/>
                    <a:pt x="825182" y="642011"/>
                  </a:cubicBezTo>
                  <a:cubicBezTo>
                    <a:pt x="1043087" y="1018853"/>
                    <a:pt x="1403031" y="1265959"/>
                    <a:pt x="1808828" y="1360839"/>
                  </a:cubicBezTo>
                  <a:lnTo>
                    <a:pt x="1951389" y="1387108"/>
                  </a:lnTo>
                  <a:lnTo>
                    <a:pt x="1961720" y="1391075"/>
                  </a:lnTo>
                  <a:lnTo>
                    <a:pt x="1904862" y="1394765"/>
                  </a:lnTo>
                  <a:cubicBezTo>
                    <a:pt x="1527227" y="1400861"/>
                    <a:pt x="1084440" y="1246115"/>
                    <a:pt x="693695" y="939388"/>
                  </a:cubicBezTo>
                  <a:cubicBezTo>
                    <a:pt x="389783" y="700823"/>
                    <a:pt x="167705" y="409842"/>
                    <a:pt x="44602" y="11901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648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F53AEFF-6967-41DC-898E-208A2D492744}"/>
              </a:ext>
            </a:extLst>
          </p:cNvPr>
          <p:cNvGrpSpPr/>
          <p:nvPr/>
        </p:nvGrpSpPr>
        <p:grpSpPr>
          <a:xfrm rot="16200000">
            <a:off x="3676183" y="2678769"/>
            <a:ext cx="1961720" cy="2465203"/>
            <a:chOff x="4617312" y="741469"/>
            <a:chExt cx="1961720" cy="2465203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1623538-A1FD-44A5-9578-695994F9364A}"/>
                </a:ext>
              </a:extLst>
            </p:cNvPr>
            <p:cNvSpPr/>
            <p:nvPr/>
          </p:nvSpPr>
          <p:spPr>
            <a:xfrm rot="1802297">
              <a:off x="5091321" y="741469"/>
              <a:ext cx="1155360" cy="1158621"/>
            </a:xfrm>
            <a:custGeom>
              <a:avLst/>
              <a:gdLst>
                <a:gd name="connsiteX0" fmla="*/ 287952 w 1155360"/>
                <a:gd name="connsiteY0" fmla="*/ 77891 h 1158621"/>
                <a:gd name="connsiteX1" fmla="*/ 1079315 w 1155360"/>
                <a:gd name="connsiteY1" fmla="*/ 289369 h 1158621"/>
                <a:gd name="connsiteX2" fmla="*/ 1152769 w 1155360"/>
                <a:gd name="connsiteY2" fmla="*/ 507330 h 1158621"/>
                <a:gd name="connsiteX3" fmla="*/ 1155360 w 1155360"/>
                <a:gd name="connsiteY3" fmla="*/ 603331 h 1158621"/>
                <a:gd name="connsiteX4" fmla="*/ 1154757 w 1155360"/>
                <a:gd name="connsiteY4" fmla="*/ 621153 h 1158621"/>
                <a:gd name="connsiteX5" fmla="*/ 1154877 w 1155360"/>
                <a:gd name="connsiteY5" fmla="*/ 624695 h 1158621"/>
                <a:gd name="connsiteX6" fmla="*/ 1137472 w 1155360"/>
                <a:gd name="connsiteY6" fmla="*/ 728849 h 1158621"/>
                <a:gd name="connsiteX7" fmla="*/ 867836 w 1155360"/>
                <a:gd name="connsiteY7" fmla="*/ 1080732 h 1158621"/>
                <a:gd name="connsiteX8" fmla="*/ 76474 w 1155360"/>
                <a:gd name="connsiteY8" fmla="*/ 869253 h 1158621"/>
                <a:gd name="connsiteX9" fmla="*/ 42803 w 1155360"/>
                <a:gd name="connsiteY9" fmla="*/ 794617 h 1158621"/>
                <a:gd name="connsiteX10" fmla="*/ 40758 w 1155360"/>
                <a:gd name="connsiteY10" fmla="*/ 789161 h 1158621"/>
                <a:gd name="connsiteX11" fmla="*/ 6529 w 1155360"/>
                <a:gd name="connsiteY11" fmla="*/ 665624 h 1158621"/>
                <a:gd name="connsiteX12" fmla="*/ 2844 w 1155360"/>
                <a:gd name="connsiteY12" fmla="*/ 644778 h 1158621"/>
                <a:gd name="connsiteX13" fmla="*/ 0 w 1155360"/>
                <a:gd name="connsiteY13" fmla="*/ 539387 h 1158621"/>
                <a:gd name="connsiteX14" fmla="*/ 287952 w 1155360"/>
                <a:gd name="connsiteY14" fmla="*/ 77891 h 1158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5360" h="1158621">
                  <a:moveTo>
                    <a:pt x="287952" y="77891"/>
                  </a:moveTo>
                  <a:cubicBezTo>
                    <a:pt x="564879" y="-82240"/>
                    <a:pt x="919184" y="12442"/>
                    <a:pt x="1079315" y="289369"/>
                  </a:cubicBezTo>
                  <a:cubicBezTo>
                    <a:pt x="1119347" y="358601"/>
                    <a:pt x="1143454" y="432669"/>
                    <a:pt x="1152769" y="507330"/>
                  </a:cubicBezTo>
                  <a:lnTo>
                    <a:pt x="1155360" y="603331"/>
                  </a:lnTo>
                  <a:lnTo>
                    <a:pt x="1154757" y="621153"/>
                  </a:lnTo>
                  <a:lnTo>
                    <a:pt x="1154877" y="624695"/>
                  </a:lnTo>
                  <a:lnTo>
                    <a:pt x="1137472" y="728849"/>
                  </a:lnTo>
                  <a:cubicBezTo>
                    <a:pt x="1099202" y="872058"/>
                    <a:pt x="1006300" y="1000666"/>
                    <a:pt x="867836" y="1080732"/>
                  </a:cubicBezTo>
                  <a:cubicBezTo>
                    <a:pt x="590910" y="1240862"/>
                    <a:pt x="236604" y="1146180"/>
                    <a:pt x="76474" y="869253"/>
                  </a:cubicBezTo>
                  <a:lnTo>
                    <a:pt x="42803" y="794617"/>
                  </a:lnTo>
                  <a:lnTo>
                    <a:pt x="40758" y="789161"/>
                  </a:lnTo>
                  <a:cubicBezTo>
                    <a:pt x="27262" y="747774"/>
                    <a:pt x="15836" y="706545"/>
                    <a:pt x="6529" y="665624"/>
                  </a:cubicBezTo>
                  <a:lnTo>
                    <a:pt x="2844" y="644778"/>
                  </a:lnTo>
                  <a:lnTo>
                    <a:pt x="0" y="539387"/>
                  </a:lnTo>
                  <a:cubicBezTo>
                    <a:pt x="12983" y="353904"/>
                    <a:pt x="114873" y="177973"/>
                    <a:pt x="287952" y="77891"/>
                  </a:cubicBezTo>
                  <a:close/>
                </a:path>
              </a:pathLst>
            </a:custGeom>
            <a:solidFill>
              <a:srgbClr val="CA1C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72000D3-2880-460C-A40E-C37C077DADD6}"/>
                </a:ext>
              </a:extLst>
            </p:cNvPr>
            <p:cNvSpPr/>
            <p:nvPr/>
          </p:nvSpPr>
          <p:spPr>
            <a:xfrm rot="1802297">
              <a:off x="5309032" y="1649642"/>
              <a:ext cx="1258308" cy="1557030"/>
            </a:xfrm>
            <a:custGeom>
              <a:avLst/>
              <a:gdLst>
                <a:gd name="connsiteX0" fmla="*/ 418992 w 1258308"/>
                <a:gd name="connsiteY0" fmla="*/ 0 h 1557030"/>
                <a:gd name="connsiteX1" fmla="*/ 424401 w 1258308"/>
                <a:gd name="connsiteY1" fmla="*/ 159949 h 1557030"/>
                <a:gd name="connsiteX2" fmla="*/ 1171217 w 1258308"/>
                <a:gd name="connsiteY2" fmla="*/ 1523588 h 1557030"/>
                <a:gd name="connsiteX3" fmla="*/ 1258308 w 1258308"/>
                <a:gd name="connsiteY3" fmla="*/ 1557030 h 1557030"/>
                <a:gd name="connsiteX4" fmla="*/ 1115747 w 1258308"/>
                <a:gd name="connsiteY4" fmla="*/ 1530761 h 1557030"/>
                <a:gd name="connsiteX5" fmla="*/ 132101 w 1258308"/>
                <a:gd name="connsiteY5" fmla="*/ 811933 h 1557030"/>
                <a:gd name="connsiteX6" fmla="*/ 2595 w 1258308"/>
                <a:gd name="connsiteY6" fmla="*/ 519833 h 1557030"/>
                <a:gd name="connsiteX7" fmla="*/ 0 w 1258308"/>
                <a:gd name="connsiteY7" fmla="*/ 509961 h 1557030"/>
                <a:gd name="connsiteX8" fmla="*/ 25007 w 1258308"/>
                <a:gd name="connsiteY8" fmla="*/ 504283 h 1557030"/>
                <a:gd name="connsiteX9" fmla="*/ 131952 w 1258308"/>
                <a:gd name="connsiteY9" fmla="*/ 456037 h 1557030"/>
                <a:gd name="connsiteX10" fmla="*/ 401587 w 1258308"/>
                <a:gd name="connsiteY10" fmla="*/ 104154 h 1557030"/>
                <a:gd name="connsiteX11" fmla="*/ 418992 w 1258308"/>
                <a:gd name="connsiteY11" fmla="*/ 0 h 1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58308" h="1557030">
                  <a:moveTo>
                    <a:pt x="418992" y="0"/>
                  </a:moveTo>
                  <a:lnTo>
                    <a:pt x="424401" y="159949"/>
                  </a:lnTo>
                  <a:cubicBezTo>
                    <a:pt x="468267" y="805001"/>
                    <a:pt x="768875" y="1336708"/>
                    <a:pt x="1171217" y="1523588"/>
                  </a:cubicBezTo>
                  <a:lnTo>
                    <a:pt x="1258308" y="1557030"/>
                  </a:lnTo>
                  <a:lnTo>
                    <a:pt x="1115747" y="1530761"/>
                  </a:lnTo>
                  <a:cubicBezTo>
                    <a:pt x="709950" y="1435881"/>
                    <a:pt x="350006" y="1188775"/>
                    <a:pt x="132101" y="811933"/>
                  </a:cubicBezTo>
                  <a:cubicBezTo>
                    <a:pt x="77624" y="717723"/>
                    <a:pt x="34604" y="619863"/>
                    <a:pt x="2595" y="519833"/>
                  </a:cubicBezTo>
                  <a:lnTo>
                    <a:pt x="0" y="509961"/>
                  </a:lnTo>
                  <a:lnTo>
                    <a:pt x="25007" y="504283"/>
                  </a:lnTo>
                  <a:cubicBezTo>
                    <a:pt x="61511" y="492088"/>
                    <a:pt x="97336" y="476053"/>
                    <a:pt x="131952" y="456037"/>
                  </a:cubicBezTo>
                  <a:cubicBezTo>
                    <a:pt x="270415" y="375971"/>
                    <a:pt x="363317" y="247363"/>
                    <a:pt x="401587" y="104154"/>
                  </a:cubicBezTo>
                  <a:lnTo>
                    <a:pt x="418992" y="0"/>
                  </a:lnTo>
                  <a:close/>
                </a:path>
              </a:pathLst>
            </a:custGeom>
            <a:solidFill>
              <a:srgbClr val="E23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E9CA8EF-0519-4124-A6B1-6C5D1C67BCD5}"/>
                </a:ext>
              </a:extLst>
            </p:cNvPr>
            <p:cNvSpPr/>
            <p:nvPr/>
          </p:nvSpPr>
          <p:spPr>
            <a:xfrm rot="1802297">
              <a:off x="4617312" y="1636742"/>
              <a:ext cx="1961720" cy="1394938"/>
            </a:xfrm>
            <a:custGeom>
              <a:avLst/>
              <a:gdLst>
                <a:gd name="connsiteX0" fmla="*/ 0 w 1961720"/>
                <a:gd name="connsiteY0" fmla="*/ 0 h 1394938"/>
                <a:gd name="connsiteX1" fmla="*/ 33670 w 1961720"/>
                <a:gd name="connsiteY1" fmla="*/ 74636 h 1394938"/>
                <a:gd name="connsiteX2" fmla="*/ 607072 w 1961720"/>
                <a:gd name="connsiteY2" fmla="*/ 359569 h 1394938"/>
                <a:gd name="connsiteX3" fmla="*/ 693081 w 1961720"/>
                <a:gd name="connsiteY3" fmla="*/ 340039 h 1394938"/>
                <a:gd name="connsiteX4" fmla="*/ 695676 w 1961720"/>
                <a:gd name="connsiteY4" fmla="*/ 349911 h 1394938"/>
                <a:gd name="connsiteX5" fmla="*/ 825182 w 1961720"/>
                <a:gd name="connsiteY5" fmla="*/ 642011 h 1394938"/>
                <a:gd name="connsiteX6" fmla="*/ 1808828 w 1961720"/>
                <a:gd name="connsiteY6" fmla="*/ 1360839 h 1394938"/>
                <a:gd name="connsiteX7" fmla="*/ 1951389 w 1961720"/>
                <a:gd name="connsiteY7" fmla="*/ 1387108 h 1394938"/>
                <a:gd name="connsiteX8" fmla="*/ 1961720 w 1961720"/>
                <a:gd name="connsiteY8" fmla="*/ 1391075 h 1394938"/>
                <a:gd name="connsiteX9" fmla="*/ 1904862 w 1961720"/>
                <a:gd name="connsiteY9" fmla="*/ 1394765 h 1394938"/>
                <a:gd name="connsiteX10" fmla="*/ 693695 w 1961720"/>
                <a:gd name="connsiteY10" fmla="*/ 939388 h 1394938"/>
                <a:gd name="connsiteX11" fmla="*/ 44602 w 1961720"/>
                <a:gd name="connsiteY11" fmla="*/ 119019 h 1394938"/>
                <a:gd name="connsiteX12" fmla="*/ 0 w 1961720"/>
                <a:gd name="connsiteY12" fmla="*/ 0 h 1394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61720" h="1394938">
                  <a:moveTo>
                    <a:pt x="0" y="0"/>
                  </a:moveTo>
                  <a:lnTo>
                    <a:pt x="33670" y="74636"/>
                  </a:lnTo>
                  <a:cubicBezTo>
                    <a:pt x="153768" y="282331"/>
                    <a:pt x="383090" y="387513"/>
                    <a:pt x="607072" y="359569"/>
                  </a:cubicBezTo>
                  <a:lnTo>
                    <a:pt x="693081" y="340039"/>
                  </a:lnTo>
                  <a:lnTo>
                    <a:pt x="695676" y="349911"/>
                  </a:lnTo>
                  <a:cubicBezTo>
                    <a:pt x="727685" y="449941"/>
                    <a:pt x="770705" y="547801"/>
                    <a:pt x="825182" y="642011"/>
                  </a:cubicBezTo>
                  <a:cubicBezTo>
                    <a:pt x="1043087" y="1018853"/>
                    <a:pt x="1403031" y="1265959"/>
                    <a:pt x="1808828" y="1360839"/>
                  </a:cubicBezTo>
                  <a:lnTo>
                    <a:pt x="1951389" y="1387108"/>
                  </a:lnTo>
                  <a:lnTo>
                    <a:pt x="1961720" y="1391075"/>
                  </a:lnTo>
                  <a:lnTo>
                    <a:pt x="1904862" y="1394765"/>
                  </a:lnTo>
                  <a:cubicBezTo>
                    <a:pt x="1527227" y="1400861"/>
                    <a:pt x="1084440" y="1246115"/>
                    <a:pt x="693695" y="939388"/>
                  </a:cubicBezTo>
                  <a:cubicBezTo>
                    <a:pt x="389783" y="700823"/>
                    <a:pt x="167705" y="409842"/>
                    <a:pt x="44602" y="11901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C55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014A551-DC9F-408F-9BC4-2000AD8D9D37}"/>
              </a:ext>
            </a:extLst>
          </p:cNvPr>
          <p:cNvGrpSpPr/>
          <p:nvPr/>
        </p:nvGrpSpPr>
        <p:grpSpPr>
          <a:xfrm rot="18900000">
            <a:off x="3753720" y="1514859"/>
            <a:ext cx="1961720" cy="2465203"/>
            <a:chOff x="4617312" y="741469"/>
            <a:chExt cx="1961720" cy="2465203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B00EE06-86FD-45F0-9AAD-165E5ED13B4F}"/>
                </a:ext>
              </a:extLst>
            </p:cNvPr>
            <p:cNvSpPr/>
            <p:nvPr/>
          </p:nvSpPr>
          <p:spPr>
            <a:xfrm rot="1802297">
              <a:off x="5091321" y="741469"/>
              <a:ext cx="1155360" cy="1158621"/>
            </a:xfrm>
            <a:custGeom>
              <a:avLst/>
              <a:gdLst>
                <a:gd name="connsiteX0" fmla="*/ 287952 w 1155360"/>
                <a:gd name="connsiteY0" fmla="*/ 77891 h 1158621"/>
                <a:gd name="connsiteX1" fmla="*/ 1079315 w 1155360"/>
                <a:gd name="connsiteY1" fmla="*/ 289369 h 1158621"/>
                <a:gd name="connsiteX2" fmla="*/ 1152769 w 1155360"/>
                <a:gd name="connsiteY2" fmla="*/ 507330 h 1158621"/>
                <a:gd name="connsiteX3" fmla="*/ 1155360 w 1155360"/>
                <a:gd name="connsiteY3" fmla="*/ 603331 h 1158621"/>
                <a:gd name="connsiteX4" fmla="*/ 1154757 w 1155360"/>
                <a:gd name="connsiteY4" fmla="*/ 621153 h 1158621"/>
                <a:gd name="connsiteX5" fmla="*/ 1154877 w 1155360"/>
                <a:gd name="connsiteY5" fmla="*/ 624695 h 1158621"/>
                <a:gd name="connsiteX6" fmla="*/ 1137472 w 1155360"/>
                <a:gd name="connsiteY6" fmla="*/ 728849 h 1158621"/>
                <a:gd name="connsiteX7" fmla="*/ 867836 w 1155360"/>
                <a:gd name="connsiteY7" fmla="*/ 1080732 h 1158621"/>
                <a:gd name="connsiteX8" fmla="*/ 76474 w 1155360"/>
                <a:gd name="connsiteY8" fmla="*/ 869253 h 1158621"/>
                <a:gd name="connsiteX9" fmla="*/ 42803 w 1155360"/>
                <a:gd name="connsiteY9" fmla="*/ 794617 h 1158621"/>
                <a:gd name="connsiteX10" fmla="*/ 40758 w 1155360"/>
                <a:gd name="connsiteY10" fmla="*/ 789161 h 1158621"/>
                <a:gd name="connsiteX11" fmla="*/ 6529 w 1155360"/>
                <a:gd name="connsiteY11" fmla="*/ 665624 h 1158621"/>
                <a:gd name="connsiteX12" fmla="*/ 2844 w 1155360"/>
                <a:gd name="connsiteY12" fmla="*/ 644778 h 1158621"/>
                <a:gd name="connsiteX13" fmla="*/ 0 w 1155360"/>
                <a:gd name="connsiteY13" fmla="*/ 539387 h 1158621"/>
                <a:gd name="connsiteX14" fmla="*/ 287952 w 1155360"/>
                <a:gd name="connsiteY14" fmla="*/ 77891 h 1158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5360" h="1158621">
                  <a:moveTo>
                    <a:pt x="287952" y="77891"/>
                  </a:moveTo>
                  <a:cubicBezTo>
                    <a:pt x="564879" y="-82240"/>
                    <a:pt x="919184" y="12442"/>
                    <a:pt x="1079315" y="289369"/>
                  </a:cubicBezTo>
                  <a:cubicBezTo>
                    <a:pt x="1119347" y="358601"/>
                    <a:pt x="1143454" y="432669"/>
                    <a:pt x="1152769" y="507330"/>
                  </a:cubicBezTo>
                  <a:lnTo>
                    <a:pt x="1155360" y="603331"/>
                  </a:lnTo>
                  <a:lnTo>
                    <a:pt x="1154757" y="621153"/>
                  </a:lnTo>
                  <a:lnTo>
                    <a:pt x="1154877" y="624695"/>
                  </a:lnTo>
                  <a:lnTo>
                    <a:pt x="1137472" y="728849"/>
                  </a:lnTo>
                  <a:cubicBezTo>
                    <a:pt x="1099202" y="872058"/>
                    <a:pt x="1006300" y="1000666"/>
                    <a:pt x="867836" y="1080732"/>
                  </a:cubicBezTo>
                  <a:cubicBezTo>
                    <a:pt x="590910" y="1240862"/>
                    <a:pt x="236604" y="1146180"/>
                    <a:pt x="76474" y="869253"/>
                  </a:cubicBezTo>
                  <a:lnTo>
                    <a:pt x="42803" y="794617"/>
                  </a:lnTo>
                  <a:lnTo>
                    <a:pt x="40758" y="789161"/>
                  </a:lnTo>
                  <a:cubicBezTo>
                    <a:pt x="27262" y="747774"/>
                    <a:pt x="15836" y="706545"/>
                    <a:pt x="6529" y="665624"/>
                  </a:cubicBezTo>
                  <a:lnTo>
                    <a:pt x="2844" y="644778"/>
                  </a:lnTo>
                  <a:lnTo>
                    <a:pt x="0" y="539387"/>
                  </a:lnTo>
                  <a:cubicBezTo>
                    <a:pt x="12983" y="353904"/>
                    <a:pt x="114873" y="177973"/>
                    <a:pt x="287952" y="77891"/>
                  </a:cubicBezTo>
                  <a:close/>
                </a:path>
              </a:pathLst>
            </a:custGeom>
            <a:solidFill>
              <a:srgbClr val="CE63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4E002D1-16FD-42BA-8D5D-367071876D00}"/>
                </a:ext>
              </a:extLst>
            </p:cNvPr>
            <p:cNvSpPr/>
            <p:nvPr/>
          </p:nvSpPr>
          <p:spPr>
            <a:xfrm rot="1802297">
              <a:off x="5309032" y="1649642"/>
              <a:ext cx="1258308" cy="1557030"/>
            </a:xfrm>
            <a:custGeom>
              <a:avLst/>
              <a:gdLst>
                <a:gd name="connsiteX0" fmla="*/ 418992 w 1258308"/>
                <a:gd name="connsiteY0" fmla="*/ 0 h 1557030"/>
                <a:gd name="connsiteX1" fmla="*/ 424401 w 1258308"/>
                <a:gd name="connsiteY1" fmla="*/ 159949 h 1557030"/>
                <a:gd name="connsiteX2" fmla="*/ 1171217 w 1258308"/>
                <a:gd name="connsiteY2" fmla="*/ 1523588 h 1557030"/>
                <a:gd name="connsiteX3" fmla="*/ 1258308 w 1258308"/>
                <a:gd name="connsiteY3" fmla="*/ 1557030 h 1557030"/>
                <a:gd name="connsiteX4" fmla="*/ 1115747 w 1258308"/>
                <a:gd name="connsiteY4" fmla="*/ 1530761 h 1557030"/>
                <a:gd name="connsiteX5" fmla="*/ 132101 w 1258308"/>
                <a:gd name="connsiteY5" fmla="*/ 811933 h 1557030"/>
                <a:gd name="connsiteX6" fmla="*/ 2595 w 1258308"/>
                <a:gd name="connsiteY6" fmla="*/ 519833 h 1557030"/>
                <a:gd name="connsiteX7" fmla="*/ 0 w 1258308"/>
                <a:gd name="connsiteY7" fmla="*/ 509961 h 1557030"/>
                <a:gd name="connsiteX8" fmla="*/ 25007 w 1258308"/>
                <a:gd name="connsiteY8" fmla="*/ 504283 h 1557030"/>
                <a:gd name="connsiteX9" fmla="*/ 131952 w 1258308"/>
                <a:gd name="connsiteY9" fmla="*/ 456037 h 1557030"/>
                <a:gd name="connsiteX10" fmla="*/ 401587 w 1258308"/>
                <a:gd name="connsiteY10" fmla="*/ 104154 h 1557030"/>
                <a:gd name="connsiteX11" fmla="*/ 418992 w 1258308"/>
                <a:gd name="connsiteY11" fmla="*/ 0 h 1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58308" h="1557030">
                  <a:moveTo>
                    <a:pt x="418992" y="0"/>
                  </a:moveTo>
                  <a:lnTo>
                    <a:pt x="424401" y="159949"/>
                  </a:lnTo>
                  <a:cubicBezTo>
                    <a:pt x="468267" y="805001"/>
                    <a:pt x="768875" y="1336708"/>
                    <a:pt x="1171217" y="1523588"/>
                  </a:cubicBezTo>
                  <a:lnTo>
                    <a:pt x="1258308" y="1557030"/>
                  </a:lnTo>
                  <a:lnTo>
                    <a:pt x="1115747" y="1530761"/>
                  </a:lnTo>
                  <a:cubicBezTo>
                    <a:pt x="709950" y="1435881"/>
                    <a:pt x="350006" y="1188775"/>
                    <a:pt x="132101" y="811933"/>
                  </a:cubicBezTo>
                  <a:cubicBezTo>
                    <a:pt x="77624" y="717723"/>
                    <a:pt x="34604" y="619863"/>
                    <a:pt x="2595" y="519833"/>
                  </a:cubicBezTo>
                  <a:lnTo>
                    <a:pt x="0" y="509961"/>
                  </a:lnTo>
                  <a:lnTo>
                    <a:pt x="25007" y="504283"/>
                  </a:lnTo>
                  <a:cubicBezTo>
                    <a:pt x="61511" y="492088"/>
                    <a:pt x="97336" y="476053"/>
                    <a:pt x="131952" y="456037"/>
                  </a:cubicBezTo>
                  <a:cubicBezTo>
                    <a:pt x="270415" y="375971"/>
                    <a:pt x="363317" y="247363"/>
                    <a:pt x="401587" y="104154"/>
                  </a:cubicBezTo>
                  <a:lnTo>
                    <a:pt x="418992" y="0"/>
                  </a:lnTo>
                  <a:close/>
                </a:path>
              </a:pathLst>
            </a:custGeom>
            <a:solidFill>
              <a:srgbClr val="EF73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7663B98-55D0-4FF1-B5E1-87E26FE6F8E5}"/>
                </a:ext>
              </a:extLst>
            </p:cNvPr>
            <p:cNvSpPr/>
            <p:nvPr/>
          </p:nvSpPr>
          <p:spPr>
            <a:xfrm rot="1802297">
              <a:off x="4617312" y="1636742"/>
              <a:ext cx="1961720" cy="1394938"/>
            </a:xfrm>
            <a:custGeom>
              <a:avLst/>
              <a:gdLst>
                <a:gd name="connsiteX0" fmla="*/ 0 w 1961720"/>
                <a:gd name="connsiteY0" fmla="*/ 0 h 1394938"/>
                <a:gd name="connsiteX1" fmla="*/ 33670 w 1961720"/>
                <a:gd name="connsiteY1" fmla="*/ 74636 h 1394938"/>
                <a:gd name="connsiteX2" fmla="*/ 607072 w 1961720"/>
                <a:gd name="connsiteY2" fmla="*/ 359569 h 1394938"/>
                <a:gd name="connsiteX3" fmla="*/ 693081 w 1961720"/>
                <a:gd name="connsiteY3" fmla="*/ 340039 h 1394938"/>
                <a:gd name="connsiteX4" fmla="*/ 695676 w 1961720"/>
                <a:gd name="connsiteY4" fmla="*/ 349911 h 1394938"/>
                <a:gd name="connsiteX5" fmla="*/ 825182 w 1961720"/>
                <a:gd name="connsiteY5" fmla="*/ 642011 h 1394938"/>
                <a:gd name="connsiteX6" fmla="*/ 1808828 w 1961720"/>
                <a:gd name="connsiteY6" fmla="*/ 1360839 h 1394938"/>
                <a:gd name="connsiteX7" fmla="*/ 1951389 w 1961720"/>
                <a:gd name="connsiteY7" fmla="*/ 1387108 h 1394938"/>
                <a:gd name="connsiteX8" fmla="*/ 1961720 w 1961720"/>
                <a:gd name="connsiteY8" fmla="*/ 1391075 h 1394938"/>
                <a:gd name="connsiteX9" fmla="*/ 1904862 w 1961720"/>
                <a:gd name="connsiteY9" fmla="*/ 1394765 h 1394938"/>
                <a:gd name="connsiteX10" fmla="*/ 693695 w 1961720"/>
                <a:gd name="connsiteY10" fmla="*/ 939388 h 1394938"/>
                <a:gd name="connsiteX11" fmla="*/ 44602 w 1961720"/>
                <a:gd name="connsiteY11" fmla="*/ 119019 h 1394938"/>
                <a:gd name="connsiteX12" fmla="*/ 0 w 1961720"/>
                <a:gd name="connsiteY12" fmla="*/ 0 h 1394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61720" h="1394938">
                  <a:moveTo>
                    <a:pt x="0" y="0"/>
                  </a:moveTo>
                  <a:lnTo>
                    <a:pt x="33670" y="74636"/>
                  </a:lnTo>
                  <a:cubicBezTo>
                    <a:pt x="153768" y="282331"/>
                    <a:pt x="383090" y="387513"/>
                    <a:pt x="607072" y="359569"/>
                  </a:cubicBezTo>
                  <a:lnTo>
                    <a:pt x="693081" y="340039"/>
                  </a:lnTo>
                  <a:lnTo>
                    <a:pt x="695676" y="349911"/>
                  </a:lnTo>
                  <a:cubicBezTo>
                    <a:pt x="727685" y="449941"/>
                    <a:pt x="770705" y="547801"/>
                    <a:pt x="825182" y="642011"/>
                  </a:cubicBezTo>
                  <a:cubicBezTo>
                    <a:pt x="1043087" y="1018853"/>
                    <a:pt x="1403031" y="1265959"/>
                    <a:pt x="1808828" y="1360839"/>
                  </a:cubicBezTo>
                  <a:lnTo>
                    <a:pt x="1951389" y="1387108"/>
                  </a:lnTo>
                  <a:lnTo>
                    <a:pt x="1961720" y="1391075"/>
                  </a:lnTo>
                  <a:lnTo>
                    <a:pt x="1904862" y="1394765"/>
                  </a:lnTo>
                  <a:cubicBezTo>
                    <a:pt x="1527227" y="1400861"/>
                    <a:pt x="1084440" y="1246115"/>
                    <a:pt x="693695" y="939388"/>
                  </a:cubicBezTo>
                  <a:cubicBezTo>
                    <a:pt x="389783" y="700823"/>
                    <a:pt x="167705" y="409842"/>
                    <a:pt x="44602" y="11901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38D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636A57B8-C3BA-46C7-A071-B9627CB3BDBF}"/>
              </a:ext>
            </a:extLst>
          </p:cNvPr>
          <p:cNvSpPr/>
          <p:nvPr/>
        </p:nvSpPr>
        <p:spPr>
          <a:xfrm>
            <a:off x="5190409" y="838644"/>
            <a:ext cx="962502" cy="96250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39700" sx="102000" sy="102000" algn="ctr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E3C3C7D-EED4-4D14-B960-8B2B66AD3F48}"/>
              </a:ext>
            </a:extLst>
          </p:cNvPr>
          <p:cNvSpPr/>
          <p:nvPr/>
        </p:nvSpPr>
        <p:spPr>
          <a:xfrm>
            <a:off x="6813096" y="1168497"/>
            <a:ext cx="962502" cy="96250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39700" sx="102000" sy="102000" algn="ctr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3A133E8-62B4-4C2F-BD41-4CECE5AD11C6}"/>
              </a:ext>
            </a:extLst>
          </p:cNvPr>
          <p:cNvSpPr/>
          <p:nvPr/>
        </p:nvSpPr>
        <p:spPr>
          <a:xfrm>
            <a:off x="7724706" y="2524629"/>
            <a:ext cx="962502" cy="96250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39700" sx="102000" sy="102000" algn="ctr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AE84E20-C4E8-4A54-B149-67E7F7049EAB}"/>
              </a:ext>
            </a:extLst>
          </p:cNvPr>
          <p:cNvSpPr/>
          <p:nvPr/>
        </p:nvSpPr>
        <p:spPr>
          <a:xfrm>
            <a:off x="7401544" y="4137408"/>
            <a:ext cx="962502" cy="96250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39700" sx="102000" sy="102000" algn="ctr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7BD6E7F-EDC2-40D2-A1B8-BF3502AF5097}"/>
              </a:ext>
            </a:extLst>
          </p:cNvPr>
          <p:cNvSpPr/>
          <p:nvPr/>
        </p:nvSpPr>
        <p:spPr>
          <a:xfrm>
            <a:off x="6030153" y="5053021"/>
            <a:ext cx="962502" cy="96250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39700" sx="102000" sy="102000" algn="ctr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EC44FD9-6923-4838-8778-11DF1B410965}"/>
              </a:ext>
            </a:extLst>
          </p:cNvPr>
          <p:cNvSpPr/>
          <p:nvPr/>
        </p:nvSpPr>
        <p:spPr>
          <a:xfrm>
            <a:off x="4422391" y="4732031"/>
            <a:ext cx="962502" cy="96250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39700" sx="102000" sy="102000" algn="ctr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814E57C-B05B-4A88-A130-C2974C931450}"/>
              </a:ext>
            </a:extLst>
          </p:cNvPr>
          <p:cNvSpPr/>
          <p:nvPr/>
        </p:nvSpPr>
        <p:spPr>
          <a:xfrm>
            <a:off x="3521954" y="3359864"/>
            <a:ext cx="962502" cy="96250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39700" sx="102000" sy="102000" algn="ctr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3777940-C6D6-44C6-98D3-610B5DB425B1}"/>
              </a:ext>
            </a:extLst>
          </p:cNvPr>
          <p:cNvSpPr/>
          <p:nvPr/>
        </p:nvSpPr>
        <p:spPr>
          <a:xfrm>
            <a:off x="3842546" y="1754179"/>
            <a:ext cx="962502" cy="96250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39700" sx="102000" sy="102000" algn="ctr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4783E15-AA2A-484B-959A-63602F52DA26}"/>
              </a:ext>
            </a:extLst>
          </p:cNvPr>
          <p:cNvSpPr/>
          <p:nvPr/>
        </p:nvSpPr>
        <p:spPr>
          <a:xfrm>
            <a:off x="5330067" y="2663067"/>
            <a:ext cx="1531867" cy="15318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88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D807A92-90FB-4AEC-A9B9-6CE58C08E649}"/>
              </a:ext>
            </a:extLst>
          </p:cNvPr>
          <p:cNvSpPr txBox="1"/>
          <p:nvPr/>
        </p:nvSpPr>
        <p:spPr>
          <a:xfrm>
            <a:off x="5046672" y="955970"/>
            <a:ext cx="11883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Step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46D98E5-BEF7-47AA-8BD0-1FCE006FA5BA}"/>
              </a:ext>
            </a:extLst>
          </p:cNvPr>
          <p:cNvGrpSpPr/>
          <p:nvPr/>
        </p:nvGrpSpPr>
        <p:grpSpPr>
          <a:xfrm>
            <a:off x="5603119" y="143150"/>
            <a:ext cx="2412777" cy="605294"/>
            <a:chOff x="5603119" y="143150"/>
            <a:chExt cx="2412777" cy="605294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2CCB3BE-6E5B-415F-862B-1E33C53F8F6B}"/>
                </a:ext>
              </a:extLst>
            </p:cNvPr>
            <p:cNvSpPr txBox="1"/>
            <p:nvPr/>
          </p:nvSpPr>
          <p:spPr>
            <a:xfrm>
              <a:off x="6111975" y="143150"/>
              <a:ext cx="1903921" cy="6052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600" b="1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Gill Sans MT" panose="020B0502020104020203" pitchFamily="34" charset="0"/>
                </a:defRPr>
              </a:lvl1pPr>
            </a:lstStyle>
            <a:p>
              <a:pPr algn="l">
                <a:lnSpc>
                  <a:spcPts val="1000"/>
                </a:lnSpc>
              </a:pPr>
              <a:r>
                <a:rPr lang="en-IN" sz="1200" dirty="0"/>
                <a:t>User Login</a:t>
              </a:r>
              <a:endParaRPr lang="en-US" sz="1200" b="0" spc="600" dirty="0">
                <a:latin typeface="Prime" pitchFamily="50" charset="0"/>
                <a:cs typeface="Arial" panose="020B0604020202020204" pitchFamily="34" charset="0"/>
              </a:endParaRPr>
            </a:p>
            <a:p>
              <a:pPr algn="l">
                <a:lnSpc>
                  <a:spcPts val="1000"/>
                </a:lnSpc>
              </a:pPr>
              <a:r>
                <a:rPr lang="en-US" sz="900" dirty="0"/>
                <a:t>Users securely log in or register to access the fake news detection system</a:t>
              </a:r>
              <a:endParaRPr lang="en-US" sz="1200" spc="600" dirty="0">
                <a:latin typeface="Bavro" panose="00000500000000000000" pitchFamily="2" charset="0"/>
                <a:cs typeface="Arial" panose="020B0604020202020204" pitchFamily="34" charset="0"/>
              </a:endParaRPr>
            </a:p>
          </p:txBody>
        </p:sp>
        <p:pic>
          <p:nvPicPr>
            <p:cNvPr id="47" name="Graphic 46" descr="Magnifying glass">
              <a:extLst>
                <a:ext uri="{FF2B5EF4-FFF2-40B4-BE49-F238E27FC236}">
                  <a16:creationId xmlns:a16="http://schemas.microsoft.com/office/drawing/2014/main" id="{062EE6A0-4635-4BC3-822E-C6C95F111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03119" y="144319"/>
              <a:ext cx="395786" cy="395786"/>
            </a:xfrm>
            <a:prstGeom prst="rect">
              <a:avLst/>
            </a:prstGeom>
          </p:spPr>
        </p:pic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E2C4BE76-05E7-440A-B9D9-0D2A346CDF22}"/>
              </a:ext>
            </a:extLst>
          </p:cNvPr>
          <p:cNvSpPr txBox="1"/>
          <p:nvPr/>
        </p:nvSpPr>
        <p:spPr>
          <a:xfrm>
            <a:off x="5003775" y="3266746"/>
            <a:ext cx="2176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tillium Web" panose="00000500000000000000" pitchFamily="2" charset="0"/>
              </a:rPr>
              <a:t>PowerUP</a:t>
            </a:r>
          </a:p>
          <a:p>
            <a:pPr algn="ctr"/>
            <a:r>
              <a:rPr lang="en-US" sz="1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tillium Web" panose="00000500000000000000" pitchFamily="2" charset="0"/>
              </a:rPr>
              <a:t>With</a:t>
            </a:r>
          </a:p>
          <a:p>
            <a:pPr algn="ctr"/>
            <a:r>
              <a:rPr lang="en-US" sz="1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tillium Web" panose="00000500000000000000" pitchFamily="2" charset="0"/>
              </a:rPr>
              <a:t>POWERPOINT</a:t>
            </a:r>
          </a:p>
        </p:txBody>
      </p:sp>
      <p:pic>
        <p:nvPicPr>
          <p:cNvPr id="55" name="Graphic 54" descr="Lightbulb">
            <a:extLst>
              <a:ext uri="{FF2B5EF4-FFF2-40B4-BE49-F238E27FC236}">
                <a16:creationId xmlns:a16="http://schemas.microsoft.com/office/drawing/2014/main" id="{6D144FAD-5D79-4261-AC0D-169BD6CB24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04000" y="2769557"/>
            <a:ext cx="538895" cy="538895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7C4E047C-63F8-48DA-9070-2124D1E29321}"/>
              </a:ext>
            </a:extLst>
          </p:cNvPr>
          <p:cNvSpPr txBox="1"/>
          <p:nvPr/>
        </p:nvSpPr>
        <p:spPr>
          <a:xfrm>
            <a:off x="6716961" y="1315613"/>
            <a:ext cx="11883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Step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FE6B8F9-748B-4695-B506-1CD459DE14DA}"/>
              </a:ext>
            </a:extLst>
          </p:cNvPr>
          <p:cNvSpPr txBox="1"/>
          <p:nvPr/>
        </p:nvSpPr>
        <p:spPr>
          <a:xfrm>
            <a:off x="7618550" y="2668302"/>
            <a:ext cx="11883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Step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EA7961A-D883-4E52-9262-966A5FC63A8C}"/>
              </a:ext>
            </a:extLst>
          </p:cNvPr>
          <p:cNvSpPr txBox="1"/>
          <p:nvPr/>
        </p:nvSpPr>
        <p:spPr>
          <a:xfrm>
            <a:off x="7309290" y="4315500"/>
            <a:ext cx="11883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Step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F71BC15-F0F0-46AF-9478-08CA3BC83B9F}"/>
              </a:ext>
            </a:extLst>
          </p:cNvPr>
          <p:cNvSpPr txBox="1"/>
          <p:nvPr/>
        </p:nvSpPr>
        <p:spPr>
          <a:xfrm>
            <a:off x="5907467" y="5188990"/>
            <a:ext cx="11883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Step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BDBF5D7-7300-4075-847D-86247841A664}"/>
              </a:ext>
            </a:extLst>
          </p:cNvPr>
          <p:cNvSpPr txBox="1"/>
          <p:nvPr/>
        </p:nvSpPr>
        <p:spPr>
          <a:xfrm>
            <a:off x="4309471" y="4880405"/>
            <a:ext cx="11883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Step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06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16E2305-8DA6-4C3E-A786-41C148ECE800}"/>
              </a:ext>
            </a:extLst>
          </p:cNvPr>
          <p:cNvSpPr txBox="1"/>
          <p:nvPr/>
        </p:nvSpPr>
        <p:spPr>
          <a:xfrm>
            <a:off x="3409034" y="3529135"/>
            <a:ext cx="11883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Step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07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5A05414-CC48-451D-86E9-FE04BF7EDB36}"/>
              </a:ext>
            </a:extLst>
          </p:cNvPr>
          <p:cNvSpPr txBox="1"/>
          <p:nvPr/>
        </p:nvSpPr>
        <p:spPr>
          <a:xfrm>
            <a:off x="3731858" y="1856129"/>
            <a:ext cx="11883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Step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08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12158DF-C6D9-430C-B44A-683EB2D99FCC}"/>
              </a:ext>
            </a:extLst>
          </p:cNvPr>
          <p:cNvGrpSpPr/>
          <p:nvPr/>
        </p:nvGrpSpPr>
        <p:grpSpPr>
          <a:xfrm>
            <a:off x="7948023" y="966220"/>
            <a:ext cx="2319944" cy="605294"/>
            <a:chOff x="7948023" y="966220"/>
            <a:chExt cx="2319944" cy="605294"/>
          </a:xfrm>
        </p:grpSpPr>
        <p:pic>
          <p:nvPicPr>
            <p:cNvPr id="50" name="Graphic 49" descr="Filter">
              <a:extLst>
                <a:ext uri="{FF2B5EF4-FFF2-40B4-BE49-F238E27FC236}">
                  <a16:creationId xmlns:a16="http://schemas.microsoft.com/office/drawing/2014/main" id="{2BA0F35A-9C2C-4E0F-921B-D493AAC058E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48023" y="985508"/>
              <a:ext cx="395786" cy="395786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F37208E-4EC6-4D72-9268-65C7E7B273FD}"/>
                </a:ext>
              </a:extLst>
            </p:cNvPr>
            <p:cNvSpPr txBox="1"/>
            <p:nvPr/>
          </p:nvSpPr>
          <p:spPr>
            <a:xfrm>
              <a:off x="8364046" y="966220"/>
              <a:ext cx="1903921" cy="6052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600" b="1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Gill Sans MT" panose="020B0502020104020203" pitchFamily="34" charset="0"/>
                </a:defRPr>
              </a:lvl1pPr>
            </a:lstStyle>
            <a:p>
              <a:pPr algn="l">
                <a:lnSpc>
                  <a:spcPts val="1000"/>
                </a:lnSpc>
              </a:pPr>
              <a:r>
                <a:rPr lang="en-IN" sz="1200" dirty="0"/>
                <a:t>News Submission</a:t>
              </a:r>
              <a:endParaRPr lang="en-US" sz="1200" b="0" spc="600" dirty="0">
                <a:latin typeface="Prime" pitchFamily="50" charset="0"/>
                <a:cs typeface="Arial" panose="020B0604020202020204" pitchFamily="34" charset="0"/>
              </a:endParaRPr>
            </a:p>
            <a:p>
              <a:pPr algn="l">
                <a:lnSpc>
                  <a:spcPts val="1000"/>
                </a:lnSpc>
              </a:pPr>
              <a:r>
                <a:rPr lang="en-US" sz="900" dirty="0"/>
                <a:t>Users submit news content either by pasting text or providing a URL.</a:t>
              </a:r>
              <a:endParaRPr lang="en-US" sz="1200" b="0" spc="600" dirty="0">
                <a:latin typeface="Bavro" panose="00000500000000000000" pitchFamily="2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0DF93630-2799-4872-AAAA-55421EF1CB3E}"/>
              </a:ext>
            </a:extLst>
          </p:cNvPr>
          <p:cNvGrpSpPr/>
          <p:nvPr/>
        </p:nvGrpSpPr>
        <p:grpSpPr>
          <a:xfrm>
            <a:off x="8822189" y="2313242"/>
            <a:ext cx="2324067" cy="605294"/>
            <a:chOff x="8822189" y="2313242"/>
            <a:chExt cx="2324067" cy="605294"/>
          </a:xfrm>
        </p:grpSpPr>
        <p:pic>
          <p:nvPicPr>
            <p:cNvPr id="51" name="Graphic 50" descr="Tag">
              <a:extLst>
                <a:ext uri="{FF2B5EF4-FFF2-40B4-BE49-F238E27FC236}">
                  <a16:creationId xmlns:a16="http://schemas.microsoft.com/office/drawing/2014/main" id="{DE62CB2F-EC32-49AD-980C-25098A27A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822189" y="2313242"/>
              <a:ext cx="395786" cy="395786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9844BDB-D726-4846-B3E7-075F41B01DCD}"/>
                </a:ext>
              </a:extLst>
            </p:cNvPr>
            <p:cNvSpPr txBox="1"/>
            <p:nvPr/>
          </p:nvSpPr>
          <p:spPr>
            <a:xfrm>
              <a:off x="9242335" y="2313242"/>
              <a:ext cx="1903921" cy="6052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600" b="1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Gill Sans MT" panose="020B0502020104020203" pitchFamily="34" charset="0"/>
                </a:defRPr>
              </a:lvl1pPr>
            </a:lstStyle>
            <a:p>
              <a:pPr algn="l">
                <a:lnSpc>
                  <a:spcPts val="1000"/>
                </a:lnSpc>
              </a:pPr>
              <a:r>
                <a:rPr lang="en-IN" sz="1200" dirty="0"/>
                <a:t>Text Cleaning</a:t>
              </a:r>
              <a:endParaRPr lang="en-US" sz="1200" b="0" spc="600" dirty="0">
                <a:latin typeface="Prime" pitchFamily="50" charset="0"/>
                <a:cs typeface="Arial" panose="020B0604020202020204" pitchFamily="34" charset="0"/>
              </a:endParaRPr>
            </a:p>
            <a:p>
              <a:pPr algn="l">
                <a:lnSpc>
                  <a:spcPts val="1000"/>
                </a:lnSpc>
              </a:pPr>
              <a:r>
                <a:rPr lang="en-US" sz="900" dirty="0"/>
                <a:t>The system removes noise, </a:t>
              </a:r>
              <a:r>
                <a:rPr lang="en-US" sz="900" dirty="0" err="1"/>
                <a:t>stopwords</a:t>
              </a:r>
              <a:r>
                <a:rPr lang="en-US" sz="900" dirty="0"/>
                <a:t>, and unnecessary characters from the input text.</a:t>
              </a:r>
              <a:endParaRPr lang="en-US" sz="1200" b="0" spc="600" dirty="0">
                <a:latin typeface="Bavro" panose="00000500000000000000" pitchFamily="2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378BF31-BD2D-4439-A795-F9FB8CB417FE}"/>
              </a:ext>
            </a:extLst>
          </p:cNvPr>
          <p:cNvGrpSpPr/>
          <p:nvPr/>
        </p:nvGrpSpPr>
        <p:grpSpPr>
          <a:xfrm>
            <a:off x="8629421" y="4266465"/>
            <a:ext cx="2311197" cy="762095"/>
            <a:chOff x="8629421" y="4266465"/>
            <a:chExt cx="2311197" cy="762095"/>
          </a:xfrm>
        </p:grpSpPr>
        <p:pic>
          <p:nvPicPr>
            <p:cNvPr id="52" name="Graphic 51" descr="Shopping cart">
              <a:extLst>
                <a:ext uri="{FF2B5EF4-FFF2-40B4-BE49-F238E27FC236}">
                  <a16:creationId xmlns:a16="http://schemas.microsoft.com/office/drawing/2014/main" id="{99D24D6A-586D-4CB2-B9B9-A8C9424836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29421" y="4266465"/>
              <a:ext cx="395786" cy="395786"/>
            </a:xfrm>
            <a:prstGeom prst="rect">
              <a:avLst/>
            </a:prstGeom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D64758F4-1C96-4601-A491-7F10740DD427}"/>
                </a:ext>
              </a:extLst>
            </p:cNvPr>
            <p:cNvSpPr txBox="1"/>
            <p:nvPr/>
          </p:nvSpPr>
          <p:spPr>
            <a:xfrm>
              <a:off x="9036697" y="4295026"/>
              <a:ext cx="1903921" cy="7335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600" b="1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Gill Sans MT" panose="020B0502020104020203" pitchFamily="34" charset="0"/>
                </a:defRPr>
              </a:lvl1pPr>
            </a:lstStyle>
            <a:p>
              <a:pPr algn="l">
                <a:lnSpc>
                  <a:spcPts val="1000"/>
                </a:lnSpc>
              </a:pPr>
              <a:r>
                <a:rPr lang="en-IN" sz="1200" dirty="0"/>
                <a:t>Feature Extraction</a:t>
              </a:r>
              <a:endParaRPr lang="en-US" sz="1200" b="0" spc="600" dirty="0">
                <a:latin typeface="Prime" pitchFamily="50" charset="0"/>
                <a:cs typeface="Arial" panose="020B0604020202020204" pitchFamily="34" charset="0"/>
              </a:endParaRPr>
            </a:p>
            <a:p>
              <a:pPr algn="l">
                <a:lnSpc>
                  <a:spcPts val="1000"/>
                </a:lnSpc>
              </a:pPr>
              <a:r>
                <a:rPr lang="en-US" sz="900" dirty="0"/>
                <a:t>Important tokens, keywords, and named entities are extracted using NLP techniques.</a:t>
              </a:r>
              <a:endParaRPr lang="en-US" sz="1200" b="0" spc="600" dirty="0">
                <a:latin typeface="Bavro" panose="00000500000000000000" pitchFamily="2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F0F2247-604B-41D1-9619-AEAE0173E4E1}"/>
              </a:ext>
            </a:extLst>
          </p:cNvPr>
          <p:cNvGrpSpPr/>
          <p:nvPr/>
        </p:nvGrpSpPr>
        <p:grpSpPr>
          <a:xfrm>
            <a:off x="7227200" y="5637846"/>
            <a:ext cx="2354181" cy="626696"/>
            <a:chOff x="7227200" y="5637846"/>
            <a:chExt cx="2354181" cy="626696"/>
          </a:xfrm>
        </p:grpSpPr>
        <p:pic>
          <p:nvPicPr>
            <p:cNvPr id="53" name="Graphic 52" descr="Coins">
              <a:extLst>
                <a:ext uri="{FF2B5EF4-FFF2-40B4-BE49-F238E27FC236}">
                  <a16:creationId xmlns:a16="http://schemas.microsoft.com/office/drawing/2014/main" id="{64E77394-21B1-42CA-99D9-4AAB728127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227200" y="5637846"/>
              <a:ext cx="395786" cy="395786"/>
            </a:xfrm>
            <a:prstGeom prst="rect">
              <a:avLst/>
            </a:prstGeom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FAF324D-4B29-4810-8D64-997AAB37A86F}"/>
                </a:ext>
              </a:extLst>
            </p:cNvPr>
            <p:cNvSpPr txBox="1"/>
            <p:nvPr/>
          </p:nvSpPr>
          <p:spPr>
            <a:xfrm>
              <a:off x="7618550" y="5659248"/>
              <a:ext cx="1962831" cy="6052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600" b="1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Gill Sans MT" panose="020B0502020104020203" pitchFamily="34" charset="0"/>
                </a:defRPr>
              </a:lvl1pPr>
            </a:lstStyle>
            <a:p>
              <a:pPr algn="l">
                <a:lnSpc>
                  <a:spcPts val="1000"/>
                </a:lnSpc>
              </a:pPr>
              <a:r>
                <a:rPr lang="en-IN" sz="1200" dirty="0"/>
                <a:t>Fake News Classification</a:t>
              </a:r>
              <a:endParaRPr lang="en-US" sz="1200" b="0" spc="600" dirty="0">
                <a:latin typeface="Prime" pitchFamily="50" charset="0"/>
                <a:cs typeface="Arial" panose="020B0604020202020204" pitchFamily="34" charset="0"/>
              </a:endParaRPr>
            </a:p>
            <a:p>
              <a:pPr algn="l">
                <a:lnSpc>
                  <a:spcPts val="1000"/>
                </a:lnSpc>
              </a:pPr>
              <a:r>
                <a:rPr lang="en-US" sz="900" dirty="0"/>
                <a:t>Machine learning models analyze the features and classify news as Real, Fake, or Suspicious.</a:t>
              </a:r>
              <a:endParaRPr lang="en-US" sz="1200" b="0" spc="600" dirty="0">
                <a:latin typeface="Bavro" panose="00000500000000000000" pitchFamily="2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D2E1BD3-626B-4DC1-8B4F-24CCC8549EA7}"/>
              </a:ext>
            </a:extLst>
          </p:cNvPr>
          <p:cNvGrpSpPr/>
          <p:nvPr/>
        </p:nvGrpSpPr>
        <p:grpSpPr>
          <a:xfrm>
            <a:off x="1847664" y="5185746"/>
            <a:ext cx="2376065" cy="605294"/>
            <a:chOff x="1847664" y="5185746"/>
            <a:chExt cx="2376065" cy="605294"/>
          </a:xfrm>
        </p:grpSpPr>
        <p:pic>
          <p:nvPicPr>
            <p:cNvPr id="49" name="Graphic 48" descr="Stopwatch">
              <a:extLst>
                <a:ext uri="{FF2B5EF4-FFF2-40B4-BE49-F238E27FC236}">
                  <a16:creationId xmlns:a16="http://schemas.microsoft.com/office/drawing/2014/main" id="{29506361-1F08-44D6-9B15-A67A2E7EC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847664" y="5188862"/>
              <a:ext cx="395786" cy="395786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0B2A56F-759E-4C03-82E4-0ECE67CA975A}"/>
                </a:ext>
              </a:extLst>
            </p:cNvPr>
            <p:cNvSpPr txBox="1"/>
            <p:nvPr/>
          </p:nvSpPr>
          <p:spPr>
            <a:xfrm>
              <a:off x="2319808" y="5185746"/>
              <a:ext cx="1903921" cy="6052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600" b="1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Gill Sans MT" panose="020B0502020104020203" pitchFamily="34" charset="0"/>
                </a:defRPr>
              </a:lvl1pPr>
            </a:lstStyle>
            <a:p>
              <a:pPr algn="l">
                <a:lnSpc>
                  <a:spcPts val="1000"/>
                </a:lnSpc>
              </a:pPr>
              <a:r>
                <a:rPr lang="en-IN" sz="1200" dirty="0"/>
                <a:t>Claim Verification</a:t>
              </a:r>
              <a:endParaRPr lang="en-US" sz="1200" b="0" spc="600" dirty="0">
                <a:latin typeface="Prime" pitchFamily="50" charset="0"/>
                <a:cs typeface="Arial" panose="020B0604020202020204" pitchFamily="34" charset="0"/>
              </a:endParaRPr>
            </a:p>
            <a:p>
              <a:pPr algn="l">
                <a:lnSpc>
                  <a:spcPts val="1000"/>
                </a:lnSpc>
              </a:pPr>
              <a:r>
                <a:rPr lang="en-US" sz="900" dirty="0"/>
                <a:t>Detected claims are verified using trusted external fact-checking APIs.</a:t>
              </a:r>
              <a:endParaRPr lang="en-US" sz="1200" b="0" spc="600" dirty="0">
                <a:latin typeface="Bavro" panose="00000500000000000000" pitchFamily="2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BF583FC-C2B3-4191-A919-382A0383A5AE}"/>
              </a:ext>
            </a:extLst>
          </p:cNvPr>
          <p:cNvGrpSpPr/>
          <p:nvPr/>
        </p:nvGrpSpPr>
        <p:grpSpPr>
          <a:xfrm>
            <a:off x="1219386" y="3248279"/>
            <a:ext cx="2358856" cy="663703"/>
            <a:chOff x="1219386" y="3248279"/>
            <a:chExt cx="2358856" cy="663703"/>
          </a:xfrm>
        </p:grpSpPr>
        <p:pic>
          <p:nvPicPr>
            <p:cNvPr id="46" name="Graphic 45" descr="Upward trend">
              <a:extLst>
                <a:ext uri="{FF2B5EF4-FFF2-40B4-BE49-F238E27FC236}">
                  <a16:creationId xmlns:a16="http://schemas.microsoft.com/office/drawing/2014/main" id="{24C98F5A-4A14-4526-92B0-3AC9B04763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219386" y="3248279"/>
              <a:ext cx="395786" cy="395786"/>
            </a:xfrm>
            <a:prstGeom prst="rect">
              <a:avLst/>
            </a:prstGeom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389873E-EE8B-4413-A98A-587B5A0C0E1E}"/>
                </a:ext>
              </a:extLst>
            </p:cNvPr>
            <p:cNvSpPr txBox="1"/>
            <p:nvPr/>
          </p:nvSpPr>
          <p:spPr>
            <a:xfrm>
              <a:off x="1674321" y="3306688"/>
              <a:ext cx="1903921" cy="6052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600" b="1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Gill Sans MT" panose="020B0502020104020203" pitchFamily="34" charset="0"/>
                </a:defRPr>
              </a:lvl1pPr>
            </a:lstStyle>
            <a:p>
              <a:pPr algn="l">
                <a:lnSpc>
                  <a:spcPts val="1000"/>
                </a:lnSpc>
              </a:pPr>
              <a:r>
                <a:rPr lang="en-IN" sz="1200" dirty="0"/>
                <a:t>Result Storage</a:t>
              </a:r>
              <a:endParaRPr lang="en-US" sz="1200" b="0" spc="600" dirty="0">
                <a:latin typeface="Prime" pitchFamily="50" charset="0"/>
                <a:cs typeface="Arial" panose="020B0604020202020204" pitchFamily="34" charset="0"/>
              </a:endParaRPr>
            </a:p>
            <a:p>
              <a:pPr algn="l">
                <a:lnSpc>
                  <a:spcPts val="1000"/>
                </a:lnSpc>
              </a:pPr>
              <a:r>
                <a:rPr lang="en-US" sz="900" dirty="0"/>
                <a:t>Analysis results and verification details are stored securely in the database.</a:t>
              </a:r>
              <a:endParaRPr lang="en-US" sz="1200" b="0" spc="600" dirty="0">
                <a:latin typeface="Bavro" panose="00000500000000000000" pitchFamily="2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CBF3AA71-46A9-4194-817B-2A466BF01893}"/>
              </a:ext>
            </a:extLst>
          </p:cNvPr>
          <p:cNvGrpSpPr/>
          <p:nvPr/>
        </p:nvGrpSpPr>
        <p:grpSpPr>
          <a:xfrm>
            <a:off x="1747568" y="1130831"/>
            <a:ext cx="2319259" cy="627514"/>
            <a:chOff x="1747568" y="1130831"/>
            <a:chExt cx="2319259" cy="627514"/>
          </a:xfrm>
        </p:grpSpPr>
        <p:pic>
          <p:nvPicPr>
            <p:cNvPr id="48" name="Graphic 47" descr="Bullseye">
              <a:extLst>
                <a:ext uri="{FF2B5EF4-FFF2-40B4-BE49-F238E27FC236}">
                  <a16:creationId xmlns:a16="http://schemas.microsoft.com/office/drawing/2014/main" id="{1D056CA5-319D-4FF3-A467-36B86EE15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747568" y="1130831"/>
              <a:ext cx="395786" cy="395786"/>
            </a:xfrm>
            <a:prstGeom prst="rect">
              <a:avLst/>
            </a:prstGeom>
          </p:spPr>
        </p:pic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7B7772D-2E6F-45B9-8DE6-7FF2729D2B8D}"/>
                </a:ext>
              </a:extLst>
            </p:cNvPr>
            <p:cNvSpPr txBox="1"/>
            <p:nvPr/>
          </p:nvSpPr>
          <p:spPr>
            <a:xfrm>
              <a:off x="2162906" y="1153051"/>
              <a:ext cx="1903921" cy="6052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600" b="1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Gill Sans MT" panose="020B0502020104020203" pitchFamily="34" charset="0"/>
                </a:defRPr>
              </a:lvl1pPr>
            </a:lstStyle>
            <a:p>
              <a:pPr algn="l">
                <a:lnSpc>
                  <a:spcPts val="1000"/>
                </a:lnSpc>
              </a:pPr>
              <a:r>
                <a:rPr lang="en-IN" sz="1200" dirty="0"/>
                <a:t>Result Display </a:t>
              </a:r>
              <a:br>
                <a:rPr lang="en-IN" sz="1200" dirty="0"/>
              </a:br>
              <a:r>
                <a:rPr lang="en-US" sz="900" dirty="0"/>
                <a:t>The final credibility result with confidence score is shown to the user and admin.</a:t>
              </a:r>
              <a:endParaRPr lang="en-US" sz="900" b="0" dirty="0"/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B1BFFEA7-6549-4ECB-BA37-C72E865D7097}"/>
              </a:ext>
            </a:extLst>
          </p:cNvPr>
          <p:cNvSpPr txBox="1"/>
          <p:nvPr/>
        </p:nvSpPr>
        <p:spPr>
          <a:xfrm>
            <a:off x="286542" y="-34608"/>
            <a:ext cx="53165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Step CUSTOM SHAPE infographic</a:t>
            </a:r>
          </a:p>
        </p:txBody>
      </p:sp>
    </p:spTree>
    <p:extLst>
      <p:ext uri="{BB962C8B-B14F-4D97-AF65-F5344CB8AC3E}">
        <p14:creationId xmlns:p14="http://schemas.microsoft.com/office/powerpoint/2010/main" val="2466684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1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75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1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25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1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75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1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25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1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750"/>
                            </p:stCondLst>
                            <p:childTnLst>
                              <p:par>
                                <p:cTn id="2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1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250"/>
                            </p:stCondLst>
                            <p:childTnLst>
                              <p:par>
                                <p:cTn id="3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1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97338ED-1796-412A-9724-BCCD8DC4707F}"/>
              </a:ext>
            </a:extLst>
          </p:cNvPr>
          <p:cNvSpPr/>
          <p:nvPr/>
        </p:nvSpPr>
        <p:spPr>
          <a:xfrm>
            <a:off x="5486399" y="315531"/>
            <a:ext cx="1222420" cy="6226936"/>
          </a:xfrm>
          <a:custGeom>
            <a:avLst/>
            <a:gdLst>
              <a:gd name="connsiteX0" fmla="*/ 609600 w 1222420"/>
              <a:gd name="connsiteY0" fmla="*/ 199622 h 6226936"/>
              <a:gd name="connsiteX1" fmla="*/ 163132 w 1222420"/>
              <a:gd name="connsiteY1" fmla="*/ 646090 h 6226936"/>
              <a:gd name="connsiteX2" fmla="*/ 163132 w 1222420"/>
              <a:gd name="connsiteY2" fmla="*/ 5574405 h 6226936"/>
              <a:gd name="connsiteX3" fmla="*/ 609600 w 1222420"/>
              <a:gd name="connsiteY3" fmla="*/ 6020873 h 6226936"/>
              <a:gd name="connsiteX4" fmla="*/ 609599 w 1222420"/>
              <a:gd name="connsiteY4" fmla="*/ 6020874 h 6226936"/>
              <a:gd name="connsiteX5" fmla="*/ 1056067 w 1222420"/>
              <a:gd name="connsiteY5" fmla="*/ 5574406 h 6226936"/>
              <a:gd name="connsiteX6" fmla="*/ 1056068 w 1222420"/>
              <a:gd name="connsiteY6" fmla="*/ 646090 h 6226936"/>
              <a:gd name="connsiteX7" fmla="*/ 609600 w 1222420"/>
              <a:gd name="connsiteY7" fmla="*/ 199622 h 6226936"/>
              <a:gd name="connsiteX8" fmla="*/ 611210 w 1222420"/>
              <a:gd name="connsiteY8" fmla="*/ 0 h 6226936"/>
              <a:gd name="connsiteX9" fmla="*/ 1222420 w 1222420"/>
              <a:gd name="connsiteY9" fmla="*/ 611210 h 6226936"/>
              <a:gd name="connsiteX10" fmla="*/ 1222419 w 1222420"/>
              <a:gd name="connsiteY10" fmla="*/ 5615726 h 6226936"/>
              <a:gd name="connsiteX11" fmla="*/ 611209 w 1222420"/>
              <a:gd name="connsiteY11" fmla="*/ 6226936 h 6226936"/>
              <a:gd name="connsiteX12" fmla="*/ 611210 w 1222420"/>
              <a:gd name="connsiteY12" fmla="*/ 6226935 h 6226936"/>
              <a:gd name="connsiteX13" fmla="*/ 0 w 1222420"/>
              <a:gd name="connsiteY13" fmla="*/ 5615725 h 6226936"/>
              <a:gd name="connsiteX14" fmla="*/ 0 w 1222420"/>
              <a:gd name="connsiteY14" fmla="*/ 611210 h 6226936"/>
              <a:gd name="connsiteX15" fmla="*/ 611210 w 1222420"/>
              <a:gd name="connsiteY15" fmla="*/ 0 h 6226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22420" h="6226936">
                <a:moveTo>
                  <a:pt x="609600" y="199622"/>
                </a:moveTo>
                <a:cubicBezTo>
                  <a:pt x="363023" y="199622"/>
                  <a:pt x="163132" y="399513"/>
                  <a:pt x="163132" y="646090"/>
                </a:cubicBezTo>
                <a:lnTo>
                  <a:pt x="163132" y="5574405"/>
                </a:lnTo>
                <a:cubicBezTo>
                  <a:pt x="163132" y="5820982"/>
                  <a:pt x="363023" y="6020873"/>
                  <a:pt x="609600" y="6020873"/>
                </a:cubicBezTo>
                <a:lnTo>
                  <a:pt x="609599" y="6020874"/>
                </a:lnTo>
                <a:cubicBezTo>
                  <a:pt x="856176" y="6020874"/>
                  <a:pt x="1056067" y="5820983"/>
                  <a:pt x="1056067" y="5574406"/>
                </a:cubicBezTo>
                <a:cubicBezTo>
                  <a:pt x="1056067" y="3931634"/>
                  <a:pt x="1056068" y="2288862"/>
                  <a:pt x="1056068" y="646090"/>
                </a:cubicBezTo>
                <a:cubicBezTo>
                  <a:pt x="1056068" y="399513"/>
                  <a:pt x="856177" y="199622"/>
                  <a:pt x="609600" y="199622"/>
                </a:cubicBezTo>
                <a:close/>
                <a:moveTo>
                  <a:pt x="611210" y="0"/>
                </a:moveTo>
                <a:cubicBezTo>
                  <a:pt x="948772" y="0"/>
                  <a:pt x="1222420" y="273648"/>
                  <a:pt x="1222420" y="611210"/>
                </a:cubicBezTo>
                <a:cubicBezTo>
                  <a:pt x="1222420" y="2279382"/>
                  <a:pt x="1222419" y="3947554"/>
                  <a:pt x="1222419" y="5615726"/>
                </a:cubicBezTo>
                <a:cubicBezTo>
                  <a:pt x="1222419" y="5953288"/>
                  <a:pt x="948771" y="6226936"/>
                  <a:pt x="611209" y="6226936"/>
                </a:cubicBezTo>
                <a:lnTo>
                  <a:pt x="611210" y="6226935"/>
                </a:lnTo>
                <a:cubicBezTo>
                  <a:pt x="273648" y="6226935"/>
                  <a:pt x="0" y="5953287"/>
                  <a:pt x="0" y="5615725"/>
                </a:cubicBezTo>
                <a:lnTo>
                  <a:pt x="0" y="611210"/>
                </a:lnTo>
                <a:cubicBezTo>
                  <a:pt x="0" y="273648"/>
                  <a:pt x="273648" y="0"/>
                  <a:pt x="611210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  <a:effectLst>
            <a:outerShdw blurRad="127000" dist="38100" dir="2700000" algn="tl" rotWithShape="0">
              <a:prstClr val="black">
                <a:alpha val="5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0A9F5BF-03F0-4CB9-A433-5DB82204930D}"/>
              </a:ext>
            </a:extLst>
          </p:cNvPr>
          <p:cNvSpPr/>
          <p:nvPr/>
        </p:nvSpPr>
        <p:spPr>
          <a:xfrm>
            <a:off x="5133205" y="800963"/>
            <a:ext cx="857249" cy="17145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8559BA6-31BE-45EF-8A7B-8018810E6DF3}"/>
              </a:ext>
            </a:extLst>
          </p:cNvPr>
          <p:cNvSpPr/>
          <p:nvPr/>
        </p:nvSpPr>
        <p:spPr>
          <a:xfrm>
            <a:off x="5133205" y="2212415"/>
            <a:ext cx="857249" cy="17145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483D6D5-94B5-4889-9A73-3AE5E783F3C2}"/>
              </a:ext>
            </a:extLst>
          </p:cNvPr>
          <p:cNvSpPr/>
          <p:nvPr/>
        </p:nvSpPr>
        <p:spPr>
          <a:xfrm>
            <a:off x="5133205" y="3623867"/>
            <a:ext cx="857249" cy="17145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BCDD191-3C03-4952-AF13-40C96A7B9C73}"/>
              </a:ext>
            </a:extLst>
          </p:cNvPr>
          <p:cNvSpPr/>
          <p:nvPr/>
        </p:nvSpPr>
        <p:spPr>
          <a:xfrm>
            <a:off x="5133205" y="5035319"/>
            <a:ext cx="857249" cy="17145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0437EEE-2603-4F48-8289-88184901F9DE}"/>
              </a:ext>
            </a:extLst>
          </p:cNvPr>
          <p:cNvSpPr/>
          <p:nvPr/>
        </p:nvSpPr>
        <p:spPr>
          <a:xfrm flipH="1">
            <a:off x="6201546" y="5743891"/>
            <a:ext cx="857249" cy="17145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0C02B0C-092D-41B4-BB90-5D0467EF7D4A}"/>
              </a:ext>
            </a:extLst>
          </p:cNvPr>
          <p:cNvSpPr/>
          <p:nvPr/>
        </p:nvSpPr>
        <p:spPr>
          <a:xfrm flipH="1">
            <a:off x="6201546" y="4367623"/>
            <a:ext cx="857249" cy="17145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9CB4C53-12BC-47C8-A2B6-23EA6B536670}"/>
              </a:ext>
            </a:extLst>
          </p:cNvPr>
          <p:cNvSpPr/>
          <p:nvPr/>
        </p:nvSpPr>
        <p:spPr>
          <a:xfrm flipH="1">
            <a:off x="6201546" y="2937398"/>
            <a:ext cx="857249" cy="17145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3BFE9EE-64D1-4F5C-B753-028030012F11}"/>
              </a:ext>
            </a:extLst>
          </p:cNvPr>
          <p:cNvSpPr/>
          <p:nvPr/>
        </p:nvSpPr>
        <p:spPr>
          <a:xfrm flipH="1">
            <a:off x="6201546" y="1496640"/>
            <a:ext cx="857249" cy="17145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1E28753-278D-4C3C-B7F3-03DDA838CFA3}"/>
              </a:ext>
            </a:extLst>
          </p:cNvPr>
          <p:cNvGrpSpPr/>
          <p:nvPr/>
        </p:nvGrpSpPr>
        <p:grpSpPr>
          <a:xfrm>
            <a:off x="2590800" y="434611"/>
            <a:ext cx="3505201" cy="1075601"/>
            <a:chOff x="2590800" y="434611"/>
            <a:chExt cx="3505201" cy="1075601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4825843C-03B2-4DDB-BCAC-A073F06C667F}"/>
                </a:ext>
              </a:extLst>
            </p:cNvPr>
            <p:cNvSpPr/>
            <p:nvPr/>
          </p:nvSpPr>
          <p:spPr>
            <a:xfrm flipV="1">
              <a:off x="3474719" y="972411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FD330FF-ADDB-45A7-BC9C-2FBFE99C3252}"/>
                </a:ext>
              </a:extLst>
            </p:cNvPr>
            <p:cNvSpPr/>
            <p:nvPr/>
          </p:nvSpPr>
          <p:spPr>
            <a:xfrm>
              <a:off x="2590800" y="434611"/>
              <a:ext cx="883920" cy="1075601"/>
            </a:xfrm>
            <a:custGeom>
              <a:avLst/>
              <a:gdLst>
                <a:gd name="connsiteX0" fmla="*/ 537801 w 883920"/>
                <a:gd name="connsiteY0" fmla="*/ 0 h 1075601"/>
                <a:gd name="connsiteX1" fmla="*/ 883920 w 883920"/>
                <a:gd name="connsiteY1" fmla="*/ 0 h 1075601"/>
                <a:gd name="connsiteX2" fmla="*/ 883920 w 883920"/>
                <a:gd name="connsiteY2" fmla="*/ 1075601 h 1075601"/>
                <a:gd name="connsiteX3" fmla="*/ 537801 w 883920"/>
                <a:gd name="connsiteY3" fmla="*/ 1075601 h 1075601"/>
                <a:gd name="connsiteX4" fmla="*/ 10926 w 883920"/>
                <a:gd name="connsiteY4" fmla="*/ 646186 h 1075601"/>
                <a:gd name="connsiteX5" fmla="*/ 0 w 883920"/>
                <a:gd name="connsiteY5" fmla="*/ 537801 h 1075601"/>
                <a:gd name="connsiteX6" fmla="*/ 10926 w 883920"/>
                <a:gd name="connsiteY6" fmla="*/ 429415 h 1075601"/>
                <a:gd name="connsiteX7" fmla="*/ 537801 w 883920"/>
                <a:gd name="connsiteY7" fmla="*/ 0 h 107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3920" h="1075601">
                  <a:moveTo>
                    <a:pt x="537801" y="0"/>
                  </a:moveTo>
                  <a:lnTo>
                    <a:pt x="883920" y="0"/>
                  </a:lnTo>
                  <a:lnTo>
                    <a:pt x="883920" y="1075601"/>
                  </a:lnTo>
                  <a:lnTo>
                    <a:pt x="537801" y="1075601"/>
                  </a:lnTo>
                  <a:cubicBezTo>
                    <a:pt x="277910" y="1075601"/>
                    <a:pt x="61074" y="891252"/>
                    <a:pt x="10926" y="646186"/>
                  </a:cubicBezTo>
                  <a:lnTo>
                    <a:pt x="0" y="537801"/>
                  </a:lnTo>
                  <a:lnTo>
                    <a:pt x="10926" y="429415"/>
                  </a:lnTo>
                  <a:cubicBezTo>
                    <a:pt x="61074" y="184349"/>
                    <a:pt x="277910" y="0"/>
                    <a:pt x="5378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E1B22"/>
                </a:gs>
                <a:gs pos="100000">
                  <a:srgbClr val="F47B20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A844BFD-073E-4F72-AB2A-7A9284816F66}"/>
                </a:ext>
              </a:extLst>
            </p:cNvPr>
            <p:cNvSpPr/>
            <p:nvPr/>
          </p:nvSpPr>
          <p:spPr>
            <a:xfrm>
              <a:off x="3474720" y="434611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1D05982-D410-45DD-A74B-1E1E96E3A7FA}"/>
                </a:ext>
              </a:extLst>
            </p:cNvPr>
            <p:cNvSpPr txBox="1"/>
            <p:nvPr/>
          </p:nvSpPr>
          <p:spPr>
            <a:xfrm>
              <a:off x="2755534" y="707844"/>
              <a:ext cx="685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Arca Majora 3 Bold" panose="00000800000000000000" pitchFamily="50" charset="0"/>
                </a:rPr>
                <a:t>01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B7CEB22-5E98-47AF-91C7-C4DDE0A7EF8B}"/>
                </a:ext>
              </a:extLst>
            </p:cNvPr>
            <p:cNvSpPr txBox="1"/>
            <p:nvPr/>
          </p:nvSpPr>
          <p:spPr>
            <a:xfrm>
              <a:off x="3510198" y="652204"/>
              <a:ext cx="1970389" cy="8233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dirty="0"/>
                <a:t>User Registration </a:t>
              </a:r>
            </a:p>
            <a:p>
              <a:r>
                <a:rPr lang="en-US" sz="1050" b="1" dirty="0"/>
                <a:t>New users create an account to access the fake news detection system</a:t>
              </a:r>
              <a:r>
                <a:rPr lang="en-US" sz="1050" dirty="0"/>
                <a:t>.</a:t>
              </a:r>
              <a:endParaRPr lang="en-US" sz="1050" dirty="0">
                <a:latin typeface="Bahnschrift Condensed" panose="020B0502040204020203" pitchFamily="34" charset="0"/>
              </a:endParaRPr>
            </a:p>
          </p:txBody>
        </p:sp>
        <p:pic>
          <p:nvPicPr>
            <p:cNvPr id="51" name="Graphic 50" descr="Computer">
              <a:extLst>
                <a:ext uri="{FF2B5EF4-FFF2-40B4-BE49-F238E27FC236}">
                  <a16:creationId xmlns:a16="http://schemas.microsoft.com/office/drawing/2014/main" id="{8D82C37B-EAE9-4D99-858C-4D7638CCD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10199" y="445852"/>
              <a:ext cx="318019" cy="318019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62B6AC3-B958-4604-9F42-74D0C2B13A6C}"/>
              </a:ext>
            </a:extLst>
          </p:cNvPr>
          <p:cNvGrpSpPr/>
          <p:nvPr/>
        </p:nvGrpSpPr>
        <p:grpSpPr>
          <a:xfrm>
            <a:off x="6095999" y="1130288"/>
            <a:ext cx="3505201" cy="1075601"/>
            <a:chOff x="6095999" y="1130288"/>
            <a:chExt cx="3505201" cy="107560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F8BCACB-31B1-4C1D-81D5-0E3BD74C544F}"/>
                </a:ext>
              </a:extLst>
            </p:cNvPr>
            <p:cNvSpPr/>
            <p:nvPr/>
          </p:nvSpPr>
          <p:spPr>
            <a:xfrm flipH="1" flipV="1">
              <a:off x="6096000" y="1668088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ED6910F-A4C9-4881-AEC5-C3C82F75E262}"/>
                </a:ext>
              </a:extLst>
            </p:cNvPr>
            <p:cNvSpPr/>
            <p:nvPr/>
          </p:nvSpPr>
          <p:spPr>
            <a:xfrm flipH="1">
              <a:off x="8717280" y="1130288"/>
              <a:ext cx="883920" cy="1075601"/>
            </a:xfrm>
            <a:custGeom>
              <a:avLst/>
              <a:gdLst>
                <a:gd name="connsiteX0" fmla="*/ 537801 w 883920"/>
                <a:gd name="connsiteY0" fmla="*/ 0 h 1075601"/>
                <a:gd name="connsiteX1" fmla="*/ 883920 w 883920"/>
                <a:gd name="connsiteY1" fmla="*/ 0 h 1075601"/>
                <a:gd name="connsiteX2" fmla="*/ 883920 w 883920"/>
                <a:gd name="connsiteY2" fmla="*/ 1075601 h 1075601"/>
                <a:gd name="connsiteX3" fmla="*/ 537801 w 883920"/>
                <a:gd name="connsiteY3" fmla="*/ 1075601 h 1075601"/>
                <a:gd name="connsiteX4" fmla="*/ 10926 w 883920"/>
                <a:gd name="connsiteY4" fmla="*/ 646186 h 1075601"/>
                <a:gd name="connsiteX5" fmla="*/ 0 w 883920"/>
                <a:gd name="connsiteY5" fmla="*/ 537801 h 1075601"/>
                <a:gd name="connsiteX6" fmla="*/ 10926 w 883920"/>
                <a:gd name="connsiteY6" fmla="*/ 429415 h 1075601"/>
                <a:gd name="connsiteX7" fmla="*/ 537801 w 883920"/>
                <a:gd name="connsiteY7" fmla="*/ 0 h 107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3920" h="1075601">
                  <a:moveTo>
                    <a:pt x="537801" y="0"/>
                  </a:moveTo>
                  <a:lnTo>
                    <a:pt x="883920" y="0"/>
                  </a:lnTo>
                  <a:lnTo>
                    <a:pt x="883920" y="1075601"/>
                  </a:lnTo>
                  <a:lnTo>
                    <a:pt x="537801" y="1075601"/>
                  </a:lnTo>
                  <a:cubicBezTo>
                    <a:pt x="277910" y="1075601"/>
                    <a:pt x="61074" y="891252"/>
                    <a:pt x="10926" y="646186"/>
                  </a:cubicBezTo>
                  <a:lnTo>
                    <a:pt x="0" y="537801"/>
                  </a:lnTo>
                  <a:lnTo>
                    <a:pt x="10926" y="429415"/>
                  </a:lnTo>
                  <a:cubicBezTo>
                    <a:pt x="61074" y="184349"/>
                    <a:pt x="277910" y="0"/>
                    <a:pt x="5378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AA278F"/>
                </a:gs>
                <a:gs pos="100000">
                  <a:srgbClr val="F15FA6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9AD72EE-919C-47A3-BE60-36D22FC77DEA}"/>
                </a:ext>
              </a:extLst>
            </p:cNvPr>
            <p:cNvSpPr/>
            <p:nvPr/>
          </p:nvSpPr>
          <p:spPr>
            <a:xfrm flipH="1">
              <a:off x="6095999" y="1130288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D28641E-2D93-41AA-A70B-84F27D1AA64B}"/>
                </a:ext>
              </a:extLst>
            </p:cNvPr>
            <p:cNvSpPr txBox="1"/>
            <p:nvPr/>
          </p:nvSpPr>
          <p:spPr>
            <a:xfrm>
              <a:off x="8724356" y="1399188"/>
              <a:ext cx="685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Arca Majora 3 Bold" panose="00000800000000000000" pitchFamily="50" charset="0"/>
                </a:rPr>
                <a:t>02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FC9C08F-868A-4532-8D97-E58A5A9A6B30}"/>
                </a:ext>
              </a:extLst>
            </p:cNvPr>
            <p:cNvSpPr txBox="1"/>
            <p:nvPr/>
          </p:nvSpPr>
          <p:spPr>
            <a:xfrm>
              <a:off x="7076462" y="1296859"/>
              <a:ext cx="1686059" cy="8233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dirty="0"/>
                <a:t>User Login </a:t>
              </a:r>
            </a:p>
            <a:p>
              <a:r>
                <a:rPr lang="en-US" sz="1050" b="1" dirty="0"/>
                <a:t>Registered users log in securely using their credentials.</a:t>
              </a:r>
              <a:endParaRPr lang="en-US" sz="1050" b="1" dirty="0">
                <a:latin typeface="Bahnschrift Condensed" panose="020B0502040204020203" pitchFamily="34" charset="0"/>
              </a:endParaRPr>
            </a:p>
          </p:txBody>
        </p:sp>
        <p:pic>
          <p:nvPicPr>
            <p:cNvPr id="52" name="Graphic 51" descr="Laptop">
              <a:extLst>
                <a:ext uri="{FF2B5EF4-FFF2-40B4-BE49-F238E27FC236}">
                  <a16:creationId xmlns:a16="http://schemas.microsoft.com/office/drawing/2014/main" id="{393142AA-F8DB-4DEA-9124-DAD36F8E0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738716" y="1177423"/>
              <a:ext cx="318019" cy="318019"/>
            </a:xfrm>
            <a:prstGeom prst="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A4620E6-E1B0-40F0-9241-6478F3AF4F6C}"/>
              </a:ext>
            </a:extLst>
          </p:cNvPr>
          <p:cNvGrpSpPr/>
          <p:nvPr/>
        </p:nvGrpSpPr>
        <p:grpSpPr>
          <a:xfrm>
            <a:off x="6095999" y="2571046"/>
            <a:ext cx="3505201" cy="1075601"/>
            <a:chOff x="6095999" y="2571046"/>
            <a:chExt cx="3505201" cy="1075601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9E61EF6-BB9C-4005-9C03-6DA9071F7894}"/>
                </a:ext>
              </a:extLst>
            </p:cNvPr>
            <p:cNvSpPr/>
            <p:nvPr/>
          </p:nvSpPr>
          <p:spPr>
            <a:xfrm flipH="1" flipV="1">
              <a:off x="6096000" y="3108846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C1E1F6-4D1B-47DB-B058-B86B8E9E2834}"/>
                </a:ext>
              </a:extLst>
            </p:cNvPr>
            <p:cNvSpPr/>
            <p:nvPr/>
          </p:nvSpPr>
          <p:spPr>
            <a:xfrm flipH="1">
              <a:off x="8717280" y="2571046"/>
              <a:ext cx="883920" cy="1075601"/>
            </a:xfrm>
            <a:custGeom>
              <a:avLst/>
              <a:gdLst>
                <a:gd name="connsiteX0" fmla="*/ 537801 w 883920"/>
                <a:gd name="connsiteY0" fmla="*/ 0 h 1075601"/>
                <a:gd name="connsiteX1" fmla="*/ 883920 w 883920"/>
                <a:gd name="connsiteY1" fmla="*/ 0 h 1075601"/>
                <a:gd name="connsiteX2" fmla="*/ 883920 w 883920"/>
                <a:gd name="connsiteY2" fmla="*/ 1075601 h 1075601"/>
                <a:gd name="connsiteX3" fmla="*/ 537801 w 883920"/>
                <a:gd name="connsiteY3" fmla="*/ 1075601 h 1075601"/>
                <a:gd name="connsiteX4" fmla="*/ 10926 w 883920"/>
                <a:gd name="connsiteY4" fmla="*/ 646186 h 1075601"/>
                <a:gd name="connsiteX5" fmla="*/ 0 w 883920"/>
                <a:gd name="connsiteY5" fmla="*/ 537801 h 1075601"/>
                <a:gd name="connsiteX6" fmla="*/ 10926 w 883920"/>
                <a:gd name="connsiteY6" fmla="*/ 429415 h 1075601"/>
                <a:gd name="connsiteX7" fmla="*/ 537801 w 883920"/>
                <a:gd name="connsiteY7" fmla="*/ 0 h 107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3920" h="1075601">
                  <a:moveTo>
                    <a:pt x="537801" y="0"/>
                  </a:moveTo>
                  <a:lnTo>
                    <a:pt x="883920" y="0"/>
                  </a:lnTo>
                  <a:lnTo>
                    <a:pt x="883920" y="1075601"/>
                  </a:lnTo>
                  <a:lnTo>
                    <a:pt x="537801" y="1075601"/>
                  </a:lnTo>
                  <a:cubicBezTo>
                    <a:pt x="277910" y="1075601"/>
                    <a:pt x="61074" y="891252"/>
                    <a:pt x="10926" y="646186"/>
                  </a:cubicBezTo>
                  <a:lnTo>
                    <a:pt x="0" y="537801"/>
                  </a:lnTo>
                  <a:lnTo>
                    <a:pt x="10926" y="429415"/>
                  </a:lnTo>
                  <a:cubicBezTo>
                    <a:pt x="61074" y="184349"/>
                    <a:pt x="277910" y="0"/>
                    <a:pt x="5378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B0D9"/>
                </a:gs>
                <a:gs pos="100000">
                  <a:srgbClr val="69C6B3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5293AFD-346F-4C85-BEF9-584D4B698EB7}"/>
                </a:ext>
              </a:extLst>
            </p:cNvPr>
            <p:cNvSpPr/>
            <p:nvPr/>
          </p:nvSpPr>
          <p:spPr>
            <a:xfrm flipH="1">
              <a:off x="6095999" y="2571046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31907B8-C3CE-4B76-A34D-18AD8C797065}"/>
                </a:ext>
              </a:extLst>
            </p:cNvPr>
            <p:cNvSpPr txBox="1"/>
            <p:nvPr/>
          </p:nvSpPr>
          <p:spPr>
            <a:xfrm>
              <a:off x="8733358" y="2846609"/>
              <a:ext cx="685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Arca Majora 3 Bold" panose="00000800000000000000" pitchFamily="50" charset="0"/>
                </a:rPr>
                <a:t>04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AF701D5-9F3B-43C9-B5D0-E13445F0CB4E}"/>
                </a:ext>
              </a:extLst>
            </p:cNvPr>
            <p:cNvSpPr txBox="1"/>
            <p:nvPr/>
          </p:nvSpPr>
          <p:spPr>
            <a:xfrm>
              <a:off x="6979921" y="2788800"/>
              <a:ext cx="1766866" cy="8233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dirty="0"/>
                <a:t>Text Preprocessing </a:t>
              </a:r>
              <a:br>
                <a:rPr lang="en-IN" sz="1600" b="1" dirty="0"/>
              </a:br>
              <a:r>
                <a:rPr lang="en-US" sz="1050" b="1" dirty="0"/>
                <a:t>The system cleans and normalizes the input using NLP techniques.</a:t>
              </a:r>
              <a:endParaRPr lang="en-US" sz="1050" b="1" dirty="0">
                <a:latin typeface="Bahnschrift Condensed" panose="020B0502040204020203" pitchFamily="34" charset="0"/>
              </a:endParaRPr>
            </a:p>
          </p:txBody>
        </p:sp>
        <p:pic>
          <p:nvPicPr>
            <p:cNvPr id="54" name="Graphic 53" descr="Monitor">
              <a:extLst>
                <a:ext uri="{FF2B5EF4-FFF2-40B4-BE49-F238E27FC236}">
                  <a16:creationId xmlns:a16="http://schemas.microsoft.com/office/drawing/2014/main" id="{B6C5FCFF-9417-4941-B690-129B25774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783111" y="2624934"/>
              <a:ext cx="318019" cy="318019"/>
            </a:xfrm>
            <a:prstGeom prst="rect">
              <a:avLst/>
            </a:prstGeom>
          </p:spPr>
        </p:pic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8BDCE9F6-055F-482F-8DCC-387451CFB748}"/>
              </a:ext>
            </a:extLst>
          </p:cNvPr>
          <p:cNvSpPr txBox="1"/>
          <p:nvPr/>
        </p:nvSpPr>
        <p:spPr>
          <a:xfrm>
            <a:off x="7101130" y="37761"/>
            <a:ext cx="48628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ca Majora 3 Bold" panose="00000800000000000000" pitchFamily="50" charset="0"/>
              </a:rPr>
              <a:t>8 Step ROUNDED RECTANGULAR Infographic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EE4973A-3A8D-497A-AECC-DAB05C86FBDD}"/>
              </a:ext>
            </a:extLst>
          </p:cNvPr>
          <p:cNvGrpSpPr/>
          <p:nvPr/>
        </p:nvGrpSpPr>
        <p:grpSpPr>
          <a:xfrm>
            <a:off x="6095999" y="3970465"/>
            <a:ext cx="3505201" cy="1106407"/>
            <a:chOff x="6095999" y="3970465"/>
            <a:chExt cx="3505201" cy="1106407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C9279CB-D40E-4594-AE7A-092D7960E521}"/>
                </a:ext>
              </a:extLst>
            </p:cNvPr>
            <p:cNvSpPr/>
            <p:nvPr/>
          </p:nvSpPr>
          <p:spPr>
            <a:xfrm flipH="1" flipV="1">
              <a:off x="6096000" y="4539071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F1A4815-CE82-401D-B7CC-A73CC7CB9F58}"/>
                </a:ext>
              </a:extLst>
            </p:cNvPr>
            <p:cNvSpPr/>
            <p:nvPr/>
          </p:nvSpPr>
          <p:spPr>
            <a:xfrm flipH="1">
              <a:off x="8717280" y="4001271"/>
              <a:ext cx="883920" cy="1075601"/>
            </a:xfrm>
            <a:custGeom>
              <a:avLst/>
              <a:gdLst>
                <a:gd name="connsiteX0" fmla="*/ 537801 w 883920"/>
                <a:gd name="connsiteY0" fmla="*/ 0 h 1075601"/>
                <a:gd name="connsiteX1" fmla="*/ 883920 w 883920"/>
                <a:gd name="connsiteY1" fmla="*/ 0 h 1075601"/>
                <a:gd name="connsiteX2" fmla="*/ 883920 w 883920"/>
                <a:gd name="connsiteY2" fmla="*/ 1075601 h 1075601"/>
                <a:gd name="connsiteX3" fmla="*/ 537801 w 883920"/>
                <a:gd name="connsiteY3" fmla="*/ 1075601 h 1075601"/>
                <a:gd name="connsiteX4" fmla="*/ 10926 w 883920"/>
                <a:gd name="connsiteY4" fmla="*/ 646186 h 1075601"/>
                <a:gd name="connsiteX5" fmla="*/ 0 w 883920"/>
                <a:gd name="connsiteY5" fmla="*/ 537801 h 1075601"/>
                <a:gd name="connsiteX6" fmla="*/ 10926 w 883920"/>
                <a:gd name="connsiteY6" fmla="*/ 429415 h 1075601"/>
                <a:gd name="connsiteX7" fmla="*/ 537801 w 883920"/>
                <a:gd name="connsiteY7" fmla="*/ 0 h 107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3920" h="1075601">
                  <a:moveTo>
                    <a:pt x="537801" y="0"/>
                  </a:moveTo>
                  <a:lnTo>
                    <a:pt x="883920" y="0"/>
                  </a:lnTo>
                  <a:lnTo>
                    <a:pt x="883920" y="1075601"/>
                  </a:lnTo>
                  <a:lnTo>
                    <a:pt x="537801" y="1075601"/>
                  </a:lnTo>
                  <a:cubicBezTo>
                    <a:pt x="277910" y="1075601"/>
                    <a:pt x="61074" y="891252"/>
                    <a:pt x="10926" y="646186"/>
                  </a:cubicBezTo>
                  <a:lnTo>
                    <a:pt x="0" y="537801"/>
                  </a:lnTo>
                  <a:lnTo>
                    <a:pt x="10926" y="429415"/>
                  </a:lnTo>
                  <a:cubicBezTo>
                    <a:pt x="61074" y="184349"/>
                    <a:pt x="277910" y="0"/>
                    <a:pt x="5378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A1CE54"/>
                </a:gs>
                <a:gs pos="100000">
                  <a:srgbClr val="CEE02D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142DB67-820E-4398-AB49-4E5F59213D69}"/>
                </a:ext>
              </a:extLst>
            </p:cNvPr>
            <p:cNvSpPr/>
            <p:nvPr/>
          </p:nvSpPr>
          <p:spPr>
            <a:xfrm flipH="1">
              <a:off x="6095999" y="4001271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9B4B624-08BE-470E-AD7A-DD04B66B0DAB}"/>
                </a:ext>
              </a:extLst>
            </p:cNvPr>
            <p:cNvSpPr txBox="1"/>
            <p:nvPr/>
          </p:nvSpPr>
          <p:spPr>
            <a:xfrm>
              <a:off x="8724356" y="4270171"/>
              <a:ext cx="685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Arca Majora 3 Bold" panose="00000800000000000000" pitchFamily="50" charset="0"/>
                </a:rPr>
                <a:t>06</a:t>
              </a:r>
            </a:p>
          </p:txBody>
        </p:sp>
        <p:pic>
          <p:nvPicPr>
            <p:cNvPr id="56" name="Graphic 55" descr="Tablet">
              <a:extLst>
                <a:ext uri="{FF2B5EF4-FFF2-40B4-BE49-F238E27FC236}">
                  <a16:creationId xmlns:a16="http://schemas.microsoft.com/office/drawing/2014/main" id="{E1C92076-7160-4B46-B2A0-B1802C6D2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765662" y="4048595"/>
              <a:ext cx="318019" cy="318019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B580F6E-CDD6-4F87-A1E2-73A68D0925D4}"/>
                </a:ext>
              </a:extLst>
            </p:cNvPr>
            <p:cNvSpPr txBox="1"/>
            <p:nvPr/>
          </p:nvSpPr>
          <p:spPr>
            <a:xfrm>
              <a:off x="7052084" y="3970465"/>
              <a:ext cx="1686059" cy="10695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dirty="0"/>
                <a:t>Fake News Classification </a:t>
              </a:r>
              <a:br>
                <a:rPr lang="en-IN" sz="1600" b="1" dirty="0"/>
              </a:br>
              <a:r>
                <a:rPr lang="en-US" sz="1050" b="1" dirty="0"/>
                <a:t>AI models classify the news as Real, Fake, or Suspicious.</a:t>
              </a:r>
              <a:endParaRPr lang="en-US" sz="1050" b="1" dirty="0">
                <a:latin typeface="Bahnschrift Condensed" panose="020B0502040204020203" pitchFamily="34" charset="0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657D9F9-BB75-48AA-A23B-E2ED84AEECF3}"/>
              </a:ext>
            </a:extLst>
          </p:cNvPr>
          <p:cNvGrpSpPr/>
          <p:nvPr/>
        </p:nvGrpSpPr>
        <p:grpSpPr>
          <a:xfrm>
            <a:off x="6095999" y="5377539"/>
            <a:ext cx="3505201" cy="1079323"/>
            <a:chOff x="6095999" y="5377539"/>
            <a:chExt cx="3505201" cy="107932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C5D6E32-4D14-46D5-A727-C52DCC4C3EBD}"/>
                </a:ext>
              </a:extLst>
            </p:cNvPr>
            <p:cNvSpPr/>
            <p:nvPr/>
          </p:nvSpPr>
          <p:spPr>
            <a:xfrm flipH="1" flipV="1">
              <a:off x="6096000" y="5915339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5F4E106-A902-4D65-B87F-9D316A5D7FEA}"/>
                </a:ext>
              </a:extLst>
            </p:cNvPr>
            <p:cNvSpPr/>
            <p:nvPr/>
          </p:nvSpPr>
          <p:spPr>
            <a:xfrm flipH="1">
              <a:off x="8717280" y="5377539"/>
              <a:ext cx="883920" cy="1075601"/>
            </a:xfrm>
            <a:custGeom>
              <a:avLst/>
              <a:gdLst>
                <a:gd name="connsiteX0" fmla="*/ 537801 w 883920"/>
                <a:gd name="connsiteY0" fmla="*/ 0 h 1075601"/>
                <a:gd name="connsiteX1" fmla="*/ 883920 w 883920"/>
                <a:gd name="connsiteY1" fmla="*/ 0 h 1075601"/>
                <a:gd name="connsiteX2" fmla="*/ 883920 w 883920"/>
                <a:gd name="connsiteY2" fmla="*/ 1075601 h 1075601"/>
                <a:gd name="connsiteX3" fmla="*/ 537801 w 883920"/>
                <a:gd name="connsiteY3" fmla="*/ 1075601 h 1075601"/>
                <a:gd name="connsiteX4" fmla="*/ 10926 w 883920"/>
                <a:gd name="connsiteY4" fmla="*/ 646186 h 1075601"/>
                <a:gd name="connsiteX5" fmla="*/ 0 w 883920"/>
                <a:gd name="connsiteY5" fmla="*/ 537801 h 1075601"/>
                <a:gd name="connsiteX6" fmla="*/ 10926 w 883920"/>
                <a:gd name="connsiteY6" fmla="*/ 429415 h 1075601"/>
                <a:gd name="connsiteX7" fmla="*/ 537801 w 883920"/>
                <a:gd name="connsiteY7" fmla="*/ 0 h 107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3920" h="1075601">
                  <a:moveTo>
                    <a:pt x="537801" y="0"/>
                  </a:moveTo>
                  <a:lnTo>
                    <a:pt x="883920" y="0"/>
                  </a:lnTo>
                  <a:lnTo>
                    <a:pt x="883920" y="1075601"/>
                  </a:lnTo>
                  <a:lnTo>
                    <a:pt x="537801" y="1075601"/>
                  </a:lnTo>
                  <a:cubicBezTo>
                    <a:pt x="277910" y="1075601"/>
                    <a:pt x="61074" y="891252"/>
                    <a:pt x="10926" y="646186"/>
                  </a:cubicBezTo>
                  <a:lnTo>
                    <a:pt x="0" y="537801"/>
                  </a:lnTo>
                  <a:lnTo>
                    <a:pt x="10926" y="429415"/>
                  </a:lnTo>
                  <a:cubicBezTo>
                    <a:pt x="61074" y="184349"/>
                    <a:pt x="277910" y="0"/>
                    <a:pt x="5378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10F53"/>
                </a:gs>
                <a:gs pos="100000">
                  <a:srgbClr val="FE4785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A7F6050-491D-43DA-B1BA-183816B3899F}"/>
                </a:ext>
              </a:extLst>
            </p:cNvPr>
            <p:cNvSpPr/>
            <p:nvPr/>
          </p:nvSpPr>
          <p:spPr>
            <a:xfrm flipH="1">
              <a:off x="6095999" y="5377539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5F2B263-5758-4CD6-8AE2-C2C89BF6F7FF}"/>
                </a:ext>
              </a:extLst>
            </p:cNvPr>
            <p:cNvSpPr txBox="1"/>
            <p:nvPr/>
          </p:nvSpPr>
          <p:spPr>
            <a:xfrm>
              <a:off x="8733358" y="5622951"/>
              <a:ext cx="685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Arca Majora 3 Bold" panose="00000800000000000000" pitchFamily="50" charset="0"/>
                </a:rPr>
                <a:t>08</a:t>
              </a:r>
            </a:p>
          </p:txBody>
        </p:sp>
        <p:pic>
          <p:nvPicPr>
            <p:cNvPr id="58" name="Graphic 57" descr="Projector screen">
              <a:extLst>
                <a:ext uri="{FF2B5EF4-FFF2-40B4-BE49-F238E27FC236}">
                  <a16:creationId xmlns:a16="http://schemas.microsoft.com/office/drawing/2014/main" id="{510109E2-5F69-49B8-855A-61AADF0BFA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738716" y="5463860"/>
              <a:ext cx="318019" cy="318019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67269EA-DA29-45B6-AD3A-DEF2622499FF}"/>
                </a:ext>
              </a:extLst>
            </p:cNvPr>
            <p:cNvSpPr txBox="1"/>
            <p:nvPr/>
          </p:nvSpPr>
          <p:spPr>
            <a:xfrm>
              <a:off x="7060727" y="5633560"/>
              <a:ext cx="1686059" cy="8233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dirty="0"/>
                <a:t>Result Display </a:t>
              </a:r>
              <a:br>
                <a:rPr lang="en-IN" sz="1600" b="1" dirty="0"/>
              </a:br>
              <a:r>
                <a:rPr lang="en-US" sz="1050" b="1" dirty="0"/>
                <a:t>The final credibility result with confidence score is displayed.</a:t>
              </a:r>
              <a:endParaRPr lang="en-US" sz="1050" b="1" dirty="0">
                <a:latin typeface="Bahnschrift Condensed" panose="020B0502040204020203" pitchFamily="34" charset="0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1E76ABA-1DCC-49EC-8B69-5A4687FB10DE}"/>
              </a:ext>
            </a:extLst>
          </p:cNvPr>
          <p:cNvGrpSpPr/>
          <p:nvPr/>
        </p:nvGrpSpPr>
        <p:grpSpPr>
          <a:xfrm>
            <a:off x="2590800" y="1830419"/>
            <a:ext cx="3505201" cy="1091245"/>
            <a:chOff x="2590800" y="1830419"/>
            <a:chExt cx="3505201" cy="1091245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FEEC09C0-BA0C-493D-A21A-C49CED20A36F}"/>
                </a:ext>
              </a:extLst>
            </p:cNvPr>
            <p:cNvSpPr/>
            <p:nvPr/>
          </p:nvSpPr>
          <p:spPr>
            <a:xfrm flipV="1">
              <a:off x="3474719" y="2383863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5F02C0B-752D-4058-9CC9-34A830DE56D9}"/>
                </a:ext>
              </a:extLst>
            </p:cNvPr>
            <p:cNvSpPr/>
            <p:nvPr/>
          </p:nvSpPr>
          <p:spPr>
            <a:xfrm>
              <a:off x="2590800" y="1830419"/>
              <a:ext cx="883920" cy="1075601"/>
            </a:xfrm>
            <a:custGeom>
              <a:avLst/>
              <a:gdLst>
                <a:gd name="connsiteX0" fmla="*/ 537801 w 883920"/>
                <a:gd name="connsiteY0" fmla="*/ 0 h 1075601"/>
                <a:gd name="connsiteX1" fmla="*/ 883920 w 883920"/>
                <a:gd name="connsiteY1" fmla="*/ 0 h 1075601"/>
                <a:gd name="connsiteX2" fmla="*/ 883920 w 883920"/>
                <a:gd name="connsiteY2" fmla="*/ 1075601 h 1075601"/>
                <a:gd name="connsiteX3" fmla="*/ 537801 w 883920"/>
                <a:gd name="connsiteY3" fmla="*/ 1075601 h 1075601"/>
                <a:gd name="connsiteX4" fmla="*/ 10926 w 883920"/>
                <a:gd name="connsiteY4" fmla="*/ 646186 h 1075601"/>
                <a:gd name="connsiteX5" fmla="*/ 0 w 883920"/>
                <a:gd name="connsiteY5" fmla="*/ 537801 h 1075601"/>
                <a:gd name="connsiteX6" fmla="*/ 10926 w 883920"/>
                <a:gd name="connsiteY6" fmla="*/ 429415 h 1075601"/>
                <a:gd name="connsiteX7" fmla="*/ 537801 w 883920"/>
                <a:gd name="connsiteY7" fmla="*/ 0 h 107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3920" h="1075601">
                  <a:moveTo>
                    <a:pt x="537801" y="0"/>
                  </a:moveTo>
                  <a:lnTo>
                    <a:pt x="883920" y="0"/>
                  </a:lnTo>
                  <a:lnTo>
                    <a:pt x="883920" y="1075601"/>
                  </a:lnTo>
                  <a:lnTo>
                    <a:pt x="537801" y="1075601"/>
                  </a:lnTo>
                  <a:cubicBezTo>
                    <a:pt x="277910" y="1075601"/>
                    <a:pt x="61074" y="891252"/>
                    <a:pt x="10926" y="646186"/>
                  </a:cubicBezTo>
                  <a:lnTo>
                    <a:pt x="0" y="537801"/>
                  </a:lnTo>
                  <a:lnTo>
                    <a:pt x="10926" y="429415"/>
                  </a:lnTo>
                  <a:cubicBezTo>
                    <a:pt x="61074" y="184349"/>
                    <a:pt x="277910" y="0"/>
                    <a:pt x="5378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94AA6"/>
                </a:gs>
                <a:gs pos="100000">
                  <a:srgbClr val="9071B4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F479D8B-173D-43D8-82AF-9AFBF756321B}"/>
                </a:ext>
              </a:extLst>
            </p:cNvPr>
            <p:cNvSpPr/>
            <p:nvPr/>
          </p:nvSpPr>
          <p:spPr>
            <a:xfrm>
              <a:off x="3474720" y="1846063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C4A5BFE-1B36-4518-81F9-837CDFA64E17}"/>
                </a:ext>
              </a:extLst>
            </p:cNvPr>
            <p:cNvSpPr txBox="1"/>
            <p:nvPr/>
          </p:nvSpPr>
          <p:spPr>
            <a:xfrm>
              <a:off x="2774791" y="2114963"/>
              <a:ext cx="685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Arca Majora 3 Bold" panose="00000800000000000000" pitchFamily="50" charset="0"/>
                </a:rPr>
                <a:t>03</a:t>
              </a:r>
            </a:p>
          </p:txBody>
        </p:sp>
        <p:pic>
          <p:nvPicPr>
            <p:cNvPr id="53" name="Graphic 52" descr="Internet">
              <a:extLst>
                <a:ext uri="{FF2B5EF4-FFF2-40B4-BE49-F238E27FC236}">
                  <a16:creationId xmlns:a16="http://schemas.microsoft.com/office/drawing/2014/main" id="{D7F4A42B-5BC6-47A0-BA7B-0D6F8DF7C7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480518" y="1898752"/>
              <a:ext cx="318019" cy="318019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47AFDC5-B8D9-4BB7-BAA6-707ECF6313E6}"/>
                </a:ext>
              </a:extLst>
            </p:cNvPr>
            <p:cNvSpPr txBox="1"/>
            <p:nvPr/>
          </p:nvSpPr>
          <p:spPr>
            <a:xfrm>
              <a:off x="3644582" y="2054542"/>
              <a:ext cx="1836005" cy="661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dirty="0"/>
                <a:t>News Input </a:t>
              </a:r>
              <a:br>
                <a:rPr lang="en-IN" sz="1600" b="1" dirty="0"/>
              </a:br>
              <a:r>
                <a:rPr lang="en-US" sz="1050" b="1" dirty="0"/>
                <a:t>Users submit news articles by entering text or a source URL</a:t>
              </a:r>
              <a:r>
                <a:rPr lang="en-US" sz="1050" dirty="0"/>
                <a:t>.</a:t>
              </a:r>
              <a:endParaRPr lang="en-US" sz="1050" dirty="0">
                <a:latin typeface="Bahnschrift Condensed" panose="020B0502040204020203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4CD189C-80A3-4153-91C2-2DEACCA67483}"/>
              </a:ext>
            </a:extLst>
          </p:cNvPr>
          <p:cNvGrpSpPr/>
          <p:nvPr/>
        </p:nvGrpSpPr>
        <p:grpSpPr>
          <a:xfrm>
            <a:off x="2590800" y="3257515"/>
            <a:ext cx="3505201" cy="1101643"/>
            <a:chOff x="2590800" y="3257515"/>
            <a:chExt cx="3505201" cy="1101643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25BF44A0-43CF-49BA-9EE6-EDDD5A6120FF}"/>
                </a:ext>
              </a:extLst>
            </p:cNvPr>
            <p:cNvSpPr/>
            <p:nvPr/>
          </p:nvSpPr>
          <p:spPr>
            <a:xfrm flipV="1">
              <a:off x="3474719" y="3795315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EDFFDD5-F9E0-42F5-B15C-728120CE1021}"/>
                </a:ext>
              </a:extLst>
            </p:cNvPr>
            <p:cNvSpPr/>
            <p:nvPr/>
          </p:nvSpPr>
          <p:spPr>
            <a:xfrm>
              <a:off x="2590800" y="3257515"/>
              <a:ext cx="883920" cy="1075601"/>
            </a:xfrm>
            <a:custGeom>
              <a:avLst/>
              <a:gdLst>
                <a:gd name="connsiteX0" fmla="*/ 537801 w 883920"/>
                <a:gd name="connsiteY0" fmla="*/ 0 h 1075601"/>
                <a:gd name="connsiteX1" fmla="*/ 883920 w 883920"/>
                <a:gd name="connsiteY1" fmla="*/ 0 h 1075601"/>
                <a:gd name="connsiteX2" fmla="*/ 883920 w 883920"/>
                <a:gd name="connsiteY2" fmla="*/ 1075601 h 1075601"/>
                <a:gd name="connsiteX3" fmla="*/ 537801 w 883920"/>
                <a:gd name="connsiteY3" fmla="*/ 1075601 h 1075601"/>
                <a:gd name="connsiteX4" fmla="*/ 10926 w 883920"/>
                <a:gd name="connsiteY4" fmla="*/ 646186 h 1075601"/>
                <a:gd name="connsiteX5" fmla="*/ 0 w 883920"/>
                <a:gd name="connsiteY5" fmla="*/ 537801 h 1075601"/>
                <a:gd name="connsiteX6" fmla="*/ 10926 w 883920"/>
                <a:gd name="connsiteY6" fmla="*/ 429415 h 1075601"/>
                <a:gd name="connsiteX7" fmla="*/ 537801 w 883920"/>
                <a:gd name="connsiteY7" fmla="*/ 0 h 107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3920" h="1075601">
                  <a:moveTo>
                    <a:pt x="537801" y="0"/>
                  </a:moveTo>
                  <a:lnTo>
                    <a:pt x="883920" y="0"/>
                  </a:lnTo>
                  <a:lnTo>
                    <a:pt x="883920" y="1075601"/>
                  </a:lnTo>
                  <a:lnTo>
                    <a:pt x="537801" y="1075601"/>
                  </a:lnTo>
                  <a:cubicBezTo>
                    <a:pt x="277910" y="1075601"/>
                    <a:pt x="61074" y="891252"/>
                    <a:pt x="10926" y="646186"/>
                  </a:cubicBezTo>
                  <a:lnTo>
                    <a:pt x="0" y="537801"/>
                  </a:lnTo>
                  <a:lnTo>
                    <a:pt x="10926" y="429415"/>
                  </a:lnTo>
                  <a:cubicBezTo>
                    <a:pt x="61074" y="184349"/>
                    <a:pt x="277910" y="0"/>
                    <a:pt x="5378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A567"/>
                </a:gs>
                <a:gs pos="100000">
                  <a:srgbClr val="A2CD4A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B5E7695-57A6-4198-88E6-F8B61A1DA6F4}"/>
                </a:ext>
              </a:extLst>
            </p:cNvPr>
            <p:cNvSpPr/>
            <p:nvPr/>
          </p:nvSpPr>
          <p:spPr>
            <a:xfrm>
              <a:off x="3474720" y="3257515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515622D-C95D-413A-AF4A-8F4ED2CB04B3}"/>
                </a:ext>
              </a:extLst>
            </p:cNvPr>
            <p:cNvSpPr txBox="1"/>
            <p:nvPr/>
          </p:nvSpPr>
          <p:spPr>
            <a:xfrm>
              <a:off x="2752429" y="3525206"/>
              <a:ext cx="685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Arca Majora 3 Bold" panose="00000800000000000000" pitchFamily="50" charset="0"/>
                </a:rPr>
                <a:t>05</a:t>
              </a:r>
            </a:p>
          </p:txBody>
        </p:sp>
        <p:pic>
          <p:nvPicPr>
            <p:cNvPr id="55" name="Graphic 54" descr="Smart Phone">
              <a:extLst>
                <a:ext uri="{FF2B5EF4-FFF2-40B4-BE49-F238E27FC236}">
                  <a16:creationId xmlns:a16="http://schemas.microsoft.com/office/drawing/2014/main" id="{4E6D45BD-C021-4CEF-ADB2-9F6245C73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453476" y="3321507"/>
              <a:ext cx="318019" cy="318019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32551E6-7DE2-46E4-8340-DB2EA6C85D4D}"/>
                </a:ext>
              </a:extLst>
            </p:cNvPr>
            <p:cNvSpPr txBox="1"/>
            <p:nvPr/>
          </p:nvSpPr>
          <p:spPr>
            <a:xfrm>
              <a:off x="3805727" y="3289634"/>
              <a:ext cx="1686059" cy="10695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dirty="0"/>
                <a:t>Feature Extraction </a:t>
              </a:r>
              <a:br>
                <a:rPr lang="en-IN" sz="1600" b="1" dirty="0"/>
              </a:br>
              <a:r>
                <a:rPr lang="en-US" sz="1050" b="1" dirty="0"/>
                <a:t>Important tokens and entities are extracted from the processed text.</a:t>
              </a:r>
              <a:endParaRPr lang="en-US" sz="1050" b="1" dirty="0">
                <a:latin typeface="Bahnschrift Condensed" panose="020B0502040204020203" pitchFamily="34" charset="0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B9E551E-CD0A-4D5F-BC04-7A310D3C298F}"/>
              </a:ext>
            </a:extLst>
          </p:cNvPr>
          <p:cNvGrpSpPr/>
          <p:nvPr/>
        </p:nvGrpSpPr>
        <p:grpSpPr>
          <a:xfrm>
            <a:off x="2590800" y="4668967"/>
            <a:ext cx="3505201" cy="1075601"/>
            <a:chOff x="2590800" y="4668967"/>
            <a:chExt cx="3505201" cy="1075601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814F597-73DA-42D7-A6FA-604E6DDCAF0B}"/>
                </a:ext>
              </a:extLst>
            </p:cNvPr>
            <p:cNvSpPr/>
            <p:nvPr/>
          </p:nvSpPr>
          <p:spPr>
            <a:xfrm>
              <a:off x="2590800" y="4668967"/>
              <a:ext cx="883920" cy="1075601"/>
            </a:xfrm>
            <a:custGeom>
              <a:avLst/>
              <a:gdLst>
                <a:gd name="connsiteX0" fmla="*/ 537801 w 883920"/>
                <a:gd name="connsiteY0" fmla="*/ 0 h 1075601"/>
                <a:gd name="connsiteX1" fmla="*/ 883920 w 883920"/>
                <a:gd name="connsiteY1" fmla="*/ 0 h 1075601"/>
                <a:gd name="connsiteX2" fmla="*/ 883920 w 883920"/>
                <a:gd name="connsiteY2" fmla="*/ 1075601 h 1075601"/>
                <a:gd name="connsiteX3" fmla="*/ 537801 w 883920"/>
                <a:gd name="connsiteY3" fmla="*/ 1075601 h 1075601"/>
                <a:gd name="connsiteX4" fmla="*/ 10926 w 883920"/>
                <a:gd name="connsiteY4" fmla="*/ 646186 h 1075601"/>
                <a:gd name="connsiteX5" fmla="*/ 0 w 883920"/>
                <a:gd name="connsiteY5" fmla="*/ 537801 h 1075601"/>
                <a:gd name="connsiteX6" fmla="*/ 10926 w 883920"/>
                <a:gd name="connsiteY6" fmla="*/ 429415 h 1075601"/>
                <a:gd name="connsiteX7" fmla="*/ 537801 w 883920"/>
                <a:gd name="connsiteY7" fmla="*/ 0 h 107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3920" h="1075601">
                  <a:moveTo>
                    <a:pt x="537801" y="0"/>
                  </a:moveTo>
                  <a:lnTo>
                    <a:pt x="883920" y="0"/>
                  </a:lnTo>
                  <a:lnTo>
                    <a:pt x="883920" y="1075601"/>
                  </a:lnTo>
                  <a:lnTo>
                    <a:pt x="537801" y="1075601"/>
                  </a:lnTo>
                  <a:cubicBezTo>
                    <a:pt x="277910" y="1075601"/>
                    <a:pt x="61074" y="891252"/>
                    <a:pt x="10926" y="646186"/>
                  </a:cubicBezTo>
                  <a:lnTo>
                    <a:pt x="0" y="537801"/>
                  </a:lnTo>
                  <a:lnTo>
                    <a:pt x="10926" y="429415"/>
                  </a:lnTo>
                  <a:cubicBezTo>
                    <a:pt x="61074" y="184349"/>
                    <a:pt x="277910" y="0"/>
                    <a:pt x="5378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B25B45"/>
                </a:gs>
                <a:gs pos="100000">
                  <a:srgbClr val="FED376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E9229826-26E7-47FA-9357-E38D07515416}"/>
                </a:ext>
              </a:extLst>
            </p:cNvPr>
            <p:cNvGrpSpPr/>
            <p:nvPr/>
          </p:nvGrpSpPr>
          <p:grpSpPr>
            <a:xfrm>
              <a:off x="2774791" y="4668967"/>
              <a:ext cx="3321210" cy="1075601"/>
              <a:chOff x="2774791" y="4668967"/>
              <a:chExt cx="3321210" cy="1075601"/>
            </a:xfrm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E119DBF6-8F68-4D33-B965-90BE47DED9B9}"/>
                  </a:ext>
                </a:extLst>
              </p:cNvPr>
              <p:cNvSpPr/>
              <p:nvPr/>
            </p:nvSpPr>
            <p:spPr>
              <a:xfrm flipV="1">
                <a:off x="3474719" y="5206767"/>
                <a:ext cx="2621281" cy="537801"/>
              </a:xfrm>
              <a:custGeom>
                <a:avLst/>
                <a:gdLst>
                  <a:gd name="connsiteX0" fmla="*/ 0 w 2621281"/>
                  <a:gd name="connsiteY0" fmla="*/ 0 h 537801"/>
                  <a:gd name="connsiteX1" fmla="*/ 2083480 w 2621281"/>
                  <a:gd name="connsiteY1" fmla="*/ 0 h 537801"/>
                  <a:gd name="connsiteX2" fmla="*/ 2621281 w 2621281"/>
                  <a:gd name="connsiteY2" fmla="*/ 537801 h 537801"/>
                  <a:gd name="connsiteX3" fmla="*/ 2621280 w 2621281"/>
                  <a:gd name="connsiteY3" fmla="*/ 537801 h 537801"/>
                  <a:gd name="connsiteX4" fmla="*/ 2331720 w 2621281"/>
                  <a:gd name="connsiteY4" fmla="*/ 537801 h 537801"/>
                  <a:gd name="connsiteX5" fmla="*/ 2331720 w 2621281"/>
                  <a:gd name="connsiteY5" fmla="*/ 451779 h 537801"/>
                  <a:gd name="connsiteX6" fmla="*/ 1836420 w 2621281"/>
                  <a:gd name="connsiteY6" fmla="*/ 451779 h 537801"/>
                  <a:gd name="connsiteX7" fmla="*/ 1836420 w 2621281"/>
                  <a:gd name="connsiteY7" fmla="*/ 537801 h 537801"/>
                  <a:gd name="connsiteX8" fmla="*/ 0 w 2621281"/>
                  <a:gd name="connsiteY8" fmla="*/ 537801 h 537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21281" h="537801">
                    <a:moveTo>
                      <a:pt x="0" y="0"/>
                    </a:moveTo>
                    <a:lnTo>
                      <a:pt x="2083480" y="0"/>
                    </a:lnTo>
                    <a:cubicBezTo>
                      <a:pt x="2380499" y="0"/>
                      <a:pt x="2621281" y="240782"/>
                      <a:pt x="2621281" y="537801"/>
                    </a:cubicBezTo>
                    <a:lnTo>
                      <a:pt x="2621280" y="537801"/>
                    </a:lnTo>
                    <a:lnTo>
                      <a:pt x="2331720" y="537801"/>
                    </a:lnTo>
                    <a:lnTo>
                      <a:pt x="2331720" y="451779"/>
                    </a:lnTo>
                    <a:lnTo>
                      <a:pt x="1836420" y="451779"/>
                    </a:lnTo>
                    <a:lnTo>
                      <a:pt x="1836420" y="537801"/>
                    </a:lnTo>
                    <a:lnTo>
                      <a:pt x="0" y="537801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44DF0BC7-74A3-47A7-899C-50A0E9C22EB7}"/>
                  </a:ext>
                </a:extLst>
              </p:cNvPr>
              <p:cNvSpPr/>
              <p:nvPr/>
            </p:nvSpPr>
            <p:spPr>
              <a:xfrm>
                <a:off x="3474720" y="4668967"/>
                <a:ext cx="2621281" cy="537801"/>
              </a:xfrm>
              <a:custGeom>
                <a:avLst/>
                <a:gdLst>
                  <a:gd name="connsiteX0" fmla="*/ 0 w 2621281"/>
                  <a:gd name="connsiteY0" fmla="*/ 0 h 537801"/>
                  <a:gd name="connsiteX1" fmla="*/ 2083480 w 2621281"/>
                  <a:gd name="connsiteY1" fmla="*/ 0 h 537801"/>
                  <a:gd name="connsiteX2" fmla="*/ 2621281 w 2621281"/>
                  <a:gd name="connsiteY2" fmla="*/ 537801 h 537801"/>
                  <a:gd name="connsiteX3" fmla="*/ 2621280 w 2621281"/>
                  <a:gd name="connsiteY3" fmla="*/ 537801 h 537801"/>
                  <a:gd name="connsiteX4" fmla="*/ 2331720 w 2621281"/>
                  <a:gd name="connsiteY4" fmla="*/ 537801 h 537801"/>
                  <a:gd name="connsiteX5" fmla="*/ 2331720 w 2621281"/>
                  <a:gd name="connsiteY5" fmla="*/ 451779 h 537801"/>
                  <a:gd name="connsiteX6" fmla="*/ 1836420 w 2621281"/>
                  <a:gd name="connsiteY6" fmla="*/ 451779 h 537801"/>
                  <a:gd name="connsiteX7" fmla="*/ 1836420 w 2621281"/>
                  <a:gd name="connsiteY7" fmla="*/ 537801 h 537801"/>
                  <a:gd name="connsiteX8" fmla="*/ 0 w 2621281"/>
                  <a:gd name="connsiteY8" fmla="*/ 537801 h 537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21281" h="537801">
                    <a:moveTo>
                      <a:pt x="0" y="0"/>
                    </a:moveTo>
                    <a:lnTo>
                      <a:pt x="2083480" y="0"/>
                    </a:lnTo>
                    <a:cubicBezTo>
                      <a:pt x="2380499" y="0"/>
                      <a:pt x="2621281" y="240782"/>
                      <a:pt x="2621281" y="537801"/>
                    </a:cubicBezTo>
                    <a:lnTo>
                      <a:pt x="2621280" y="537801"/>
                    </a:lnTo>
                    <a:lnTo>
                      <a:pt x="2331720" y="537801"/>
                    </a:lnTo>
                    <a:lnTo>
                      <a:pt x="2331720" y="451779"/>
                    </a:lnTo>
                    <a:lnTo>
                      <a:pt x="1836420" y="451779"/>
                    </a:lnTo>
                    <a:lnTo>
                      <a:pt x="1836420" y="537801"/>
                    </a:lnTo>
                    <a:lnTo>
                      <a:pt x="0" y="537801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38837CB-25EB-47EF-8CA9-F2D8F0DBD09B}"/>
                  </a:ext>
                </a:extLst>
              </p:cNvPr>
              <p:cNvSpPr txBox="1"/>
              <p:nvPr/>
            </p:nvSpPr>
            <p:spPr>
              <a:xfrm>
                <a:off x="2774791" y="4955352"/>
                <a:ext cx="6858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solidFill>
                      <a:schemeClr val="bg1"/>
                    </a:solidFill>
                    <a:latin typeface="Arca Majora 3 Bold" panose="00000800000000000000" pitchFamily="50" charset="0"/>
                  </a:rPr>
                  <a:t>07</a:t>
                </a:r>
              </a:p>
            </p:txBody>
          </p:sp>
          <p:pic>
            <p:nvPicPr>
              <p:cNvPr id="57" name="Graphic 56" descr="Television">
                <a:extLst>
                  <a:ext uri="{FF2B5EF4-FFF2-40B4-BE49-F238E27FC236}">
                    <a16:creationId xmlns:a16="http://schemas.microsoft.com/office/drawing/2014/main" id="{509BD161-F699-4879-8720-617E80FD78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3510199" y="4719397"/>
                <a:ext cx="318019" cy="318019"/>
              </a:xfrm>
              <a:prstGeom prst="rect">
                <a:avLst/>
              </a:prstGeom>
            </p:spPr>
          </p:pic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B0C7484-E41B-4690-B1A8-80C576FFCCF0}"/>
                  </a:ext>
                </a:extLst>
              </p:cNvPr>
              <p:cNvSpPr txBox="1"/>
              <p:nvPr/>
            </p:nvSpPr>
            <p:spPr>
              <a:xfrm>
                <a:off x="3794528" y="4878407"/>
                <a:ext cx="1686059" cy="8233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b="1" dirty="0"/>
                  <a:t>Claim Verification </a:t>
                </a:r>
                <a:r>
                  <a:rPr lang="en-US" sz="1050" b="1" dirty="0"/>
                  <a:t>Claims are verified using trusted external fact-checking APIs.</a:t>
                </a:r>
                <a:endParaRPr lang="en-US" sz="1050" b="1" dirty="0">
                  <a:latin typeface="Bahnschrift Condensed" panose="020B0502040204020203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5363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1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1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1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0"/>
                            </p:stCondLst>
                            <p:childTnLst>
                              <p:par>
                                <p:cTn id="21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1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500"/>
                            </p:stCondLst>
                            <p:childTnLst>
                              <p:par>
                                <p:cTn id="2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1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000"/>
                            </p:stCondLst>
                            <p:childTnLst>
                              <p:par>
                                <p:cTn id="29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1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500"/>
                            </p:stCondLst>
                            <p:childTnLst>
                              <p:par>
                                <p:cTn id="33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1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Arrow: Pentagon 75">
            <a:extLst>
              <a:ext uri="{FF2B5EF4-FFF2-40B4-BE49-F238E27FC236}">
                <a16:creationId xmlns:a16="http://schemas.microsoft.com/office/drawing/2014/main" id="{400D1F54-84A4-403F-951E-BADF6B3AF4F8}"/>
              </a:ext>
            </a:extLst>
          </p:cNvPr>
          <p:cNvSpPr/>
          <p:nvPr/>
        </p:nvSpPr>
        <p:spPr>
          <a:xfrm>
            <a:off x="5029622" y="1266176"/>
            <a:ext cx="3924465" cy="719373"/>
          </a:xfrm>
          <a:prstGeom prst="homePlate">
            <a:avLst/>
          </a:prstGeom>
          <a:gradFill flip="none" rotWithShape="1">
            <a:gsLst>
              <a:gs pos="95000">
                <a:srgbClr val="E02929"/>
              </a:gs>
              <a:gs pos="0">
                <a:srgbClr val="8E0000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77" name="Arrow: Pentagon 76">
            <a:extLst>
              <a:ext uri="{FF2B5EF4-FFF2-40B4-BE49-F238E27FC236}">
                <a16:creationId xmlns:a16="http://schemas.microsoft.com/office/drawing/2014/main" id="{6625D996-B7E7-406B-B36F-35C3C054F057}"/>
              </a:ext>
            </a:extLst>
          </p:cNvPr>
          <p:cNvSpPr/>
          <p:nvPr/>
        </p:nvSpPr>
        <p:spPr>
          <a:xfrm>
            <a:off x="5514323" y="1959006"/>
            <a:ext cx="4077344" cy="761813"/>
          </a:xfrm>
          <a:prstGeom prst="homePlate">
            <a:avLst/>
          </a:prstGeom>
          <a:gradFill flip="none" rotWithShape="1">
            <a:gsLst>
              <a:gs pos="95000">
                <a:srgbClr val="FFD345"/>
              </a:gs>
              <a:gs pos="0">
                <a:srgbClr val="866600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78" name="Arrow: Pentagon 77">
            <a:extLst>
              <a:ext uri="{FF2B5EF4-FFF2-40B4-BE49-F238E27FC236}">
                <a16:creationId xmlns:a16="http://schemas.microsoft.com/office/drawing/2014/main" id="{9400D610-F53B-4E5A-8DC5-AD23163E85EC}"/>
              </a:ext>
            </a:extLst>
          </p:cNvPr>
          <p:cNvSpPr/>
          <p:nvPr/>
        </p:nvSpPr>
        <p:spPr>
          <a:xfrm>
            <a:off x="6106622" y="2694816"/>
            <a:ext cx="3969746" cy="787297"/>
          </a:xfrm>
          <a:prstGeom prst="homePlate">
            <a:avLst/>
          </a:prstGeom>
          <a:gradFill flip="none" rotWithShape="1">
            <a:gsLst>
              <a:gs pos="95000">
                <a:srgbClr val="298ED9"/>
              </a:gs>
              <a:gs pos="0">
                <a:srgbClr val="003E6C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79" name="Arrow: Pentagon 78">
            <a:extLst>
              <a:ext uri="{FF2B5EF4-FFF2-40B4-BE49-F238E27FC236}">
                <a16:creationId xmlns:a16="http://schemas.microsoft.com/office/drawing/2014/main" id="{6A65874F-D770-4DD4-B3C3-9EFFCE11E4E3}"/>
              </a:ext>
            </a:extLst>
          </p:cNvPr>
          <p:cNvSpPr/>
          <p:nvPr/>
        </p:nvSpPr>
        <p:spPr>
          <a:xfrm>
            <a:off x="6479820" y="3413649"/>
            <a:ext cx="4143565" cy="890644"/>
          </a:xfrm>
          <a:prstGeom prst="homePlate">
            <a:avLst/>
          </a:prstGeom>
          <a:gradFill flip="none" rotWithShape="1">
            <a:gsLst>
              <a:gs pos="95000">
                <a:srgbClr val="9356C0"/>
              </a:gs>
              <a:gs pos="0">
                <a:srgbClr val="441D6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80" name="Arrow: Pentagon 79">
            <a:extLst>
              <a:ext uri="{FF2B5EF4-FFF2-40B4-BE49-F238E27FC236}">
                <a16:creationId xmlns:a16="http://schemas.microsoft.com/office/drawing/2014/main" id="{76FA8872-A1F4-4800-9ABE-51C8AAE0C7A6}"/>
              </a:ext>
            </a:extLst>
          </p:cNvPr>
          <p:cNvSpPr/>
          <p:nvPr/>
        </p:nvSpPr>
        <p:spPr>
          <a:xfrm>
            <a:off x="7193220" y="4251959"/>
            <a:ext cx="4080717" cy="855618"/>
          </a:xfrm>
          <a:prstGeom prst="homePlate">
            <a:avLst/>
          </a:prstGeom>
          <a:gradFill flip="none" rotWithShape="1">
            <a:gsLst>
              <a:gs pos="95000">
                <a:srgbClr val="5F6B7D"/>
              </a:gs>
              <a:gs pos="0">
                <a:srgbClr val="333F50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C4349CE7-00FE-4586-9B24-BFBE05F2D835}"/>
              </a:ext>
            </a:extLst>
          </p:cNvPr>
          <p:cNvSpPr/>
          <p:nvPr/>
        </p:nvSpPr>
        <p:spPr>
          <a:xfrm rot="5400000">
            <a:off x="4422100" y="772789"/>
            <a:ext cx="914434" cy="1240665"/>
          </a:xfrm>
          <a:custGeom>
            <a:avLst/>
            <a:gdLst>
              <a:gd name="connsiteX0" fmla="*/ 0 w 777313"/>
              <a:gd name="connsiteY0" fmla="*/ 379355 h 758713"/>
              <a:gd name="connsiteX1" fmla="*/ 613764 w 777313"/>
              <a:gd name="connsiteY1" fmla="*/ 0 h 758713"/>
              <a:gd name="connsiteX2" fmla="*/ 777313 w 777313"/>
              <a:gd name="connsiteY2" fmla="*/ 379360 h 758713"/>
              <a:gd name="connsiteX3" fmla="*/ 613767 w 777313"/>
              <a:gd name="connsiteY3" fmla="*/ 758713 h 758713"/>
              <a:gd name="connsiteX4" fmla="*/ 0 w 777313"/>
              <a:gd name="connsiteY4" fmla="*/ 379355 h 758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7313" h="758713">
                <a:moveTo>
                  <a:pt x="0" y="379355"/>
                </a:moveTo>
                <a:lnTo>
                  <a:pt x="613764" y="0"/>
                </a:lnTo>
                <a:lnTo>
                  <a:pt x="777313" y="379360"/>
                </a:lnTo>
                <a:lnTo>
                  <a:pt x="613767" y="758713"/>
                </a:lnTo>
                <a:lnTo>
                  <a:pt x="0" y="379355"/>
                </a:lnTo>
                <a:close/>
              </a:path>
            </a:pathLst>
          </a:custGeom>
          <a:solidFill>
            <a:srgbClr val="DA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9849CAAF-D756-4B7A-8338-99432A8F028F}"/>
              </a:ext>
            </a:extLst>
          </p:cNvPr>
          <p:cNvSpPr/>
          <p:nvPr/>
        </p:nvSpPr>
        <p:spPr>
          <a:xfrm rot="5400000">
            <a:off x="4467712" y="1118113"/>
            <a:ext cx="823211" cy="2504999"/>
          </a:xfrm>
          <a:custGeom>
            <a:avLst/>
            <a:gdLst>
              <a:gd name="connsiteX0" fmla="*/ 0 w 699769"/>
              <a:gd name="connsiteY0" fmla="*/ 228412 h 1531901"/>
              <a:gd name="connsiteX1" fmla="*/ 369552 w 699769"/>
              <a:gd name="connsiteY1" fmla="*/ 0 h 1531901"/>
              <a:gd name="connsiteX2" fmla="*/ 699769 w 699769"/>
              <a:gd name="connsiteY2" fmla="*/ 765955 h 1531901"/>
              <a:gd name="connsiteX3" fmla="*/ 369556 w 699769"/>
              <a:gd name="connsiteY3" fmla="*/ 1531901 h 1531901"/>
              <a:gd name="connsiteX4" fmla="*/ 3 w 699769"/>
              <a:gd name="connsiteY4" fmla="*/ 1303488 h 1531901"/>
              <a:gd name="connsiteX5" fmla="*/ 231744 w 699769"/>
              <a:gd name="connsiteY5" fmla="*/ 765953 h 1531901"/>
              <a:gd name="connsiteX6" fmla="*/ 0 w 699769"/>
              <a:gd name="connsiteY6" fmla="*/ 228412 h 1531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769" h="1531901">
                <a:moveTo>
                  <a:pt x="0" y="228412"/>
                </a:moveTo>
                <a:lnTo>
                  <a:pt x="369552" y="0"/>
                </a:lnTo>
                <a:lnTo>
                  <a:pt x="699769" y="765955"/>
                </a:lnTo>
                <a:lnTo>
                  <a:pt x="369556" y="1531901"/>
                </a:lnTo>
                <a:lnTo>
                  <a:pt x="3" y="1303488"/>
                </a:lnTo>
                <a:lnTo>
                  <a:pt x="231744" y="765953"/>
                </a:lnTo>
                <a:lnTo>
                  <a:pt x="0" y="228412"/>
                </a:lnTo>
                <a:close/>
              </a:path>
            </a:pathLst>
          </a:custGeom>
          <a:solidFill>
            <a:srgbClr val="FFCA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96653E62-A00D-4A09-ADA3-CF2292D3BF0C}"/>
              </a:ext>
            </a:extLst>
          </p:cNvPr>
          <p:cNvSpPr/>
          <p:nvPr/>
        </p:nvSpPr>
        <p:spPr>
          <a:xfrm rot="5400000">
            <a:off x="4325869" y="1304161"/>
            <a:ext cx="1106895" cy="3888209"/>
          </a:xfrm>
          <a:custGeom>
            <a:avLst/>
            <a:gdLst>
              <a:gd name="connsiteX0" fmla="*/ 0 w 940915"/>
              <a:gd name="connsiteY0" fmla="*/ 264761 h 2377786"/>
              <a:gd name="connsiteX1" fmla="*/ 428361 w 940915"/>
              <a:gd name="connsiteY1" fmla="*/ 0 h 2377786"/>
              <a:gd name="connsiteX2" fmla="*/ 940915 w 940915"/>
              <a:gd name="connsiteY2" fmla="*/ 1188894 h 2377786"/>
              <a:gd name="connsiteX3" fmla="*/ 428362 w 940915"/>
              <a:gd name="connsiteY3" fmla="*/ 2377786 h 2377786"/>
              <a:gd name="connsiteX4" fmla="*/ 3 w 940915"/>
              <a:gd name="connsiteY4" fmla="*/ 2113025 h 2377786"/>
              <a:gd name="connsiteX5" fmla="*/ 398412 w 940915"/>
              <a:gd name="connsiteY5" fmla="*/ 1188897 h 2377786"/>
              <a:gd name="connsiteX6" fmla="*/ 0 w 940915"/>
              <a:gd name="connsiteY6" fmla="*/ 264761 h 237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0915" h="2377786">
                <a:moveTo>
                  <a:pt x="0" y="264761"/>
                </a:moveTo>
                <a:lnTo>
                  <a:pt x="428361" y="0"/>
                </a:lnTo>
                <a:lnTo>
                  <a:pt x="940915" y="1188894"/>
                </a:lnTo>
                <a:lnTo>
                  <a:pt x="428362" y="2377786"/>
                </a:lnTo>
                <a:lnTo>
                  <a:pt x="3" y="2113025"/>
                </a:lnTo>
                <a:lnTo>
                  <a:pt x="398412" y="1188897"/>
                </a:lnTo>
                <a:lnTo>
                  <a:pt x="0" y="264761"/>
                </a:lnTo>
                <a:close/>
              </a:path>
            </a:pathLst>
          </a:custGeom>
          <a:solidFill>
            <a:srgbClr val="0078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3E88964F-28BC-49F5-8ED4-5BF363E071AE}"/>
              </a:ext>
            </a:extLst>
          </p:cNvPr>
          <p:cNvSpPr/>
          <p:nvPr/>
        </p:nvSpPr>
        <p:spPr>
          <a:xfrm rot="5400000">
            <a:off x="4160322" y="1504005"/>
            <a:ext cx="1437988" cy="5429604"/>
          </a:xfrm>
          <a:custGeom>
            <a:avLst/>
            <a:gdLst>
              <a:gd name="connsiteX0" fmla="*/ 0 w 1222360"/>
              <a:gd name="connsiteY0" fmla="*/ 313128 h 3320407"/>
              <a:gd name="connsiteX1" fmla="*/ 506614 w 1222360"/>
              <a:gd name="connsiteY1" fmla="*/ 0 h 3320407"/>
              <a:gd name="connsiteX2" fmla="*/ 1222360 w 1222360"/>
              <a:gd name="connsiteY2" fmla="*/ 1660209 h 3320407"/>
              <a:gd name="connsiteX3" fmla="*/ 506618 w 1222360"/>
              <a:gd name="connsiteY3" fmla="*/ 3320407 h 3320407"/>
              <a:gd name="connsiteX4" fmla="*/ 1 w 1222360"/>
              <a:gd name="connsiteY4" fmla="*/ 3007276 h 3320407"/>
              <a:gd name="connsiteX5" fmla="*/ 580749 w 1222360"/>
              <a:gd name="connsiteY5" fmla="*/ 1660203 h 3320407"/>
              <a:gd name="connsiteX6" fmla="*/ 0 w 1222360"/>
              <a:gd name="connsiteY6" fmla="*/ 313128 h 332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2360" h="3320407">
                <a:moveTo>
                  <a:pt x="0" y="313128"/>
                </a:moveTo>
                <a:lnTo>
                  <a:pt x="506614" y="0"/>
                </a:lnTo>
                <a:lnTo>
                  <a:pt x="1222360" y="1660209"/>
                </a:lnTo>
                <a:lnTo>
                  <a:pt x="506618" y="3320407"/>
                </a:lnTo>
                <a:lnTo>
                  <a:pt x="1" y="3007276"/>
                </a:lnTo>
                <a:lnTo>
                  <a:pt x="580749" y="1660203"/>
                </a:lnTo>
                <a:lnTo>
                  <a:pt x="0" y="313128"/>
                </a:lnTo>
                <a:close/>
              </a:path>
            </a:pathLst>
          </a:custGeom>
          <a:solidFill>
            <a:srgbClr val="7E36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C5146900-7CBC-473E-8061-41A951AB7F64}"/>
              </a:ext>
            </a:extLst>
          </p:cNvPr>
          <p:cNvSpPr/>
          <p:nvPr/>
        </p:nvSpPr>
        <p:spPr>
          <a:xfrm rot="5400000">
            <a:off x="3998861" y="1734913"/>
            <a:ext cx="1760913" cy="7084816"/>
          </a:xfrm>
          <a:custGeom>
            <a:avLst/>
            <a:gdLst>
              <a:gd name="connsiteX0" fmla="*/ 0 w 1496862"/>
              <a:gd name="connsiteY0" fmla="*/ 347932 h 4332631"/>
              <a:gd name="connsiteX1" fmla="*/ 562923 w 1496862"/>
              <a:gd name="connsiteY1" fmla="*/ 0 h 4332631"/>
              <a:gd name="connsiteX2" fmla="*/ 1496862 w 1496862"/>
              <a:gd name="connsiteY2" fmla="*/ 2166317 h 4332631"/>
              <a:gd name="connsiteX3" fmla="*/ 562924 w 1496862"/>
              <a:gd name="connsiteY3" fmla="*/ 4332631 h 4332631"/>
              <a:gd name="connsiteX4" fmla="*/ 4 w 1496862"/>
              <a:gd name="connsiteY4" fmla="*/ 3984701 h 4332631"/>
              <a:gd name="connsiteX5" fmla="*/ 783941 w 1496862"/>
              <a:gd name="connsiteY5" fmla="*/ 2166321 h 4332631"/>
              <a:gd name="connsiteX6" fmla="*/ 0 w 1496862"/>
              <a:gd name="connsiteY6" fmla="*/ 347932 h 4332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6862" h="4332631">
                <a:moveTo>
                  <a:pt x="0" y="347932"/>
                </a:moveTo>
                <a:lnTo>
                  <a:pt x="562923" y="0"/>
                </a:lnTo>
                <a:lnTo>
                  <a:pt x="1496862" y="2166317"/>
                </a:lnTo>
                <a:lnTo>
                  <a:pt x="562924" y="4332631"/>
                </a:lnTo>
                <a:lnTo>
                  <a:pt x="4" y="3984701"/>
                </a:lnTo>
                <a:lnTo>
                  <a:pt x="783941" y="2166321"/>
                </a:lnTo>
                <a:lnTo>
                  <a:pt x="0" y="347932"/>
                </a:lnTo>
                <a:close/>
              </a:path>
            </a:pathLst>
          </a:custGeom>
          <a:solidFill>
            <a:srgbClr val="404F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1ABB457F-D5D4-4243-B9DD-B7BF36AB01BB}"/>
              </a:ext>
            </a:extLst>
          </p:cNvPr>
          <p:cNvSpPr/>
          <p:nvPr/>
        </p:nvSpPr>
        <p:spPr>
          <a:xfrm rot="5400000">
            <a:off x="739944" y="1530669"/>
            <a:ext cx="4734136" cy="3544607"/>
          </a:xfrm>
          <a:custGeom>
            <a:avLst/>
            <a:gdLst>
              <a:gd name="connsiteX0" fmla="*/ 3460965 w 4734136"/>
              <a:gd name="connsiteY0" fmla="*/ 2975664 h 3544607"/>
              <a:gd name="connsiteX1" fmla="*/ 3973929 w 4734136"/>
              <a:gd name="connsiteY1" fmla="*/ 1321757 h 3544607"/>
              <a:gd name="connsiteX2" fmla="*/ 4734136 w 4734136"/>
              <a:gd name="connsiteY2" fmla="*/ 1574770 h 3544607"/>
              <a:gd name="connsiteX3" fmla="*/ 4123186 w 4734136"/>
              <a:gd name="connsiteY3" fmla="*/ 3544607 h 3544607"/>
              <a:gd name="connsiteX4" fmla="*/ 2563910 w 4734136"/>
              <a:gd name="connsiteY4" fmla="*/ 2204963 h 3544607"/>
              <a:gd name="connsiteX5" fmla="*/ 2944140 w 4734136"/>
              <a:gd name="connsiteY5" fmla="*/ 979021 h 3544607"/>
              <a:gd name="connsiteX6" fmla="*/ 3628312 w 4734136"/>
              <a:gd name="connsiteY6" fmla="*/ 1206728 h 3544607"/>
              <a:gd name="connsiteX7" fmla="*/ 3159896 w 4734136"/>
              <a:gd name="connsiteY7" fmla="*/ 2717002 h 3544607"/>
              <a:gd name="connsiteX8" fmla="*/ 1758917 w 4734136"/>
              <a:gd name="connsiteY8" fmla="*/ 1513361 h 3544607"/>
              <a:gd name="connsiteX9" fmla="*/ 2020036 w 4734136"/>
              <a:gd name="connsiteY9" fmla="*/ 671460 h 3544607"/>
              <a:gd name="connsiteX10" fmla="*/ 2598522 w 4734136"/>
              <a:gd name="connsiteY10" fmla="*/ 863992 h 3544607"/>
              <a:gd name="connsiteX11" fmla="*/ 2262840 w 4734136"/>
              <a:gd name="connsiteY11" fmla="*/ 1946304 h 3544607"/>
              <a:gd name="connsiteX12" fmla="*/ 1023106 w 4734136"/>
              <a:gd name="connsiteY12" fmla="*/ 881193 h 3544607"/>
              <a:gd name="connsiteX13" fmla="*/ 1175349 w 4734136"/>
              <a:gd name="connsiteY13" fmla="*/ 390330 h 3544607"/>
              <a:gd name="connsiteX14" fmla="*/ 1674419 w 4734136"/>
              <a:gd name="connsiteY14" fmla="*/ 556431 h 3544607"/>
              <a:gd name="connsiteX15" fmla="*/ 1457850 w 4734136"/>
              <a:gd name="connsiteY15" fmla="*/ 1254698 h 3544607"/>
              <a:gd name="connsiteX16" fmla="*/ 0 w 4734136"/>
              <a:gd name="connsiteY16" fmla="*/ 2197 h 3544607"/>
              <a:gd name="connsiteX17" fmla="*/ 2558 w 4734136"/>
              <a:gd name="connsiteY17" fmla="*/ 0 h 3544607"/>
              <a:gd name="connsiteX18" fmla="*/ 829733 w 4734136"/>
              <a:gd name="connsiteY18" fmla="*/ 275301 h 3544607"/>
              <a:gd name="connsiteX19" fmla="*/ 722038 w 4734136"/>
              <a:gd name="connsiteY19" fmla="*/ 622532 h 3544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734136" h="3544607">
                <a:moveTo>
                  <a:pt x="3460965" y="2975664"/>
                </a:moveTo>
                <a:lnTo>
                  <a:pt x="3973929" y="1321757"/>
                </a:lnTo>
                <a:lnTo>
                  <a:pt x="4734136" y="1574770"/>
                </a:lnTo>
                <a:lnTo>
                  <a:pt x="4123186" y="3544607"/>
                </a:lnTo>
                <a:close/>
                <a:moveTo>
                  <a:pt x="2563910" y="2204963"/>
                </a:moveTo>
                <a:lnTo>
                  <a:pt x="2944140" y="979021"/>
                </a:lnTo>
                <a:lnTo>
                  <a:pt x="3628312" y="1206728"/>
                </a:lnTo>
                <a:lnTo>
                  <a:pt x="3159896" y="2717002"/>
                </a:lnTo>
                <a:close/>
                <a:moveTo>
                  <a:pt x="1758917" y="1513361"/>
                </a:moveTo>
                <a:lnTo>
                  <a:pt x="2020036" y="671460"/>
                </a:lnTo>
                <a:lnTo>
                  <a:pt x="2598522" y="863992"/>
                </a:lnTo>
                <a:lnTo>
                  <a:pt x="2262840" y="1946304"/>
                </a:lnTo>
                <a:close/>
                <a:moveTo>
                  <a:pt x="1023106" y="881193"/>
                </a:moveTo>
                <a:lnTo>
                  <a:pt x="1175349" y="390330"/>
                </a:lnTo>
                <a:lnTo>
                  <a:pt x="1674419" y="556431"/>
                </a:lnTo>
                <a:lnTo>
                  <a:pt x="1457850" y="1254698"/>
                </a:lnTo>
                <a:close/>
                <a:moveTo>
                  <a:pt x="0" y="2197"/>
                </a:moveTo>
                <a:lnTo>
                  <a:pt x="2558" y="0"/>
                </a:lnTo>
                <a:lnTo>
                  <a:pt x="829733" y="275301"/>
                </a:lnTo>
                <a:lnTo>
                  <a:pt x="722038" y="622532"/>
                </a:lnTo>
                <a:close/>
              </a:path>
            </a:pathLst>
          </a:custGeom>
          <a:solidFill>
            <a:schemeClr val="bg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50396439-81CB-40DC-8315-D77D661B0B65}"/>
              </a:ext>
            </a:extLst>
          </p:cNvPr>
          <p:cNvSpPr/>
          <p:nvPr/>
        </p:nvSpPr>
        <p:spPr>
          <a:xfrm rot="5400000">
            <a:off x="4732265" y="1080063"/>
            <a:ext cx="914434" cy="626120"/>
          </a:xfrm>
          <a:custGeom>
            <a:avLst/>
            <a:gdLst>
              <a:gd name="connsiteX0" fmla="*/ 0 w 914434"/>
              <a:gd name="connsiteY0" fmla="*/ 620331 h 626120"/>
              <a:gd name="connsiteX1" fmla="*/ 722034 w 914434"/>
              <a:gd name="connsiteY1" fmla="*/ 0 h 626120"/>
              <a:gd name="connsiteX2" fmla="*/ 914434 w 914434"/>
              <a:gd name="connsiteY2" fmla="*/ 620340 h 626120"/>
              <a:gd name="connsiteX3" fmla="*/ 912641 w 914434"/>
              <a:gd name="connsiteY3" fmla="*/ 626120 h 626120"/>
              <a:gd name="connsiteX4" fmla="*/ 6738 w 914434"/>
              <a:gd name="connsiteY4" fmla="*/ 626120 h 626120"/>
              <a:gd name="connsiteX5" fmla="*/ 0 w 914434"/>
              <a:gd name="connsiteY5" fmla="*/ 620331 h 626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434" h="626120">
                <a:moveTo>
                  <a:pt x="0" y="620331"/>
                </a:moveTo>
                <a:lnTo>
                  <a:pt x="722034" y="0"/>
                </a:lnTo>
                <a:lnTo>
                  <a:pt x="914434" y="620340"/>
                </a:lnTo>
                <a:lnTo>
                  <a:pt x="912641" y="626120"/>
                </a:lnTo>
                <a:lnTo>
                  <a:pt x="6738" y="626120"/>
                </a:lnTo>
                <a:lnTo>
                  <a:pt x="0" y="620331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D23C8E11-375A-4598-A214-34E4D85C07EC}"/>
              </a:ext>
            </a:extLst>
          </p:cNvPr>
          <p:cNvSpPr/>
          <p:nvPr/>
        </p:nvSpPr>
        <p:spPr>
          <a:xfrm rot="5400000">
            <a:off x="5093961" y="1741470"/>
            <a:ext cx="823210" cy="1258287"/>
          </a:xfrm>
          <a:custGeom>
            <a:avLst/>
            <a:gdLst>
              <a:gd name="connsiteX0" fmla="*/ 0 w 823210"/>
              <a:gd name="connsiteY0" fmla="*/ 373504 h 1258287"/>
              <a:gd name="connsiteX1" fmla="*/ 434743 w 823210"/>
              <a:gd name="connsiteY1" fmla="*/ 0 h 1258287"/>
              <a:gd name="connsiteX2" fmla="*/ 823210 w 823210"/>
              <a:gd name="connsiteY2" fmla="*/ 1252508 h 1258287"/>
              <a:gd name="connsiteX3" fmla="*/ 821418 w 823210"/>
              <a:gd name="connsiteY3" fmla="*/ 1258287 h 1258287"/>
              <a:gd name="connsiteX4" fmla="*/ 270831 w 823210"/>
              <a:gd name="connsiteY4" fmla="*/ 1258287 h 1258287"/>
              <a:gd name="connsiteX5" fmla="*/ 272625 w 823210"/>
              <a:gd name="connsiteY5" fmla="*/ 1252504 h 1258287"/>
              <a:gd name="connsiteX6" fmla="*/ 0 w 823210"/>
              <a:gd name="connsiteY6" fmla="*/ 373504 h 1258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23210" h="1258287">
                <a:moveTo>
                  <a:pt x="0" y="373504"/>
                </a:moveTo>
                <a:lnTo>
                  <a:pt x="434743" y="0"/>
                </a:lnTo>
                <a:lnTo>
                  <a:pt x="823210" y="1252508"/>
                </a:lnTo>
                <a:lnTo>
                  <a:pt x="821418" y="1258287"/>
                </a:lnTo>
                <a:lnTo>
                  <a:pt x="270831" y="1258287"/>
                </a:lnTo>
                <a:lnTo>
                  <a:pt x="272625" y="1252504"/>
                </a:lnTo>
                <a:lnTo>
                  <a:pt x="0" y="373504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562B652D-AB72-4028-86AC-FE699E723420}"/>
              </a:ext>
            </a:extLst>
          </p:cNvPr>
          <p:cNvSpPr/>
          <p:nvPr/>
        </p:nvSpPr>
        <p:spPr>
          <a:xfrm rot="5400000">
            <a:off x="5297921" y="2273321"/>
            <a:ext cx="1106895" cy="1949891"/>
          </a:xfrm>
          <a:custGeom>
            <a:avLst/>
            <a:gdLst>
              <a:gd name="connsiteX0" fmla="*/ 0 w 1106895"/>
              <a:gd name="connsiteY0" fmla="*/ 432943 h 1949891"/>
              <a:gd name="connsiteX1" fmla="*/ 503925 w 1106895"/>
              <a:gd name="connsiteY1" fmla="*/ 0 h 1949891"/>
              <a:gd name="connsiteX2" fmla="*/ 1106895 w 1106895"/>
              <a:gd name="connsiteY2" fmla="*/ 1944107 h 1949891"/>
              <a:gd name="connsiteX3" fmla="*/ 1105101 w 1106895"/>
              <a:gd name="connsiteY3" fmla="*/ 1949891 h 1949891"/>
              <a:gd name="connsiteX4" fmla="*/ 466900 w 1106895"/>
              <a:gd name="connsiteY4" fmla="*/ 1949891 h 1949891"/>
              <a:gd name="connsiteX5" fmla="*/ 468693 w 1106895"/>
              <a:gd name="connsiteY5" fmla="*/ 1944112 h 1949891"/>
              <a:gd name="connsiteX6" fmla="*/ 0 w 1106895"/>
              <a:gd name="connsiteY6" fmla="*/ 432943 h 1949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6895" h="1949891">
                <a:moveTo>
                  <a:pt x="0" y="432943"/>
                </a:moveTo>
                <a:lnTo>
                  <a:pt x="503925" y="0"/>
                </a:lnTo>
                <a:lnTo>
                  <a:pt x="1106895" y="1944107"/>
                </a:lnTo>
                <a:lnTo>
                  <a:pt x="1105101" y="1949891"/>
                </a:lnTo>
                <a:lnTo>
                  <a:pt x="466900" y="1949891"/>
                </a:lnTo>
                <a:lnTo>
                  <a:pt x="468693" y="1944112"/>
                </a:lnTo>
                <a:lnTo>
                  <a:pt x="0" y="4329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BE660020-0C51-42C9-B00F-6D54C7166D27}"/>
              </a:ext>
            </a:extLst>
          </p:cNvPr>
          <p:cNvSpPr/>
          <p:nvPr/>
        </p:nvSpPr>
        <p:spPr>
          <a:xfrm rot="5400000">
            <a:off x="5517723" y="2858514"/>
            <a:ext cx="1437988" cy="2720588"/>
          </a:xfrm>
          <a:custGeom>
            <a:avLst/>
            <a:gdLst>
              <a:gd name="connsiteX0" fmla="*/ 0 w 1437988"/>
              <a:gd name="connsiteY0" fmla="*/ 512034 h 2720588"/>
              <a:gd name="connsiteX1" fmla="*/ 595982 w 1437988"/>
              <a:gd name="connsiteY1" fmla="*/ 0 h 2720588"/>
              <a:gd name="connsiteX2" fmla="*/ 1437988 w 1437988"/>
              <a:gd name="connsiteY2" fmla="*/ 2714812 h 2720588"/>
              <a:gd name="connsiteX3" fmla="*/ 1436196 w 1437988"/>
              <a:gd name="connsiteY3" fmla="*/ 2720588 h 2720588"/>
              <a:gd name="connsiteX4" fmla="*/ 681400 w 1437988"/>
              <a:gd name="connsiteY4" fmla="*/ 2720588 h 2720588"/>
              <a:gd name="connsiteX5" fmla="*/ 683195 w 1437988"/>
              <a:gd name="connsiteY5" fmla="*/ 2714802 h 2720588"/>
              <a:gd name="connsiteX6" fmla="*/ 0 w 1437988"/>
              <a:gd name="connsiteY6" fmla="*/ 512034 h 272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37988" h="2720588">
                <a:moveTo>
                  <a:pt x="0" y="512034"/>
                </a:moveTo>
                <a:lnTo>
                  <a:pt x="595982" y="0"/>
                </a:lnTo>
                <a:lnTo>
                  <a:pt x="1437988" y="2714812"/>
                </a:lnTo>
                <a:lnTo>
                  <a:pt x="1436196" y="2720588"/>
                </a:lnTo>
                <a:lnTo>
                  <a:pt x="681400" y="2720588"/>
                </a:lnTo>
                <a:lnTo>
                  <a:pt x="683195" y="2714802"/>
                </a:lnTo>
                <a:lnTo>
                  <a:pt x="0" y="512034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15930211-2C6A-4AB1-9A9D-910B3BC0D6CB}"/>
              </a:ext>
            </a:extLst>
          </p:cNvPr>
          <p:cNvSpPr/>
          <p:nvPr/>
        </p:nvSpPr>
        <p:spPr>
          <a:xfrm rot="5400000">
            <a:off x="5770065" y="3503224"/>
            <a:ext cx="1760913" cy="3548196"/>
          </a:xfrm>
          <a:custGeom>
            <a:avLst/>
            <a:gdLst>
              <a:gd name="connsiteX0" fmla="*/ 0 w 1760913"/>
              <a:gd name="connsiteY0" fmla="*/ 568947 h 3548196"/>
              <a:gd name="connsiteX1" fmla="*/ 662224 w 1760913"/>
              <a:gd name="connsiteY1" fmla="*/ 0 h 3548196"/>
              <a:gd name="connsiteX2" fmla="*/ 1760913 w 1760913"/>
              <a:gd name="connsiteY2" fmla="*/ 3542412 h 3548196"/>
              <a:gd name="connsiteX3" fmla="*/ 1759119 w 1760913"/>
              <a:gd name="connsiteY3" fmla="*/ 3548196 h 3548196"/>
              <a:gd name="connsiteX4" fmla="*/ 920438 w 1760913"/>
              <a:gd name="connsiteY4" fmla="*/ 3548196 h 3548196"/>
              <a:gd name="connsiteX5" fmla="*/ 922230 w 1760913"/>
              <a:gd name="connsiteY5" fmla="*/ 3542418 h 3548196"/>
              <a:gd name="connsiteX6" fmla="*/ 0 w 1760913"/>
              <a:gd name="connsiteY6" fmla="*/ 568947 h 354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60913" h="3548196">
                <a:moveTo>
                  <a:pt x="0" y="568947"/>
                </a:moveTo>
                <a:lnTo>
                  <a:pt x="662224" y="0"/>
                </a:lnTo>
                <a:lnTo>
                  <a:pt x="1760913" y="3542412"/>
                </a:lnTo>
                <a:lnTo>
                  <a:pt x="1759119" y="3548196"/>
                </a:lnTo>
                <a:lnTo>
                  <a:pt x="920438" y="3548196"/>
                </a:lnTo>
                <a:lnTo>
                  <a:pt x="922230" y="3542418"/>
                </a:lnTo>
                <a:lnTo>
                  <a:pt x="0" y="568947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A84A21B6-DD18-4ACC-8EC4-9133E9DB9CC8}"/>
              </a:ext>
            </a:extLst>
          </p:cNvPr>
          <p:cNvSpPr/>
          <p:nvPr/>
        </p:nvSpPr>
        <p:spPr>
          <a:xfrm>
            <a:off x="1911254" y="4243232"/>
            <a:ext cx="5949950" cy="1084962"/>
          </a:xfrm>
          <a:custGeom>
            <a:avLst/>
            <a:gdLst>
              <a:gd name="connsiteX0" fmla="*/ 5211290 w 5949950"/>
              <a:gd name="connsiteY0" fmla="*/ 0 h 1084962"/>
              <a:gd name="connsiteX1" fmla="*/ 5949950 w 5949950"/>
              <a:gd name="connsiteY1" fmla="*/ 147097 h 1084962"/>
              <a:gd name="connsiteX2" fmla="*/ 2962275 w 5949950"/>
              <a:gd name="connsiteY2" fmla="*/ 1084962 h 1084962"/>
              <a:gd name="connsiteX3" fmla="*/ 0 w 5949950"/>
              <a:gd name="connsiteY3" fmla="*/ 153447 h 1084962"/>
              <a:gd name="connsiteX4" fmla="*/ 751999 w 5949950"/>
              <a:gd name="connsiteY4" fmla="*/ 798 h 1084962"/>
              <a:gd name="connsiteX5" fmla="*/ 2978430 w 5949950"/>
              <a:gd name="connsiteY5" fmla="*/ 700920 h 1084962"/>
              <a:gd name="connsiteX0" fmla="*/ 5211290 w 5949950"/>
              <a:gd name="connsiteY0" fmla="*/ 0 h 1084962"/>
              <a:gd name="connsiteX1" fmla="*/ 5949950 w 5949950"/>
              <a:gd name="connsiteY1" fmla="*/ 147097 h 1084962"/>
              <a:gd name="connsiteX2" fmla="*/ 2962275 w 5949950"/>
              <a:gd name="connsiteY2" fmla="*/ 1084962 h 1084962"/>
              <a:gd name="connsiteX3" fmla="*/ 0 w 5949950"/>
              <a:gd name="connsiteY3" fmla="*/ 153447 h 1084962"/>
              <a:gd name="connsiteX4" fmla="*/ 751999 w 5949950"/>
              <a:gd name="connsiteY4" fmla="*/ 798 h 1084962"/>
              <a:gd name="connsiteX5" fmla="*/ 2972080 w 5949950"/>
              <a:gd name="connsiteY5" fmla="*/ 694570 h 1084962"/>
              <a:gd name="connsiteX6" fmla="*/ 5211290 w 5949950"/>
              <a:gd name="connsiteY6" fmla="*/ 0 h 1084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49950" h="1084962">
                <a:moveTo>
                  <a:pt x="5211290" y="0"/>
                </a:moveTo>
                <a:lnTo>
                  <a:pt x="5949950" y="147097"/>
                </a:lnTo>
                <a:lnTo>
                  <a:pt x="2962275" y="1084962"/>
                </a:lnTo>
                <a:lnTo>
                  <a:pt x="0" y="153447"/>
                </a:lnTo>
                <a:lnTo>
                  <a:pt x="751999" y="798"/>
                </a:lnTo>
                <a:lnTo>
                  <a:pt x="2972080" y="694570"/>
                </a:lnTo>
                <a:lnTo>
                  <a:pt x="5211290" y="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D723B2D1-EA1D-4B01-88B3-93ABCB33E988}"/>
              </a:ext>
            </a:extLst>
          </p:cNvPr>
          <p:cNvSpPr/>
          <p:nvPr/>
        </p:nvSpPr>
        <p:spPr>
          <a:xfrm>
            <a:off x="2668261" y="3342134"/>
            <a:ext cx="4417349" cy="839186"/>
          </a:xfrm>
          <a:custGeom>
            <a:avLst/>
            <a:gdLst>
              <a:gd name="connsiteX0" fmla="*/ 3675670 w 4417349"/>
              <a:gd name="connsiteY0" fmla="*/ 0 h 839186"/>
              <a:gd name="connsiteX1" fmla="*/ 4417349 w 4417349"/>
              <a:gd name="connsiteY1" fmla="*/ 153433 h 839186"/>
              <a:gd name="connsiteX2" fmla="*/ 2201576 w 4417349"/>
              <a:gd name="connsiteY2" fmla="*/ 839186 h 839186"/>
              <a:gd name="connsiteX3" fmla="*/ 0 w 4417349"/>
              <a:gd name="connsiteY3" fmla="*/ 158172 h 839186"/>
              <a:gd name="connsiteX4" fmla="*/ 741044 w 4417349"/>
              <a:gd name="connsiteY4" fmla="*/ 2287 h 839186"/>
              <a:gd name="connsiteX5" fmla="*/ 2205033 w 4417349"/>
              <a:gd name="connsiteY5" fmla="*/ 455143 h 839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17349" h="839186">
                <a:moveTo>
                  <a:pt x="3675670" y="0"/>
                </a:moveTo>
                <a:lnTo>
                  <a:pt x="4417349" y="153433"/>
                </a:lnTo>
                <a:lnTo>
                  <a:pt x="2201576" y="839186"/>
                </a:lnTo>
                <a:lnTo>
                  <a:pt x="0" y="158172"/>
                </a:lnTo>
                <a:lnTo>
                  <a:pt x="741044" y="2287"/>
                </a:lnTo>
                <a:lnTo>
                  <a:pt x="2205033" y="455143"/>
                </a:lnTo>
                <a:close/>
              </a:path>
            </a:pathLst>
          </a:custGeom>
          <a:solidFill>
            <a:srgbClr val="441D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60298F09-798B-40E6-9CB9-13F81C64ED59}"/>
              </a:ext>
            </a:extLst>
          </p:cNvPr>
          <p:cNvSpPr/>
          <p:nvPr/>
        </p:nvSpPr>
        <p:spPr>
          <a:xfrm>
            <a:off x="3373924" y="2542275"/>
            <a:ext cx="3010785" cy="620455"/>
          </a:xfrm>
          <a:custGeom>
            <a:avLst/>
            <a:gdLst>
              <a:gd name="connsiteX0" fmla="*/ 742958 w 3010785"/>
              <a:gd name="connsiteY0" fmla="*/ 0 h 620455"/>
              <a:gd name="connsiteX1" fmla="*/ 1515087 w 3010785"/>
              <a:gd name="connsiteY1" fmla="*/ 238843 h 620455"/>
              <a:gd name="connsiteX2" fmla="*/ 2280452 w 3010785"/>
              <a:gd name="connsiteY2" fmla="*/ 1972 h 620455"/>
              <a:gd name="connsiteX3" fmla="*/ 3010785 w 3010785"/>
              <a:gd name="connsiteY3" fmla="*/ 153058 h 620455"/>
              <a:gd name="connsiteX4" fmla="*/ 1500555 w 3010785"/>
              <a:gd name="connsiteY4" fmla="*/ 620455 h 620455"/>
              <a:gd name="connsiteX5" fmla="*/ 0 w 3010785"/>
              <a:gd name="connsiteY5" fmla="*/ 156288 h 620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0785" h="620455">
                <a:moveTo>
                  <a:pt x="742958" y="0"/>
                </a:moveTo>
                <a:lnTo>
                  <a:pt x="1515087" y="238843"/>
                </a:lnTo>
                <a:lnTo>
                  <a:pt x="2280452" y="1972"/>
                </a:lnTo>
                <a:lnTo>
                  <a:pt x="3010785" y="153058"/>
                </a:lnTo>
                <a:lnTo>
                  <a:pt x="1500555" y="620455"/>
                </a:lnTo>
                <a:lnTo>
                  <a:pt x="0" y="156288"/>
                </a:lnTo>
                <a:close/>
              </a:path>
            </a:pathLst>
          </a:custGeom>
          <a:solidFill>
            <a:srgbClr val="003E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217BF662-B078-404E-8EE0-0922D29E2D48}"/>
              </a:ext>
            </a:extLst>
          </p:cNvPr>
          <p:cNvSpPr/>
          <p:nvPr/>
        </p:nvSpPr>
        <p:spPr>
          <a:xfrm>
            <a:off x="3986352" y="1801157"/>
            <a:ext cx="1790228" cy="430852"/>
          </a:xfrm>
          <a:custGeom>
            <a:avLst/>
            <a:gdLst>
              <a:gd name="connsiteX0" fmla="*/ 736152 w 1790228"/>
              <a:gd name="connsiteY0" fmla="*/ 0 h 430852"/>
              <a:gd name="connsiteX1" fmla="*/ 897000 w 1790228"/>
              <a:gd name="connsiteY1" fmla="*/ 49755 h 430852"/>
              <a:gd name="connsiteX2" fmla="*/ 1055037 w 1790228"/>
              <a:gd name="connsiteY2" fmla="*/ 845 h 430852"/>
              <a:gd name="connsiteX3" fmla="*/ 1790228 w 1790228"/>
              <a:gd name="connsiteY3" fmla="*/ 152936 h 430852"/>
              <a:gd name="connsiteX4" fmla="*/ 892237 w 1790228"/>
              <a:gd name="connsiteY4" fmla="*/ 430852 h 430852"/>
              <a:gd name="connsiteX5" fmla="*/ 0 w 1790228"/>
              <a:gd name="connsiteY5" fmla="*/ 154856 h 430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90228" h="430852">
                <a:moveTo>
                  <a:pt x="736152" y="0"/>
                </a:moveTo>
                <a:lnTo>
                  <a:pt x="897000" y="49755"/>
                </a:lnTo>
                <a:lnTo>
                  <a:pt x="1055037" y="845"/>
                </a:lnTo>
                <a:lnTo>
                  <a:pt x="1790228" y="152936"/>
                </a:lnTo>
                <a:lnTo>
                  <a:pt x="892237" y="430852"/>
                </a:lnTo>
                <a:lnTo>
                  <a:pt x="0" y="154856"/>
                </a:lnTo>
                <a:close/>
              </a:path>
            </a:pathLst>
          </a:custGeom>
          <a:solidFill>
            <a:srgbClr val="86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9A52E06A-AA22-455E-A8DA-EF6B74CD5796}"/>
              </a:ext>
            </a:extLst>
          </p:cNvPr>
          <p:cNvSpPr/>
          <p:nvPr/>
        </p:nvSpPr>
        <p:spPr>
          <a:xfrm>
            <a:off x="4846390" y="857464"/>
            <a:ext cx="68744" cy="1047209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  <a:alpha val="64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07A74038-4EC4-4885-A527-3F08124755C8}"/>
              </a:ext>
            </a:extLst>
          </p:cNvPr>
          <p:cNvSpPr/>
          <p:nvPr/>
        </p:nvSpPr>
        <p:spPr>
          <a:xfrm>
            <a:off x="4854124" y="2195889"/>
            <a:ext cx="54660" cy="606828"/>
          </a:xfrm>
          <a:prstGeom prst="ellipse">
            <a:avLst/>
          </a:prstGeom>
          <a:gradFill flip="none" rotWithShape="1">
            <a:gsLst>
              <a:gs pos="18000">
                <a:schemeClr val="accent3">
                  <a:lumMod val="0"/>
                  <a:lumOff val="100000"/>
                  <a:alpha val="64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DA84196D-D88A-4747-8F14-6D202313C61E}"/>
              </a:ext>
            </a:extLst>
          </p:cNvPr>
          <p:cNvSpPr/>
          <p:nvPr/>
        </p:nvSpPr>
        <p:spPr>
          <a:xfrm>
            <a:off x="4841119" y="3184572"/>
            <a:ext cx="54660" cy="606828"/>
          </a:xfrm>
          <a:prstGeom prst="ellipse">
            <a:avLst/>
          </a:prstGeom>
          <a:gradFill flip="none" rotWithShape="1">
            <a:gsLst>
              <a:gs pos="33000">
                <a:schemeClr val="accent3">
                  <a:lumMod val="0"/>
                  <a:lumOff val="100000"/>
                  <a:alpha val="64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61F49946-74E7-4CF0-9CF5-DFF601384EBD}"/>
              </a:ext>
            </a:extLst>
          </p:cNvPr>
          <p:cNvSpPr/>
          <p:nvPr/>
        </p:nvSpPr>
        <p:spPr>
          <a:xfrm>
            <a:off x="4860474" y="4161636"/>
            <a:ext cx="54660" cy="766990"/>
          </a:xfrm>
          <a:prstGeom prst="ellipse">
            <a:avLst/>
          </a:prstGeom>
          <a:gradFill flip="none" rotWithShape="1">
            <a:gsLst>
              <a:gs pos="33000">
                <a:schemeClr val="accent3">
                  <a:lumMod val="0"/>
                  <a:lumOff val="100000"/>
                  <a:alpha val="64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7C6C7210-3643-4C6C-B744-BF738CAC2517}"/>
              </a:ext>
            </a:extLst>
          </p:cNvPr>
          <p:cNvSpPr/>
          <p:nvPr/>
        </p:nvSpPr>
        <p:spPr>
          <a:xfrm>
            <a:off x="4847547" y="5343808"/>
            <a:ext cx="54147" cy="813970"/>
          </a:xfrm>
          <a:prstGeom prst="ellipse">
            <a:avLst/>
          </a:prstGeom>
          <a:gradFill flip="none" rotWithShape="1">
            <a:gsLst>
              <a:gs pos="33000">
                <a:schemeClr val="accent3">
                  <a:lumMod val="0"/>
                  <a:lumOff val="100000"/>
                  <a:alpha val="64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2CBDD862-D835-40BA-BB21-A7832CB1A679}"/>
              </a:ext>
            </a:extLst>
          </p:cNvPr>
          <p:cNvSpPr/>
          <p:nvPr/>
        </p:nvSpPr>
        <p:spPr>
          <a:xfrm rot="17273457">
            <a:off x="3531359" y="4780795"/>
            <a:ext cx="45719" cy="301656"/>
          </a:xfrm>
          <a:prstGeom prst="ellipse">
            <a:avLst/>
          </a:prstGeom>
          <a:gradFill flip="none" rotWithShape="1">
            <a:gsLst>
              <a:gs pos="33000">
                <a:schemeClr val="accent3">
                  <a:lumMod val="0"/>
                  <a:lumOff val="100000"/>
                  <a:alpha val="64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942CCE53-DC7B-40C2-8583-AD9A798C6D68}"/>
              </a:ext>
            </a:extLst>
          </p:cNvPr>
          <p:cNvSpPr/>
          <p:nvPr/>
        </p:nvSpPr>
        <p:spPr>
          <a:xfrm rot="17273457">
            <a:off x="3882958" y="3735338"/>
            <a:ext cx="45719" cy="301656"/>
          </a:xfrm>
          <a:prstGeom prst="ellipse">
            <a:avLst/>
          </a:prstGeom>
          <a:gradFill flip="none" rotWithShape="1">
            <a:gsLst>
              <a:gs pos="33000">
                <a:schemeClr val="accent3">
                  <a:lumMod val="0"/>
                  <a:lumOff val="100000"/>
                  <a:alpha val="64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C9A29726-D7B6-4622-9625-700683F59344}"/>
              </a:ext>
            </a:extLst>
          </p:cNvPr>
          <p:cNvSpPr/>
          <p:nvPr/>
        </p:nvSpPr>
        <p:spPr>
          <a:xfrm rot="17273457">
            <a:off x="4184073" y="2819597"/>
            <a:ext cx="45719" cy="301656"/>
          </a:xfrm>
          <a:prstGeom prst="ellipse">
            <a:avLst/>
          </a:prstGeom>
          <a:gradFill flip="none" rotWithShape="1">
            <a:gsLst>
              <a:gs pos="33000">
                <a:schemeClr val="accent3">
                  <a:lumMod val="0"/>
                  <a:lumOff val="100000"/>
                  <a:alpha val="64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389835A-8EB0-4EF1-9FA8-CC5B4E27C14F}"/>
              </a:ext>
            </a:extLst>
          </p:cNvPr>
          <p:cNvSpPr/>
          <p:nvPr/>
        </p:nvSpPr>
        <p:spPr>
          <a:xfrm rot="17273457">
            <a:off x="4473134" y="1971799"/>
            <a:ext cx="45719" cy="301656"/>
          </a:xfrm>
          <a:prstGeom prst="ellipse">
            <a:avLst/>
          </a:prstGeom>
          <a:gradFill flip="none" rotWithShape="1">
            <a:gsLst>
              <a:gs pos="33000">
                <a:schemeClr val="accent3">
                  <a:lumMod val="0"/>
                  <a:lumOff val="100000"/>
                  <a:alpha val="64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18296D8-10B9-4DC6-B62C-7B7063FFB149}"/>
              </a:ext>
            </a:extLst>
          </p:cNvPr>
          <p:cNvSpPr txBox="1"/>
          <p:nvPr/>
        </p:nvSpPr>
        <p:spPr>
          <a:xfrm>
            <a:off x="6189885" y="1273384"/>
            <a:ext cx="258292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 spc="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IN" sz="1200" spc="0" dirty="0">
                <a:solidFill>
                  <a:schemeClr val="bg1"/>
                </a:solidFill>
                <a:latin typeface=""/>
              </a:rPr>
              <a:t>Presentation Layer</a:t>
            </a:r>
            <a:endParaRPr lang="en-US" sz="1200" spc="0" dirty="0">
              <a:solidFill>
                <a:schemeClr val="bg1"/>
              </a:solidFill>
              <a:latin typeface=""/>
              <a:cs typeface="Arial" panose="020B0604020202020204" pitchFamily="34" charset="0"/>
            </a:endParaRPr>
          </a:p>
          <a:p>
            <a:pPr lvl="0"/>
            <a:r>
              <a:rPr lang="en-US" sz="1050" spc="0" dirty="0">
                <a:solidFill>
                  <a:schemeClr val="bg1"/>
                </a:solidFill>
              </a:rPr>
              <a:t>User-friendly web interface for news submission and result viewing.</a:t>
            </a:r>
            <a:endParaRPr lang="en-US" sz="1050" b="0" spc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2125765-13EF-4382-8E87-C30C74A2AED0}"/>
              </a:ext>
            </a:extLst>
          </p:cNvPr>
          <p:cNvSpPr txBox="1"/>
          <p:nvPr/>
        </p:nvSpPr>
        <p:spPr>
          <a:xfrm>
            <a:off x="5517083" y="1323864"/>
            <a:ext cx="857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 spc="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US" sz="2400" dirty="0">
                <a:solidFill>
                  <a:schemeClr val="bg1"/>
                </a:solidFill>
                <a:latin typeface="Akrobat ExtraLight" panose="00000400000000000000" pitchFamily="50" charset="0"/>
                <a:cs typeface="Arial" panose="020B0604020202020204" pitchFamily="34" charset="0"/>
              </a:rPr>
              <a:t>01</a:t>
            </a:r>
            <a:endParaRPr lang="en-US" sz="1800" b="0" spc="0" dirty="0">
              <a:solidFill>
                <a:schemeClr val="bg1"/>
              </a:solidFill>
              <a:effectLst/>
              <a:latin typeface="Akrobat ExtraLight" panose="00000400000000000000" pitchFamily="50" charset="0"/>
              <a:cs typeface="Arial" panose="020B060402020202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6D9E6E9-EA6A-4075-BE8B-4C4151C203BF}"/>
              </a:ext>
            </a:extLst>
          </p:cNvPr>
          <p:cNvSpPr txBox="1"/>
          <p:nvPr/>
        </p:nvSpPr>
        <p:spPr>
          <a:xfrm>
            <a:off x="6781812" y="1979242"/>
            <a:ext cx="258292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 spc="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IN" sz="1200" spc="0" dirty="0">
                <a:solidFill>
                  <a:schemeClr val="bg1"/>
                </a:solidFill>
              </a:rPr>
              <a:t>Application Layer </a:t>
            </a:r>
            <a:br>
              <a:rPr lang="en-IN" sz="1200" spc="0" dirty="0">
                <a:solidFill>
                  <a:schemeClr val="bg1"/>
                </a:solidFill>
              </a:rPr>
            </a:br>
            <a:r>
              <a:rPr lang="en-US" sz="1050" spc="0" dirty="0">
                <a:solidFill>
                  <a:schemeClr val="bg1"/>
                </a:solidFill>
              </a:rPr>
              <a:t>Flask backend that handles routing, authentication, and business logic.</a:t>
            </a:r>
            <a:endParaRPr lang="en-US" sz="1050" b="0" spc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A4E8E57-F167-4B27-AA42-F5FB2603FDE0}"/>
              </a:ext>
            </a:extLst>
          </p:cNvPr>
          <p:cNvSpPr txBox="1"/>
          <p:nvPr/>
        </p:nvSpPr>
        <p:spPr>
          <a:xfrm>
            <a:off x="6109010" y="2029722"/>
            <a:ext cx="857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 spc="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US" sz="2400" dirty="0">
                <a:solidFill>
                  <a:schemeClr val="bg1"/>
                </a:solidFill>
                <a:latin typeface="Akrobat ExtraLight" panose="00000400000000000000" pitchFamily="50" charset="0"/>
                <a:cs typeface="Arial" panose="020B0604020202020204" pitchFamily="34" charset="0"/>
              </a:rPr>
              <a:t>02</a:t>
            </a:r>
            <a:endParaRPr lang="en-US" sz="1800" b="0" spc="0" dirty="0">
              <a:solidFill>
                <a:schemeClr val="bg1"/>
              </a:solidFill>
              <a:effectLst/>
              <a:latin typeface="Akrobat ExtraLight" panose="00000400000000000000" pitchFamily="50" charset="0"/>
              <a:cs typeface="Arial" panose="020B0604020202020204" pitchFamily="34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7C7153E-F821-467C-A91F-B3AE0B58C469}"/>
              </a:ext>
            </a:extLst>
          </p:cNvPr>
          <p:cNvSpPr txBox="1"/>
          <p:nvPr/>
        </p:nvSpPr>
        <p:spPr>
          <a:xfrm>
            <a:off x="7274346" y="2672843"/>
            <a:ext cx="2582927" cy="761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 spc="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IN" sz="1200" spc="0" dirty="0">
                <a:solidFill>
                  <a:schemeClr val="bg1"/>
                </a:solidFill>
              </a:rPr>
              <a:t>Processing Layer </a:t>
            </a:r>
            <a:br>
              <a:rPr lang="en-IN" sz="1200" spc="0" dirty="0">
                <a:solidFill>
                  <a:schemeClr val="bg1"/>
                </a:solidFill>
              </a:rPr>
            </a:br>
            <a:r>
              <a:rPr lang="en-US" sz="1050" spc="0" dirty="0">
                <a:solidFill>
                  <a:schemeClr val="bg1"/>
                </a:solidFill>
              </a:rPr>
              <a:t>NLP preprocessing and machine learning models for fake news detection.</a:t>
            </a:r>
            <a:endParaRPr lang="en-US" sz="1050" b="0" spc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7A88BFB-3A60-4F53-9EB8-7DF3B5804734}"/>
              </a:ext>
            </a:extLst>
          </p:cNvPr>
          <p:cNvSpPr txBox="1"/>
          <p:nvPr/>
        </p:nvSpPr>
        <p:spPr>
          <a:xfrm>
            <a:off x="6620381" y="2799568"/>
            <a:ext cx="857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 spc="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US" sz="2400" dirty="0">
                <a:solidFill>
                  <a:schemeClr val="bg1"/>
                </a:solidFill>
                <a:latin typeface="Akrobat ExtraLight" panose="00000400000000000000" pitchFamily="50" charset="0"/>
                <a:cs typeface="Arial" panose="020B0604020202020204" pitchFamily="34" charset="0"/>
              </a:rPr>
              <a:t>03</a:t>
            </a:r>
            <a:endParaRPr lang="en-US" sz="1800" b="0" spc="0" dirty="0">
              <a:solidFill>
                <a:schemeClr val="bg1"/>
              </a:solidFill>
              <a:effectLst/>
              <a:latin typeface="Akrobat ExtraLight" panose="00000400000000000000" pitchFamily="50" charset="0"/>
              <a:cs typeface="Arial" panose="020B0604020202020204" pitchFamily="34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1D99E22-1668-48B3-810D-31DD6E9E3901}"/>
              </a:ext>
            </a:extLst>
          </p:cNvPr>
          <p:cNvSpPr txBox="1"/>
          <p:nvPr/>
        </p:nvSpPr>
        <p:spPr>
          <a:xfrm>
            <a:off x="8097865" y="3544095"/>
            <a:ext cx="258292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 spc="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IN" sz="1200" spc="0" dirty="0">
                <a:solidFill>
                  <a:schemeClr val="bg1"/>
                </a:solidFill>
              </a:rPr>
              <a:t>Verification Layer </a:t>
            </a:r>
            <a:br>
              <a:rPr lang="en-IN" sz="1200" spc="0" dirty="0">
                <a:solidFill>
                  <a:schemeClr val="bg1"/>
                </a:solidFill>
              </a:rPr>
            </a:br>
            <a:r>
              <a:rPr lang="en-US" sz="1050" spc="0" dirty="0">
                <a:solidFill>
                  <a:schemeClr val="bg1"/>
                </a:solidFill>
              </a:rPr>
              <a:t>Integration with trusted fact-checking APIs to validate claims.</a:t>
            </a:r>
            <a:endParaRPr lang="en-US" sz="1050" b="0" spc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6B29A24-501F-4947-8656-963C20696FA1}"/>
              </a:ext>
            </a:extLst>
          </p:cNvPr>
          <p:cNvSpPr txBox="1"/>
          <p:nvPr/>
        </p:nvSpPr>
        <p:spPr>
          <a:xfrm>
            <a:off x="7425063" y="3594575"/>
            <a:ext cx="857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 spc="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US" sz="2400" dirty="0">
                <a:solidFill>
                  <a:schemeClr val="bg1"/>
                </a:solidFill>
                <a:latin typeface="Akrobat ExtraLight" panose="00000400000000000000" pitchFamily="50" charset="0"/>
                <a:cs typeface="Arial" panose="020B0604020202020204" pitchFamily="34" charset="0"/>
              </a:rPr>
              <a:t>04</a:t>
            </a:r>
            <a:endParaRPr lang="en-US" sz="1800" b="0" spc="0" dirty="0">
              <a:solidFill>
                <a:schemeClr val="bg1"/>
              </a:solidFill>
              <a:effectLst/>
              <a:latin typeface="Akrobat ExtraLight" panose="00000400000000000000" pitchFamily="50" charset="0"/>
              <a:cs typeface="Arial" panose="020B0604020202020204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26C97B64-BA77-4FF2-B2AD-CDB273CF65EE}"/>
              </a:ext>
            </a:extLst>
          </p:cNvPr>
          <p:cNvSpPr txBox="1"/>
          <p:nvPr/>
        </p:nvSpPr>
        <p:spPr>
          <a:xfrm>
            <a:off x="8691010" y="4366275"/>
            <a:ext cx="258292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 spc="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IN" sz="1200" spc="0" dirty="0">
                <a:solidFill>
                  <a:schemeClr val="bg1"/>
                </a:solidFill>
              </a:rPr>
              <a:t>Data Layer </a:t>
            </a:r>
            <a:br>
              <a:rPr lang="en-IN" sz="1200" spc="0" dirty="0">
                <a:solidFill>
                  <a:schemeClr val="bg1"/>
                </a:solidFill>
              </a:rPr>
            </a:br>
            <a:r>
              <a:rPr lang="en-US" sz="1050" spc="0" dirty="0">
                <a:solidFill>
                  <a:schemeClr val="bg1"/>
                </a:solidFill>
              </a:rPr>
              <a:t>Centralized database for storing users, articles, and analysis results.</a:t>
            </a:r>
            <a:endParaRPr lang="en-US" sz="1050" b="0" spc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0DA0C37-5CEC-4F3E-8D9E-8617E8743FC1}"/>
              </a:ext>
            </a:extLst>
          </p:cNvPr>
          <p:cNvSpPr txBox="1"/>
          <p:nvPr/>
        </p:nvSpPr>
        <p:spPr>
          <a:xfrm>
            <a:off x="8018208" y="4416755"/>
            <a:ext cx="857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 spc="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US" sz="2400" dirty="0">
                <a:solidFill>
                  <a:schemeClr val="bg1"/>
                </a:solidFill>
                <a:latin typeface="Akrobat ExtraLight" panose="00000400000000000000" pitchFamily="50" charset="0"/>
                <a:cs typeface="Arial" panose="020B0604020202020204" pitchFamily="34" charset="0"/>
              </a:rPr>
              <a:t>05</a:t>
            </a:r>
            <a:endParaRPr lang="en-US" sz="1800" b="0" spc="0" dirty="0">
              <a:solidFill>
                <a:schemeClr val="bg1"/>
              </a:solidFill>
              <a:effectLst/>
              <a:latin typeface="Akrobat ExtraLight" panose="00000400000000000000" pitchFamily="50" charset="0"/>
              <a:cs typeface="Arial" panose="020B0604020202020204" pitchFamily="34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740A85F-9588-4062-9825-A57808E4AFF5}"/>
              </a:ext>
            </a:extLst>
          </p:cNvPr>
          <p:cNvSpPr txBox="1"/>
          <p:nvPr/>
        </p:nvSpPr>
        <p:spPr>
          <a:xfrm>
            <a:off x="126632" y="223229"/>
            <a:ext cx="5996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Step 3D PYRAMID infographic</a:t>
            </a:r>
          </a:p>
        </p:txBody>
      </p:sp>
    </p:spTree>
    <p:extLst>
      <p:ext uri="{BB962C8B-B14F-4D97-AF65-F5344CB8AC3E}">
        <p14:creationId xmlns:p14="http://schemas.microsoft.com/office/powerpoint/2010/main" val="4042706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7775BBE-648E-43F5-9007-5144098B23ED}"/>
              </a:ext>
            </a:extLst>
          </p:cNvPr>
          <p:cNvSpPr/>
          <p:nvPr/>
        </p:nvSpPr>
        <p:spPr>
          <a:xfrm>
            <a:off x="2651108" y="5154495"/>
            <a:ext cx="6330984" cy="1407842"/>
          </a:xfrm>
          <a:prstGeom prst="ellipse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  <a:alpha val="0"/>
                </a:schemeClr>
              </a:gs>
              <a:gs pos="83000">
                <a:schemeClr val="tx1">
                  <a:lumMod val="75000"/>
                  <a:lumOff val="25000"/>
                  <a:alpha val="86000"/>
                </a:schemeClr>
              </a:gs>
            </a:gsLst>
            <a:lin ang="0" scaled="1"/>
            <a:tileRect/>
          </a:gra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4BFD768-8016-44F5-A9AB-BFD03C3AD7CB}"/>
              </a:ext>
            </a:extLst>
          </p:cNvPr>
          <p:cNvSpPr/>
          <p:nvPr/>
        </p:nvSpPr>
        <p:spPr>
          <a:xfrm>
            <a:off x="5007992" y="5257839"/>
            <a:ext cx="3368138" cy="869324"/>
          </a:xfrm>
          <a:custGeom>
            <a:avLst/>
            <a:gdLst>
              <a:gd name="connsiteX0" fmla="*/ 1 w 3368138"/>
              <a:gd name="connsiteY0" fmla="*/ 0 h 869324"/>
              <a:gd name="connsiteX1" fmla="*/ 3368138 w 3368138"/>
              <a:gd name="connsiteY1" fmla="*/ 0 h 869324"/>
              <a:gd name="connsiteX2" fmla="*/ 3368138 w 3368138"/>
              <a:gd name="connsiteY2" fmla="*/ 579549 h 869324"/>
              <a:gd name="connsiteX3" fmla="*/ 1684069 w 3368138"/>
              <a:gd name="connsiteY3" fmla="*/ 869324 h 869324"/>
              <a:gd name="connsiteX4" fmla="*/ 0 w 3368138"/>
              <a:gd name="connsiteY4" fmla="*/ 579549 h 869324"/>
              <a:gd name="connsiteX5" fmla="*/ 1 w 3368138"/>
              <a:gd name="connsiteY5" fmla="*/ 579547 h 869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68138" h="869324">
                <a:moveTo>
                  <a:pt x="1" y="0"/>
                </a:moveTo>
                <a:lnTo>
                  <a:pt x="3368138" y="0"/>
                </a:lnTo>
                <a:lnTo>
                  <a:pt x="3368138" y="579549"/>
                </a:lnTo>
                <a:cubicBezTo>
                  <a:pt x="3368138" y="739587"/>
                  <a:pt x="2614155" y="869324"/>
                  <a:pt x="1684069" y="869324"/>
                </a:cubicBezTo>
                <a:cubicBezTo>
                  <a:pt x="753983" y="869324"/>
                  <a:pt x="0" y="739587"/>
                  <a:pt x="0" y="579549"/>
                </a:cubicBezTo>
                <a:lnTo>
                  <a:pt x="1" y="579547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97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6890664-597D-4C09-B778-C5E5266D4AF3}"/>
              </a:ext>
            </a:extLst>
          </p:cNvPr>
          <p:cNvSpPr/>
          <p:nvPr/>
        </p:nvSpPr>
        <p:spPr>
          <a:xfrm>
            <a:off x="5007995" y="4968066"/>
            <a:ext cx="3368137" cy="579549"/>
          </a:xfrm>
          <a:prstGeom prst="ellipse">
            <a:avLst/>
          </a:prstGeom>
          <a:gradFill>
            <a:gsLst>
              <a:gs pos="0">
                <a:srgbClr val="BFA8D6"/>
              </a:gs>
              <a:gs pos="83000">
                <a:srgbClr val="9690CB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636DD7C-B9FD-48FE-855D-CBF632F36687}"/>
              </a:ext>
            </a:extLst>
          </p:cNvPr>
          <p:cNvGrpSpPr/>
          <p:nvPr/>
        </p:nvGrpSpPr>
        <p:grpSpPr>
          <a:xfrm>
            <a:off x="3759921" y="4163837"/>
            <a:ext cx="4113358" cy="1516085"/>
            <a:chOff x="1378854" y="1712890"/>
            <a:chExt cx="4113358" cy="151608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F7929EE-F623-4D68-B999-8A57445141F6}"/>
                </a:ext>
              </a:extLst>
            </p:cNvPr>
            <p:cNvSpPr/>
            <p:nvPr/>
          </p:nvSpPr>
          <p:spPr>
            <a:xfrm>
              <a:off x="1378854" y="1928282"/>
              <a:ext cx="4113358" cy="1300693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0AFE90E-C1D4-4256-B934-A55DF55FB621}"/>
                </a:ext>
              </a:extLst>
            </p:cNvPr>
            <p:cNvSpPr/>
            <p:nvPr/>
          </p:nvSpPr>
          <p:spPr>
            <a:xfrm>
              <a:off x="1654620" y="2002663"/>
              <a:ext cx="3368138" cy="869324"/>
            </a:xfrm>
            <a:custGeom>
              <a:avLst/>
              <a:gdLst>
                <a:gd name="connsiteX0" fmla="*/ 1 w 3368138"/>
                <a:gd name="connsiteY0" fmla="*/ 0 h 869324"/>
                <a:gd name="connsiteX1" fmla="*/ 3368138 w 3368138"/>
                <a:gd name="connsiteY1" fmla="*/ 0 h 869324"/>
                <a:gd name="connsiteX2" fmla="*/ 3368138 w 3368138"/>
                <a:gd name="connsiteY2" fmla="*/ 579549 h 869324"/>
                <a:gd name="connsiteX3" fmla="*/ 1684069 w 3368138"/>
                <a:gd name="connsiteY3" fmla="*/ 869324 h 869324"/>
                <a:gd name="connsiteX4" fmla="*/ 0 w 3368138"/>
                <a:gd name="connsiteY4" fmla="*/ 579549 h 869324"/>
                <a:gd name="connsiteX5" fmla="*/ 1 w 3368138"/>
                <a:gd name="connsiteY5" fmla="*/ 579547 h 869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68138" h="869324">
                  <a:moveTo>
                    <a:pt x="1" y="0"/>
                  </a:moveTo>
                  <a:lnTo>
                    <a:pt x="3368138" y="0"/>
                  </a:lnTo>
                  <a:lnTo>
                    <a:pt x="3368138" y="579549"/>
                  </a:lnTo>
                  <a:cubicBezTo>
                    <a:pt x="3368138" y="739587"/>
                    <a:pt x="2614155" y="869324"/>
                    <a:pt x="1684069" y="869324"/>
                  </a:cubicBezTo>
                  <a:cubicBezTo>
                    <a:pt x="753983" y="869324"/>
                    <a:pt x="0" y="739587"/>
                    <a:pt x="0" y="579549"/>
                  </a:cubicBezTo>
                  <a:lnTo>
                    <a:pt x="1" y="57954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64663EA-60CB-4EE2-9E85-F2D341F86A30}"/>
                </a:ext>
              </a:extLst>
            </p:cNvPr>
            <p:cNvSpPr/>
            <p:nvPr/>
          </p:nvSpPr>
          <p:spPr>
            <a:xfrm>
              <a:off x="1654623" y="1712890"/>
              <a:ext cx="3368137" cy="579549"/>
            </a:xfrm>
            <a:prstGeom prst="ellipse">
              <a:avLst/>
            </a:prstGeom>
            <a:gradFill>
              <a:gsLst>
                <a:gs pos="0">
                  <a:srgbClr val="94C8D8"/>
                </a:gs>
                <a:gs pos="83000">
                  <a:srgbClr val="7AB5DB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BE2B354-A6D0-437A-84FD-ED864F66F4CD}"/>
              </a:ext>
            </a:extLst>
          </p:cNvPr>
          <p:cNvGrpSpPr/>
          <p:nvPr/>
        </p:nvGrpSpPr>
        <p:grpSpPr>
          <a:xfrm>
            <a:off x="2772391" y="3346723"/>
            <a:ext cx="4113358" cy="1516085"/>
            <a:chOff x="1378854" y="1712890"/>
            <a:chExt cx="4113358" cy="1516085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AF46755-C5FA-478A-B98C-DCDB19ABA69B}"/>
                </a:ext>
              </a:extLst>
            </p:cNvPr>
            <p:cNvSpPr/>
            <p:nvPr/>
          </p:nvSpPr>
          <p:spPr>
            <a:xfrm>
              <a:off x="1378854" y="1928282"/>
              <a:ext cx="4113358" cy="1300693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8C3B6C6-1BBE-4C10-B4FE-BC33717D09CE}"/>
                </a:ext>
              </a:extLst>
            </p:cNvPr>
            <p:cNvSpPr/>
            <p:nvPr/>
          </p:nvSpPr>
          <p:spPr>
            <a:xfrm>
              <a:off x="1654620" y="2002663"/>
              <a:ext cx="3368138" cy="869324"/>
            </a:xfrm>
            <a:custGeom>
              <a:avLst/>
              <a:gdLst>
                <a:gd name="connsiteX0" fmla="*/ 1 w 3368138"/>
                <a:gd name="connsiteY0" fmla="*/ 0 h 869324"/>
                <a:gd name="connsiteX1" fmla="*/ 3368138 w 3368138"/>
                <a:gd name="connsiteY1" fmla="*/ 0 h 869324"/>
                <a:gd name="connsiteX2" fmla="*/ 3368138 w 3368138"/>
                <a:gd name="connsiteY2" fmla="*/ 579549 h 869324"/>
                <a:gd name="connsiteX3" fmla="*/ 1684069 w 3368138"/>
                <a:gd name="connsiteY3" fmla="*/ 869324 h 869324"/>
                <a:gd name="connsiteX4" fmla="*/ 0 w 3368138"/>
                <a:gd name="connsiteY4" fmla="*/ 579549 h 869324"/>
                <a:gd name="connsiteX5" fmla="*/ 1 w 3368138"/>
                <a:gd name="connsiteY5" fmla="*/ 579547 h 869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68138" h="869324">
                  <a:moveTo>
                    <a:pt x="1" y="0"/>
                  </a:moveTo>
                  <a:lnTo>
                    <a:pt x="3368138" y="0"/>
                  </a:lnTo>
                  <a:lnTo>
                    <a:pt x="3368138" y="579549"/>
                  </a:lnTo>
                  <a:cubicBezTo>
                    <a:pt x="3368138" y="739587"/>
                    <a:pt x="2614155" y="869324"/>
                    <a:pt x="1684069" y="869324"/>
                  </a:cubicBezTo>
                  <a:cubicBezTo>
                    <a:pt x="753983" y="869324"/>
                    <a:pt x="0" y="739587"/>
                    <a:pt x="0" y="579549"/>
                  </a:cubicBezTo>
                  <a:lnTo>
                    <a:pt x="1" y="57954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8F740B4-1491-4ACE-92C1-9717DE5BE640}"/>
                </a:ext>
              </a:extLst>
            </p:cNvPr>
            <p:cNvSpPr/>
            <p:nvPr/>
          </p:nvSpPr>
          <p:spPr>
            <a:xfrm>
              <a:off x="1654623" y="1712890"/>
              <a:ext cx="3368137" cy="579549"/>
            </a:xfrm>
            <a:prstGeom prst="ellipse">
              <a:avLst/>
            </a:prstGeom>
            <a:gradFill>
              <a:gsLst>
                <a:gs pos="0">
                  <a:srgbClr val="9CD4AD"/>
                </a:gs>
                <a:gs pos="83000">
                  <a:srgbClr val="82C79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E4A1C59-02AE-4A76-BE2D-33698BA9DD33}"/>
              </a:ext>
            </a:extLst>
          </p:cNvPr>
          <p:cNvGrpSpPr/>
          <p:nvPr/>
        </p:nvGrpSpPr>
        <p:grpSpPr>
          <a:xfrm>
            <a:off x="2042875" y="2507831"/>
            <a:ext cx="4113358" cy="1516085"/>
            <a:chOff x="1378854" y="1712890"/>
            <a:chExt cx="4113358" cy="1516085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96BB0EC-259F-49D9-8C8B-6ADF711BBDDC}"/>
                </a:ext>
              </a:extLst>
            </p:cNvPr>
            <p:cNvSpPr/>
            <p:nvPr/>
          </p:nvSpPr>
          <p:spPr>
            <a:xfrm>
              <a:off x="1378854" y="1928282"/>
              <a:ext cx="4113358" cy="1300693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0E383D8-5E40-47CF-AD67-475E16BFEDA1}"/>
                </a:ext>
              </a:extLst>
            </p:cNvPr>
            <p:cNvSpPr/>
            <p:nvPr/>
          </p:nvSpPr>
          <p:spPr>
            <a:xfrm>
              <a:off x="1654620" y="2002663"/>
              <a:ext cx="3368138" cy="869324"/>
            </a:xfrm>
            <a:custGeom>
              <a:avLst/>
              <a:gdLst>
                <a:gd name="connsiteX0" fmla="*/ 1 w 3368138"/>
                <a:gd name="connsiteY0" fmla="*/ 0 h 869324"/>
                <a:gd name="connsiteX1" fmla="*/ 3368138 w 3368138"/>
                <a:gd name="connsiteY1" fmla="*/ 0 h 869324"/>
                <a:gd name="connsiteX2" fmla="*/ 3368138 w 3368138"/>
                <a:gd name="connsiteY2" fmla="*/ 579549 h 869324"/>
                <a:gd name="connsiteX3" fmla="*/ 1684069 w 3368138"/>
                <a:gd name="connsiteY3" fmla="*/ 869324 h 869324"/>
                <a:gd name="connsiteX4" fmla="*/ 0 w 3368138"/>
                <a:gd name="connsiteY4" fmla="*/ 579549 h 869324"/>
                <a:gd name="connsiteX5" fmla="*/ 1 w 3368138"/>
                <a:gd name="connsiteY5" fmla="*/ 579547 h 869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68138" h="869324">
                  <a:moveTo>
                    <a:pt x="1" y="0"/>
                  </a:moveTo>
                  <a:lnTo>
                    <a:pt x="3368138" y="0"/>
                  </a:lnTo>
                  <a:lnTo>
                    <a:pt x="3368138" y="579549"/>
                  </a:lnTo>
                  <a:cubicBezTo>
                    <a:pt x="3368138" y="739587"/>
                    <a:pt x="2614155" y="869324"/>
                    <a:pt x="1684069" y="869324"/>
                  </a:cubicBezTo>
                  <a:cubicBezTo>
                    <a:pt x="753983" y="869324"/>
                    <a:pt x="0" y="739587"/>
                    <a:pt x="0" y="579549"/>
                  </a:cubicBezTo>
                  <a:lnTo>
                    <a:pt x="1" y="57954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BD7D6FF-B2AE-42C5-8B17-5AA99BB95AF2}"/>
                </a:ext>
              </a:extLst>
            </p:cNvPr>
            <p:cNvSpPr/>
            <p:nvPr/>
          </p:nvSpPr>
          <p:spPr>
            <a:xfrm>
              <a:off x="1654623" y="1712890"/>
              <a:ext cx="3368137" cy="579549"/>
            </a:xfrm>
            <a:prstGeom prst="ellipse">
              <a:avLst/>
            </a:prstGeom>
            <a:gradFill>
              <a:gsLst>
                <a:gs pos="0">
                  <a:srgbClr val="F2EA84"/>
                </a:gs>
                <a:gs pos="83000">
                  <a:srgbClr val="FFC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A860D49-B31F-4D2D-8179-EF7705E09CC6}"/>
              </a:ext>
            </a:extLst>
          </p:cNvPr>
          <p:cNvGrpSpPr/>
          <p:nvPr/>
        </p:nvGrpSpPr>
        <p:grpSpPr>
          <a:xfrm>
            <a:off x="1378854" y="1712890"/>
            <a:ext cx="4113358" cy="1516085"/>
            <a:chOff x="1378854" y="1712890"/>
            <a:chExt cx="4113358" cy="1516085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BD01F09-8E33-4950-A9C1-AE03EDE890CB}"/>
                </a:ext>
              </a:extLst>
            </p:cNvPr>
            <p:cNvSpPr/>
            <p:nvPr/>
          </p:nvSpPr>
          <p:spPr>
            <a:xfrm>
              <a:off x="1378854" y="1928282"/>
              <a:ext cx="4113358" cy="1300693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EB018CF-3BA4-4270-A259-13391C75866E}"/>
                </a:ext>
              </a:extLst>
            </p:cNvPr>
            <p:cNvSpPr/>
            <p:nvPr/>
          </p:nvSpPr>
          <p:spPr>
            <a:xfrm>
              <a:off x="1654620" y="2002663"/>
              <a:ext cx="3368138" cy="869324"/>
            </a:xfrm>
            <a:custGeom>
              <a:avLst/>
              <a:gdLst>
                <a:gd name="connsiteX0" fmla="*/ 1 w 3368138"/>
                <a:gd name="connsiteY0" fmla="*/ 0 h 869324"/>
                <a:gd name="connsiteX1" fmla="*/ 3368138 w 3368138"/>
                <a:gd name="connsiteY1" fmla="*/ 0 h 869324"/>
                <a:gd name="connsiteX2" fmla="*/ 3368138 w 3368138"/>
                <a:gd name="connsiteY2" fmla="*/ 579549 h 869324"/>
                <a:gd name="connsiteX3" fmla="*/ 1684069 w 3368138"/>
                <a:gd name="connsiteY3" fmla="*/ 869324 h 869324"/>
                <a:gd name="connsiteX4" fmla="*/ 0 w 3368138"/>
                <a:gd name="connsiteY4" fmla="*/ 579549 h 869324"/>
                <a:gd name="connsiteX5" fmla="*/ 1 w 3368138"/>
                <a:gd name="connsiteY5" fmla="*/ 579547 h 869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68138" h="869324">
                  <a:moveTo>
                    <a:pt x="1" y="0"/>
                  </a:moveTo>
                  <a:lnTo>
                    <a:pt x="3368138" y="0"/>
                  </a:lnTo>
                  <a:lnTo>
                    <a:pt x="3368138" y="579549"/>
                  </a:lnTo>
                  <a:cubicBezTo>
                    <a:pt x="3368138" y="739587"/>
                    <a:pt x="2614155" y="869324"/>
                    <a:pt x="1684069" y="869324"/>
                  </a:cubicBezTo>
                  <a:cubicBezTo>
                    <a:pt x="753983" y="869324"/>
                    <a:pt x="0" y="739587"/>
                    <a:pt x="0" y="579549"/>
                  </a:cubicBezTo>
                  <a:lnTo>
                    <a:pt x="1" y="57954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3245D02-66B5-459D-8C6E-7384E4B8FEB1}"/>
                </a:ext>
              </a:extLst>
            </p:cNvPr>
            <p:cNvSpPr/>
            <p:nvPr/>
          </p:nvSpPr>
          <p:spPr>
            <a:xfrm>
              <a:off x="1654623" y="1712890"/>
              <a:ext cx="3368137" cy="579549"/>
            </a:xfrm>
            <a:prstGeom prst="ellipse">
              <a:avLst/>
            </a:prstGeom>
            <a:gradFill>
              <a:gsLst>
                <a:gs pos="0">
                  <a:srgbClr val="FDA28F"/>
                </a:gs>
                <a:gs pos="83000">
                  <a:srgbClr val="FF4F65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EE8E013F-B38B-41E6-A455-F56A03D22148}"/>
              </a:ext>
            </a:extLst>
          </p:cNvPr>
          <p:cNvSpPr/>
          <p:nvPr/>
        </p:nvSpPr>
        <p:spPr>
          <a:xfrm>
            <a:off x="2407193" y="1801777"/>
            <a:ext cx="1862991" cy="40177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softEdge rad="177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Flag7">
            <a:extLst>
              <a:ext uri="{FF2B5EF4-FFF2-40B4-BE49-F238E27FC236}">
                <a16:creationId xmlns:a16="http://schemas.microsoft.com/office/drawing/2014/main" id="{EAF2A91F-CD69-4610-8F46-1F3ADBB7932C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 bwMode="auto">
          <a:xfrm>
            <a:off x="2651108" y="486592"/>
            <a:ext cx="965397" cy="1591027"/>
            <a:chOff x="4898" y="2034"/>
            <a:chExt cx="1003" cy="1653"/>
          </a:xfrm>
          <a:solidFill>
            <a:schemeClr val="tx1">
              <a:lumMod val="65000"/>
              <a:lumOff val="35000"/>
            </a:schemeClr>
          </a:solidFill>
          <a:effectLst/>
        </p:grpSpPr>
        <p:sp>
          <p:nvSpPr>
            <p:cNvPr id="23" name="Freeform 411">
              <a:extLst>
                <a:ext uri="{FF2B5EF4-FFF2-40B4-BE49-F238E27FC236}">
                  <a16:creationId xmlns:a16="http://schemas.microsoft.com/office/drawing/2014/main" id="{D73BB1E8-FE31-409B-BF8B-18AFD57940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98" y="2034"/>
              <a:ext cx="656" cy="767"/>
            </a:xfrm>
            <a:custGeom>
              <a:avLst/>
              <a:gdLst>
                <a:gd name="T0" fmla="*/ 688 w 689"/>
                <a:gd name="T1" fmla="*/ 72 h 805"/>
                <a:gd name="T2" fmla="*/ 604 w 689"/>
                <a:gd name="T3" fmla="*/ 374 h 805"/>
                <a:gd name="T4" fmla="*/ 379 w 689"/>
                <a:gd name="T5" fmla="*/ 328 h 805"/>
                <a:gd name="T6" fmla="*/ 378 w 689"/>
                <a:gd name="T7" fmla="*/ 329 h 805"/>
                <a:gd name="T8" fmla="*/ 57 w 689"/>
                <a:gd name="T9" fmla="*/ 284 h 805"/>
                <a:gd name="T10" fmla="*/ 61 w 689"/>
                <a:gd name="T11" fmla="*/ 0 h 805"/>
                <a:gd name="T12" fmla="*/ 366 w 689"/>
                <a:gd name="T13" fmla="*/ 47 h 805"/>
                <a:gd name="T14" fmla="*/ 688 w 689"/>
                <a:gd name="T15" fmla="*/ 72 h 805"/>
                <a:gd name="T16" fmla="*/ 689 w 689"/>
                <a:gd name="T17" fmla="*/ 77 h 805"/>
                <a:gd name="T18" fmla="*/ 507 w 689"/>
                <a:gd name="T19" fmla="*/ 805 h 805"/>
                <a:gd name="T20" fmla="*/ 482 w 689"/>
                <a:gd name="T21" fmla="*/ 798 h 805"/>
                <a:gd name="T22" fmla="*/ 689 w 689"/>
                <a:gd name="T23" fmla="*/ 77 h 8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89" h="805">
                  <a:moveTo>
                    <a:pt x="688" y="72"/>
                  </a:moveTo>
                  <a:lnTo>
                    <a:pt x="604" y="374"/>
                  </a:lnTo>
                  <a:cubicBezTo>
                    <a:pt x="490" y="383"/>
                    <a:pt x="439" y="368"/>
                    <a:pt x="379" y="328"/>
                  </a:cubicBezTo>
                  <a:cubicBezTo>
                    <a:pt x="378" y="329"/>
                    <a:pt x="378" y="329"/>
                    <a:pt x="378" y="329"/>
                  </a:cubicBezTo>
                  <a:cubicBezTo>
                    <a:pt x="226" y="341"/>
                    <a:pt x="132" y="310"/>
                    <a:pt x="57" y="284"/>
                  </a:cubicBezTo>
                  <a:cubicBezTo>
                    <a:pt x="0" y="84"/>
                    <a:pt x="156" y="100"/>
                    <a:pt x="61" y="0"/>
                  </a:cubicBezTo>
                  <a:lnTo>
                    <a:pt x="366" y="47"/>
                  </a:lnTo>
                  <a:cubicBezTo>
                    <a:pt x="400" y="23"/>
                    <a:pt x="609" y="48"/>
                    <a:pt x="688" y="72"/>
                  </a:cubicBezTo>
                  <a:close/>
                  <a:moveTo>
                    <a:pt x="689" y="77"/>
                  </a:moveTo>
                  <a:lnTo>
                    <a:pt x="507" y="805"/>
                  </a:lnTo>
                  <a:lnTo>
                    <a:pt x="482" y="798"/>
                  </a:lnTo>
                  <a:lnTo>
                    <a:pt x="689" y="7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412">
              <a:extLst>
                <a:ext uri="{FF2B5EF4-FFF2-40B4-BE49-F238E27FC236}">
                  <a16:creationId xmlns:a16="http://schemas.microsoft.com/office/drawing/2014/main" id="{A1F8F730-1A84-4419-BCBE-ABC774AA0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8" y="2481"/>
              <a:ext cx="543" cy="1206"/>
            </a:xfrm>
            <a:custGeom>
              <a:avLst/>
              <a:gdLst>
                <a:gd name="T0" fmla="*/ 197 w 571"/>
                <a:gd name="T1" fmla="*/ 499 h 1265"/>
                <a:gd name="T2" fmla="*/ 206 w 571"/>
                <a:gd name="T3" fmla="*/ 364 h 1265"/>
                <a:gd name="T4" fmla="*/ 192 w 571"/>
                <a:gd name="T5" fmla="*/ 329 h 1265"/>
                <a:gd name="T6" fmla="*/ 108 w 571"/>
                <a:gd name="T7" fmla="*/ 249 h 1265"/>
                <a:gd name="T8" fmla="*/ 58 w 571"/>
                <a:gd name="T9" fmla="*/ 151 h 1265"/>
                <a:gd name="T10" fmla="*/ 48 w 571"/>
                <a:gd name="T11" fmla="*/ 96 h 1265"/>
                <a:gd name="T12" fmla="*/ 67 w 571"/>
                <a:gd name="T13" fmla="*/ 82 h 1265"/>
                <a:gd name="T14" fmla="*/ 94 w 571"/>
                <a:gd name="T15" fmla="*/ 123 h 1265"/>
                <a:gd name="T16" fmla="*/ 147 w 571"/>
                <a:gd name="T17" fmla="*/ 217 h 1265"/>
                <a:gd name="T18" fmla="*/ 181 w 571"/>
                <a:gd name="T19" fmla="*/ 260 h 1265"/>
                <a:gd name="T20" fmla="*/ 227 w 571"/>
                <a:gd name="T21" fmla="*/ 249 h 1265"/>
                <a:gd name="T22" fmla="*/ 260 w 571"/>
                <a:gd name="T23" fmla="*/ 197 h 1265"/>
                <a:gd name="T24" fmla="*/ 253 w 571"/>
                <a:gd name="T25" fmla="*/ 146 h 1265"/>
                <a:gd name="T26" fmla="*/ 353 w 571"/>
                <a:gd name="T27" fmla="*/ 89 h 1265"/>
                <a:gd name="T28" fmla="*/ 387 w 571"/>
                <a:gd name="T29" fmla="*/ 172 h 1265"/>
                <a:gd name="T30" fmla="*/ 412 w 571"/>
                <a:gd name="T31" fmla="*/ 183 h 1265"/>
                <a:gd name="T32" fmla="*/ 456 w 571"/>
                <a:gd name="T33" fmla="*/ 155 h 1265"/>
                <a:gd name="T34" fmla="*/ 489 w 571"/>
                <a:gd name="T35" fmla="*/ 98 h 1265"/>
                <a:gd name="T36" fmla="*/ 473 w 571"/>
                <a:gd name="T37" fmla="*/ 74 h 1265"/>
                <a:gd name="T38" fmla="*/ 477 w 571"/>
                <a:gd name="T39" fmla="*/ 54 h 1265"/>
                <a:gd name="T40" fmla="*/ 499 w 571"/>
                <a:gd name="T41" fmla="*/ 32 h 1265"/>
                <a:gd name="T42" fmla="*/ 508 w 571"/>
                <a:gd name="T43" fmla="*/ 3 h 1265"/>
                <a:gd name="T44" fmla="*/ 512 w 571"/>
                <a:gd name="T45" fmla="*/ 21 h 1265"/>
                <a:gd name="T46" fmla="*/ 511 w 571"/>
                <a:gd name="T47" fmla="*/ 46 h 1265"/>
                <a:gd name="T48" fmla="*/ 536 w 571"/>
                <a:gd name="T49" fmla="*/ 32 h 1265"/>
                <a:gd name="T50" fmla="*/ 548 w 571"/>
                <a:gd name="T51" fmla="*/ 32 h 1265"/>
                <a:gd name="T52" fmla="*/ 550 w 571"/>
                <a:gd name="T53" fmla="*/ 47 h 1265"/>
                <a:gd name="T54" fmla="*/ 558 w 571"/>
                <a:gd name="T55" fmla="*/ 56 h 1265"/>
                <a:gd name="T56" fmla="*/ 562 w 571"/>
                <a:gd name="T57" fmla="*/ 66 h 1265"/>
                <a:gd name="T58" fmla="*/ 570 w 571"/>
                <a:gd name="T59" fmla="*/ 77 h 1265"/>
                <a:gd name="T60" fmla="*/ 564 w 571"/>
                <a:gd name="T61" fmla="*/ 81 h 1265"/>
                <a:gd name="T62" fmla="*/ 531 w 571"/>
                <a:gd name="T63" fmla="*/ 131 h 1265"/>
                <a:gd name="T64" fmla="*/ 491 w 571"/>
                <a:gd name="T65" fmla="*/ 229 h 1265"/>
                <a:gd name="T66" fmla="*/ 400 w 571"/>
                <a:gd name="T67" fmla="*/ 453 h 1265"/>
                <a:gd name="T68" fmla="*/ 412 w 571"/>
                <a:gd name="T69" fmla="*/ 530 h 1265"/>
                <a:gd name="T70" fmla="*/ 404 w 571"/>
                <a:gd name="T71" fmla="*/ 723 h 1265"/>
                <a:gd name="T72" fmla="*/ 389 w 571"/>
                <a:gd name="T73" fmla="*/ 926 h 1265"/>
                <a:gd name="T74" fmla="*/ 392 w 571"/>
                <a:gd name="T75" fmla="*/ 1106 h 1265"/>
                <a:gd name="T76" fmla="*/ 368 w 571"/>
                <a:gd name="T77" fmla="*/ 1245 h 1265"/>
                <a:gd name="T78" fmla="*/ 306 w 571"/>
                <a:gd name="T79" fmla="*/ 1263 h 1265"/>
                <a:gd name="T80" fmla="*/ 267 w 571"/>
                <a:gd name="T81" fmla="*/ 1243 h 1265"/>
                <a:gd name="T82" fmla="*/ 282 w 571"/>
                <a:gd name="T83" fmla="*/ 1069 h 1265"/>
                <a:gd name="T84" fmla="*/ 281 w 571"/>
                <a:gd name="T85" fmla="*/ 910 h 1265"/>
                <a:gd name="T86" fmla="*/ 269 w 571"/>
                <a:gd name="T87" fmla="*/ 800 h 1265"/>
                <a:gd name="T88" fmla="*/ 268 w 571"/>
                <a:gd name="T89" fmla="*/ 729 h 1265"/>
                <a:gd name="T90" fmla="*/ 229 w 571"/>
                <a:gd name="T91" fmla="*/ 788 h 1265"/>
                <a:gd name="T92" fmla="*/ 191 w 571"/>
                <a:gd name="T93" fmla="*/ 847 h 1265"/>
                <a:gd name="T94" fmla="*/ 202 w 571"/>
                <a:gd name="T95" fmla="*/ 888 h 1265"/>
                <a:gd name="T96" fmla="*/ 228 w 571"/>
                <a:gd name="T97" fmla="*/ 1094 h 1265"/>
                <a:gd name="T98" fmla="*/ 68 w 571"/>
                <a:gd name="T99" fmla="*/ 1167 h 1265"/>
                <a:gd name="T100" fmla="*/ 63 w 571"/>
                <a:gd name="T101" fmla="*/ 1123 h 1265"/>
                <a:gd name="T102" fmla="*/ 108 w 571"/>
                <a:gd name="T103" fmla="*/ 1074 h 1265"/>
                <a:gd name="T104" fmla="*/ 87 w 571"/>
                <a:gd name="T105" fmla="*/ 877 h 1265"/>
                <a:gd name="T106" fmla="*/ 149 w 571"/>
                <a:gd name="T107" fmla="*/ 657 h 1265"/>
                <a:gd name="T108" fmla="*/ 202 w 571"/>
                <a:gd name="T109" fmla="*/ 536 h 1265"/>
                <a:gd name="T110" fmla="*/ 197 w 571"/>
                <a:gd name="T111" fmla="*/ 499 h 1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71" h="1265">
                  <a:moveTo>
                    <a:pt x="197" y="499"/>
                  </a:moveTo>
                  <a:cubicBezTo>
                    <a:pt x="204" y="494"/>
                    <a:pt x="210" y="404"/>
                    <a:pt x="206" y="364"/>
                  </a:cubicBezTo>
                  <a:cubicBezTo>
                    <a:pt x="204" y="345"/>
                    <a:pt x="198" y="330"/>
                    <a:pt x="192" y="329"/>
                  </a:cubicBezTo>
                  <a:cubicBezTo>
                    <a:pt x="162" y="327"/>
                    <a:pt x="127" y="293"/>
                    <a:pt x="108" y="249"/>
                  </a:cubicBezTo>
                  <a:cubicBezTo>
                    <a:pt x="98" y="223"/>
                    <a:pt x="75" y="179"/>
                    <a:pt x="58" y="151"/>
                  </a:cubicBezTo>
                  <a:cubicBezTo>
                    <a:pt x="27" y="100"/>
                    <a:pt x="27" y="100"/>
                    <a:pt x="48" y="96"/>
                  </a:cubicBezTo>
                  <a:cubicBezTo>
                    <a:pt x="59" y="94"/>
                    <a:pt x="68" y="88"/>
                    <a:pt x="67" y="82"/>
                  </a:cubicBezTo>
                  <a:cubicBezTo>
                    <a:pt x="64" y="57"/>
                    <a:pt x="76" y="76"/>
                    <a:pt x="94" y="123"/>
                  </a:cubicBezTo>
                  <a:cubicBezTo>
                    <a:pt x="105" y="151"/>
                    <a:pt x="129" y="194"/>
                    <a:pt x="147" y="217"/>
                  </a:cubicBezTo>
                  <a:lnTo>
                    <a:pt x="181" y="260"/>
                  </a:lnTo>
                  <a:lnTo>
                    <a:pt x="227" y="249"/>
                  </a:lnTo>
                  <a:cubicBezTo>
                    <a:pt x="273" y="237"/>
                    <a:pt x="279" y="229"/>
                    <a:pt x="260" y="197"/>
                  </a:cubicBezTo>
                  <a:cubicBezTo>
                    <a:pt x="257" y="192"/>
                    <a:pt x="253" y="169"/>
                    <a:pt x="253" y="146"/>
                  </a:cubicBezTo>
                  <a:cubicBezTo>
                    <a:pt x="251" y="75"/>
                    <a:pt x="285" y="55"/>
                    <a:pt x="353" y="89"/>
                  </a:cubicBezTo>
                  <a:cubicBezTo>
                    <a:pt x="390" y="108"/>
                    <a:pt x="404" y="142"/>
                    <a:pt x="387" y="172"/>
                  </a:cubicBezTo>
                  <a:cubicBezTo>
                    <a:pt x="366" y="210"/>
                    <a:pt x="373" y="213"/>
                    <a:pt x="412" y="183"/>
                  </a:cubicBezTo>
                  <a:cubicBezTo>
                    <a:pt x="432" y="167"/>
                    <a:pt x="452" y="155"/>
                    <a:pt x="456" y="155"/>
                  </a:cubicBezTo>
                  <a:cubicBezTo>
                    <a:pt x="464" y="155"/>
                    <a:pt x="488" y="114"/>
                    <a:pt x="489" y="98"/>
                  </a:cubicBezTo>
                  <a:cubicBezTo>
                    <a:pt x="489" y="92"/>
                    <a:pt x="482" y="81"/>
                    <a:pt x="473" y="74"/>
                  </a:cubicBezTo>
                  <a:cubicBezTo>
                    <a:pt x="451" y="58"/>
                    <a:pt x="452" y="51"/>
                    <a:pt x="477" y="54"/>
                  </a:cubicBezTo>
                  <a:cubicBezTo>
                    <a:pt x="492" y="56"/>
                    <a:pt x="497" y="51"/>
                    <a:pt x="499" y="32"/>
                  </a:cubicBezTo>
                  <a:cubicBezTo>
                    <a:pt x="500" y="19"/>
                    <a:pt x="504" y="6"/>
                    <a:pt x="508" y="3"/>
                  </a:cubicBezTo>
                  <a:cubicBezTo>
                    <a:pt x="511" y="0"/>
                    <a:pt x="513" y="8"/>
                    <a:pt x="512" y="21"/>
                  </a:cubicBezTo>
                  <a:lnTo>
                    <a:pt x="511" y="46"/>
                  </a:lnTo>
                  <a:lnTo>
                    <a:pt x="536" y="32"/>
                  </a:lnTo>
                  <a:cubicBezTo>
                    <a:pt x="558" y="20"/>
                    <a:pt x="560" y="20"/>
                    <a:pt x="548" y="32"/>
                  </a:cubicBezTo>
                  <a:cubicBezTo>
                    <a:pt x="537" y="44"/>
                    <a:pt x="537" y="46"/>
                    <a:pt x="550" y="47"/>
                  </a:cubicBezTo>
                  <a:cubicBezTo>
                    <a:pt x="558" y="48"/>
                    <a:pt x="562" y="52"/>
                    <a:pt x="558" y="56"/>
                  </a:cubicBezTo>
                  <a:cubicBezTo>
                    <a:pt x="555" y="61"/>
                    <a:pt x="557" y="65"/>
                    <a:pt x="562" y="66"/>
                  </a:cubicBezTo>
                  <a:cubicBezTo>
                    <a:pt x="567" y="66"/>
                    <a:pt x="571" y="71"/>
                    <a:pt x="570" y="77"/>
                  </a:cubicBezTo>
                  <a:cubicBezTo>
                    <a:pt x="570" y="82"/>
                    <a:pt x="567" y="84"/>
                    <a:pt x="564" y="81"/>
                  </a:cubicBezTo>
                  <a:cubicBezTo>
                    <a:pt x="555" y="70"/>
                    <a:pt x="533" y="102"/>
                    <a:pt x="531" y="131"/>
                  </a:cubicBezTo>
                  <a:cubicBezTo>
                    <a:pt x="528" y="164"/>
                    <a:pt x="509" y="211"/>
                    <a:pt x="491" y="229"/>
                  </a:cubicBezTo>
                  <a:cubicBezTo>
                    <a:pt x="473" y="247"/>
                    <a:pt x="402" y="421"/>
                    <a:pt x="400" y="453"/>
                  </a:cubicBezTo>
                  <a:cubicBezTo>
                    <a:pt x="399" y="467"/>
                    <a:pt x="404" y="502"/>
                    <a:pt x="412" y="530"/>
                  </a:cubicBezTo>
                  <a:cubicBezTo>
                    <a:pt x="425" y="579"/>
                    <a:pt x="425" y="589"/>
                    <a:pt x="404" y="723"/>
                  </a:cubicBezTo>
                  <a:cubicBezTo>
                    <a:pt x="387" y="838"/>
                    <a:pt x="384" y="877"/>
                    <a:pt x="389" y="926"/>
                  </a:cubicBezTo>
                  <a:cubicBezTo>
                    <a:pt x="393" y="960"/>
                    <a:pt x="394" y="1041"/>
                    <a:pt x="392" y="1106"/>
                  </a:cubicBezTo>
                  <a:cubicBezTo>
                    <a:pt x="387" y="1215"/>
                    <a:pt x="385" y="1227"/>
                    <a:pt x="368" y="1245"/>
                  </a:cubicBezTo>
                  <a:cubicBezTo>
                    <a:pt x="353" y="1261"/>
                    <a:pt x="340" y="1265"/>
                    <a:pt x="306" y="1263"/>
                  </a:cubicBezTo>
                  <a:cubicBezTo>
                    <a:pt x="267" y="1260"/>
                    <a:pt x="263" y="1258"/>
                    <a:pt x="267" y="1243"/>
                  </a:cubicBezTo>
                  <a:cubicBezTo>
                    <a:pt x="272" y="1223"/>
                    <a:pt x="271" y="1228"/>
                    <a:pt x="282" y="1069"/>
                  </a:cubicBezTo>
                  <a:cubicBezTo>
                    <a:pt x="288" y="989"/>
                    <a:pt x="287" y="935"/>
                    <a:pt x="281" y="910"/>
                  </a:cubicBezTo>
                  <a:cubicBezTo>
                    <a:pt x="275" y="888"/>
                    <a:pt x="270" y="839"/>
                    <a:pt x="269" y="800"/>
                  </a:cubicBezTo>
                  <a:lnTo>
                    <a:pt x="268" y="729"/>
                  </a:lnTo>
                  <a:lnTo>
                    <a:pt x="229" y="788"/>
                  </a:lnTo>
                  <a:lnTo>
                    <a:pt x="191" y="847"/>
                  </a:lnTo>
                  <a:lnTo>
                    <a:pt x="202" y="888"/>
                  </a:lnTo>
                  <a:cubicBezTo>
                    <a:pt x="213" y="934"/>
                    <a:pt x="228" y="1048"/>
                    <a:pt x="228" y="1094"/>
                  </a:cubicBezTo>
                  <a:cubicBezTo>
                    <a:pt x="228" y="1158"/>
                    <a:pt x="214" y="1164"/>
                    <a:pt x="68" y="1167"/>
                  </a:cubicBezTo>
                  <a:cubicBezTo>
                    <a:pt x="3" y="1169"/>
                    <a:pt x="0" y="1150"/>
                    <a:pt x="63" y="1123"/>
                  </a:cubicBezTo>
                  <a:cubicBezTo>
                    <a:pt x="102" y="1106"/>
                    <a:pt x="107" y="1101"/>
                    <a:pt x="108" y="1074"/>
                  </a:cubicBezTo>
                  <a:cubicBezTo>
                    <a:pt x="111" y="1018"/>
                    <a:pt x="99" y="906"/>
                    <a:pt x="87" y="877"/>
                  </a:cubicBezTo>
                  <a:cubicBezTo>
                    <a:pt x="67" y="830"/>
                    <a:pt x="84" y="771"/>
                    <a:pt x="149" y="657"/>
                  </a:cubicBezTo>
                  <a:cubicBezTo>
                    <a:pt x="187" y="588"/>
                    <a:pt x="204" y="550"/>
                    <a:pt x="202" y="536"/>
                  </a:cubicBezTo>
                  <a:cubicBezTo>
                    <a:pt x="196" y="501"/>
                    <a:pt x="199" y="528"/>
                    <a:pt x="197" y="4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53A4488-A66F-463A-AFB5-C7271DC09824}"/>
              </a:ext>
            </a:extLst>
          </p:cNvPr>
          <p:cNvGrpSpPr/>
          <p:nvPr/>
        </p:nvGrpSpPr>
        <p:grpSpPr>
          <a:xfrm>
            <a:off x="2318641" y="2267161"/>
            <a:ext cx="2591965" cy="505442"/>
            <a:chOff x="2318641" y="2267161"/>
            <a:chExt cx="2591965" cy="505442"/>
          </a:xfrm>
        </p:grpSpPr>
        <p:pic>
          <p:nvPicPr>
            <p:cNvPr id="27" name="Graphic 26" descr="Run">
              <a:extLst>
                <a:ext uri="{FF2B5EF4-FFF2-40B4-BE49-F238E27FC236}">
                  <a16:creationId xmlns:a16="http://schemas.microsoft.com/office/drawing/2014/main" id="{42E00443-F0C0-4D43-AF86-9B3838E68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4491734" y="2267161"/>
              <a:ext cx="418872" cy="418872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BD52997-1B22-4724-BD66-F1D4E4252643}"/>
                </a:ext>
              </a:extLst>
            </p:cNvPr>
            <p:cNvSpPr txBox="1"/>
            <p:nvPr/>
          </p:nvSpPr>
          <p:spPr>
            <a:xfrm>
              <a:off x="2318641" y="2372493"/>
              <a:ext cx="17198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Assists users by providing AI-based credibility analysis.</a:t>
              </a:r>
              <a:endPara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Economica" panose="02000506040000020004" pitchFamily="2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47D30E7-FEE8-483B-A181-D7804EFBE9FA}"/>
              </a:ext>
            </a:extLst>
          </p:cNvPr>
          <p:cNvGrpSpPr/>
          <p:nvPr/>
        </p:nvGrpSpPr>
        <p:grpSpPr>
          <a:xfrm>
            <a:off x="3142807" y="3024947"/>
            <a:ext cx="2374695" cy="547934"/>
            <a:chOff x="3142807" y="3024947"/>
            <a:chExt cx="2374695" cy="547934"/>
          </a:xfrm>
        </p:grpSpPr>
        <p:pic>
          <p:nvPicPr>
            <p:cNvPr id="26" name="Graphic 25" descr="Walk">
              <a:extLst>
                <a:ext uri="{FF2B5EF4-FFF2-40B4-BE49-F238E27FC236}">
                  <a16:creationId xmlns:a16="http://schemas.microsoft.com/office/drawing/2014/main" id="{BAB1F5F9-3FE8-4CEF-9915-0F4803022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5098630" y="3024947"/>
              <a:ext cx="418872" cy="418872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05E101A-BB87-4252-A31C-6C3A73274039}"/>
                </a:ext>
              </a:extLst>
            </p:cNvPr>
            <p:cNvSpPr txBox="1"/>
            <p:nvPr/>
          </p:nvSpPr>
          <p:spPr>
            <a:xfrm>
              <a:off x="3142807" y="3172771"/>
              <a:ext cx="17198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Analyzes news instantly for quick verification results.</a:t>
              </a:r>
              <a:endPara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Economica" panose="02000506040000020004" pitchFamily="2" charset="0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91A1606-4616-48B7-A55B-5A49DF80865D}"/>
              </a:ext>
            </a:extLst>
          </p:cNvPr>
          <p:cNvGrpSpPr/>
          <p:nvPr/>
        </p:nvGrpSpPr>
        <p:grpSpPr>
          <a:xfrm>
            <a:off x="3869432" y="3853905"/>
            <a:ext cx="2416832" cy="711414"/>
            <a:chOff x="3869432" y="3853905"/>
            <a:chExt cx="2416832" cy="711414"/>
          </a:xfrm>
        </p:grpSpPr>
        <p:pic>
          <p:nvPicPr>
            <p:cNvPr id="25" name="Graphic 24" descr="Crawl">
              <a:extLst>
                <a:ext uri="{FF2B5EF4-FFF2-40B4-BE49-F238E27FC236}">
                  <a16:creationId xmlns:a16="http://schemas.microsoft.com/office/drawing/2014/main" id="{42A91631-D1B8-4E7B-8288-9BD9DAE3B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5867392" y="3853905"/>
              <a:ext cx="418872" cy="418872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39FB75D-F25C-4022-85AD-22F7A7C26589}"/>
                </a:ext>
              </a:extLst>
            </p:cNvPr>
            <p:cNvSpPr txBox="1"/>
            <p:nvPr/>
          </p:nvSpPr>
          <p:spPr>
            <a:xfrm>
              <a:off x="3869432" y="4011321"/>
              <a:ext cx="171980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Ensures consistent and unbiased evaluation using AI models.</a:t>
              </a:r>
              <a:endPara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Economica" panose="02000506040000020004" pitchFamily="2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77967A0-99F7-4F8E-8CC2-ADF8A904DD37}"/>
              </a:ext>
            </a:extLst>
          </p:cNvPr>
          <p:cNvGrpSpPr/>
          <p:nvPr/>
        </p:nvGrpSpPr>
        <p:grpSpPr>
          <a:xfrm>
            <a:off x="4824117" y="4691562"/>
            <a:ext cx="2470570" cy="675500"/>
            <a:chOff x="4824117" y="4691562"/>
            <a:chExt cx="2470570" cy="675500"/>
          </a:xfrm>
        </p:grpSpPr>
        <p:pic>
          <p:nvPicPr>
            <p:cNvPr id="28" name="Graphic 27" descr="Confused person">
              <a:extLst>
                <a:ext uri="{FF2B5EF4-FFF2-40B4-BE49-F238E27FC236}">
                  <a16:creationId xmlns:a16="http://schemas.microsoft.com/office/drawing/2014/main" id="{077D4AB1-8DB8-46E8-ACD0-BB01C327CE3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flipH="1">
              <a:off x="6875815" y="4691562"/>
              <a:ext cx="418872" cy="418872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2768702-B16E-4122-A0C1-CA19468292D0}"/>
                </a:ext>
              </a:extLst>
            </p:cNvPr>
            <p:cNvSpPr txBox="1"/>
            <p:nvPr/>
          </p:nvSpPr>
          <p:spPr>
            <a:xfrm>
              <a:off x="4824117" y="4813064"/>
              <a:ext cx="171980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Stores analysis history for review and auditing purposes.</a:t>
              </a:r>
              <a:endPara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Economica" panose="02000506040000020004" pitchFamily="2" charset="0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684FD1E-569D-4C5B-A04F-6FCA2AE908A1}"/>
              </a:ext>
            </a:extLst>
          </p:cNvPr>
          <p:cNvGrpSpPr/>
          <p:nvPr/>
        </p:nvGrpSpPr>
        <p:grpSpPr>
          <a:xfrm>
            <a:off x="5778802" y="5476442"/>
            <a:ext cx="2512628" cy="538475"/>
            <a:chOff x="5778802" y="5476442"/>
            <a:chExt cx="2512628" cy="538475"/>
          </a:xfrm>
        </p:grpSpPr>
        <p:pic>
          <p:nvPicPr>
            <p:cNvPr id="29" name="Graphic 28" descr="Man">
              <a:extLst>
                <a:ext uri="{FF2B5EF4-FFF2-40B4-BE49-F238E27FC236}">
                  <a16:creationId xmlns:a16="http://schemas.microsoft.com/office/drawing/2014/main" id="{8991AAB1-7B3F-405D-9559-9E5A8DA06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flipH="1">
              <a:off x="7872558" y="5476442"/>
              <a:ext cx="418872" cy="418872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2FAB545-90DE-470B-BE1B-0463DAA9A423}"/>
                </a:ext>
              </a:extLst>
            </p:cNvPr>
            <p:cNvSpPr txBox="1"/>
            <p:nvPr/>
          </p:nvSpPr>
          <p:spPr>
            <a:xfrm>
              <a:off x="5778802" y="5614807"/>
              <a:ext cx="17198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Supports easy expansion and integration of new features.</a:t>
              </a:r>
              <a:endPara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Economica" panose="02000506040000020004" pitchFamily="2" charset="0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4915C311-120F-45AE-8FFF-BE15DBA48121}"/>
              </a:ext>
            </a:extLst>
          </p:cNvPr>
          <p:cNvSpPr txBox="1"/>
          <p:nvPr/>
        </p:nvSpPr>
        <p:spPr>
          <a:xfrm>
            <a:off x="5055744" y="1415538"/>
            <a:ext cx="19521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Intelligent Decision Support </a:t>
            </a:r>
            <a:br>
              <a:rPr lang="en-IN" sz="1400" b="1" dirty="0"/>
            </a:br>
            <a:r>
              <a:rPr lang="en-US" sz="1100" dirty="0"/>
              <a:t>The system assists users in making informed decisions by providing AI-driven credibility analysis.</a:t>
            </a:r>
            <a:endParaRPr lang="en-US" sz="1100" dirty="0">
              <a:latin typeface="Economica" panose="02000506040000020004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76D8D4-5654-47C0-8E47-72D2E797950F}"/>
              </a:ext>
            </a:extLst>
          </p:cNvPr>
          <p:cNvSpPr txBox="1"/>
          <p:nvPr/>
        </p:nvSpPr>
        <p:spPr>
          <a:xfrm>
            <a:off x="6169725" y="2457815"/>
            <a:ext cx="195218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Real-Time Processing </a:t>
            </a:r>
            <a:r>
              <a:rPr lang="en-US" sz="1100" dirty="0"/>
              <a:t>News articles are analyzed instantly, enabling fast detection without manual delays.</a:t>
            </a:r>
            <a:endParaRPr lang="en-US" sz="1100" dirty="0">
              <a:latin typeface="Economica" panose="02000506040000020004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4A38B9C-B3F7-4C6C-920D-760F208D84B5}"/>
              </a:ext>
            </a:extLst>
          </p:cNvPr>
          <p:cNvSpPr txBox="1"/>
          <p:nvPr/>
        </p:nvSpPr>
        <p:spPr>
          <a:xfrm>
            <a:off x="6896467" y="3349749"/>
            <a:ext cx="195218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Bias Reduction </a:t>
            </a:r>
            <a:br>
              <a:rPr lang="en-IN" sz="1400" b="1" dirty="0"/>
            </a:br>
            <a:r>
              <a:rPr lang="en-US" sz="1100" dirty="0"/>
              <a:t>AI models ensure consistent and unbiased evaluation of news content across different sources.</a:t>
            </a:r>
            <a:endParaRPr lang="en-US" sz="1100" dirty="0">
              <a:latin typeface="Economica" panose="02000506040000020004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BBA3A9-0627-4353-B946-697D29F9B28A}"/>
              </a:ext>
            </a:extLst>
          </p:cNvPr>
          <p:cNvSpPr txBox="1"/>
          <p:nvPr/>
        </p:nvSpPr>
        <p:spPr>
          <a:xfrm>
            <a:off x="7774857" y="4131966"/>
            <a:ext cx="195218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Data Traceability </a:t>
            </a:r>
            <a:br>
              <a:rPr lang="en-IN" sz="1400" b="1" dirty="0"/>
            </a:br>
            <a:r>
              <a:rPr lang="en-US" sz="1100" dirty="0"/>
              <a:t>Previously analyzed articles and results are stored for review, comparison, and auditing.</a:t>
            </a:r>
            <a:endParaRPr lang="en-US" sz="1100" dirty="0">
              <a:latin typeface="Economica" panose="02000506040000020004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C048D8A-67F8-41EA-A935-FAAF58585119}"/>
              </a:ext>
            </a:extLst>
          </p:cNvPr>
          <p:cNvSpPr txBox="1"/>
          <p:nvPr/>
        </p:nvSpPr>
        <p:spPr>
          <a:xfrm>
            <a:off x="8644089" y="5161746"/>
            <a:ext cx="195218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Future-Ready Design </a:t>
            </a:r>
            <a:r>
              <a:rPr lang="en-US" sz="1100" dirty="0"/>
              <a:t>The modular architecture allows easy integration of new features like multilingual support and advanced models.</a:t>
            </a:r>
            <a:endParaRPr lang="en-US" sz="1100" dirty="0">
              <a:latin typeface="Economica" panose="02000506040000020004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F02982-D25C-47F4-A621-FF1AC55FBF61}"/>
              </a:ext>
            </a:extLst>
          </p:cNvPr>
          <p:cNvSpPr txBox="1"/>
          <p:nvPr/>
        </p:nvSpPr>
        <p:spPr>
          <a:xfrm>
            <a:off x="6164814" y="178481"/>
            <a:ext cx="537768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Arca Majora 3 Bold" panose="00000800000000000000" pitchFamily="50" charset="0"/>
                <a:ea typeface="Adobe Gothic Std B" panose="020B0800000000000000" pitchFamily="34" charset="-128"/>
              </a:rPr>
              <a:t>5 Step 3D CYLINDER SHAPE infographic</a:t>
            </a:r>
            <a:endParaRPr lang="en-US" sz="2800" spc="300" dirty="0">
              <a:solidFill>
                <a:schemeClr val="tx1">
                  <a:lumMod val="85000"/>
                  <a:lumOff val="15000"/>
                </a:schemeClr>
              </a:solidFill>
              <a:latin typeface="Arca Majora 3 Bold" panose="00000800000000000000" pitchFamily="50" charset="0"/>
              <a:ea typeface="Adobe Gothic Std B" panose="020B08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92279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0"/>
                            </p:stCondLst>
                            <p:childTnLst>
                              <p:par>
                                <p:cTn id="2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000"/>
                            </p:stCondLst>
                            <p:childTnLst>
                              <p:par>
                                <p:cTn id="3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8500"/>
                            </p:stCondLst>
                            <p:childTnLst>
                              <p:par>
                                <p:cTn id="4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0"/>
                            </p:stCondLst>
                            <p:childTnLst>
                              <p:par>
                                <p:cTn id="4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150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000"/>
                            </p:stCondLst>
                            <p:childTnLst>
                              <p:par>
                                <p:cTn id="5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8" grpId="0"/>
      <p:bldP spid="3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flag*danger*demonstration*protest*message*man*peopl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</TotalTime>
  <Words>1106</Words>
  <Application>Microsoft Office PowerPoint</Application>
  <PresentationFormat>Widescreen</PresentationFormat>
  <Paragraphs>148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9" baseType="lpstr">
      <vt:lpstr>Akrobat ExtraLight</vt:lpstr>
      <vt:lpstr>Arca Majora 3 Bold</vt:lpstr>
      <vt:lpstr>Arial</vt:lpstr>
      <vt:lpstr>Bahnschrift Condensed</vt:lpstr>
      <vt:lpstr>Bavro</vt:lpstr>
      <vt:lpstr>Bebas Neue Bold</vt:lpstr>
      <vt:lpstr>Calibri</vt:lpstr>
      <vt:lpstr>Calibri Light</vt:lpstr>
      <vt:lpstr>Economica</vt:lpstr>
      <vt:lpstr>Eurostile BQ</vt:lpstr>
      <vt:lpstr>Open Sans</vt:lpstr>
      <vt:lpstr>Open Sans Condensed Light</vt:lpstr>
      <vt:lpstr>Pangram</vt:lpstr>
      <vt:lpstr>Prime</vt:lpstr>
      <vt:lpstr>Product Sans</vt:lpstr>
      <vt:lpstr>Rajdhani bold</vt:lpstr>
      <vt:lpstr>The Bold Font</vt:lpstr>
      <vt:lpstr>Titillium Web</vt:lpstr>
      <vt:lpstr>Zona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Etlii</dc:creator>
  <cp:lastModifiedBy>Aptha KV</cp:lastModifiedBy>
  <cp:revision>55</cp:revision>
  <dcterms:created xsi:type="dcterms:W3CDTF">2021-12-19T15:15:22Z</dcterms:created>
  <dcterms:modified xsi:type="dcterms:W3CDTF">2026-02-08T17:26:48Z</dcterms:modified>
</cp:coreProperties>
</file>